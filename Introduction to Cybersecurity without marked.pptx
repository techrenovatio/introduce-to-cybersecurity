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7"/>
  </p:notesMasterIdLst>
  <p:sldIdLst>
    <p:sldId id="260" r:id="rId2"/>
    <p:sldId id="278" r:id="rId3"/>
    <p:sldId id="262" r:id="rId4"/>
    <p:sldId id="263" r:id="rId5"/>
    <p:sldId id="270" r:id="rId6"/>
    <p:sldId id="271" r:id="rId7"/>
    <p:sldId id="265" r:id="rId8"/>
    <p:sldId id="269" r:id="rId9"/>
    <p:sldId id="268" r:id="rId10"/>
    <p:sldId id="273" r:id="rId11"/>
    <p:sldId id="274" r:id="rId12"/>
    <p:sldId id="275" r:id="rId13"/>
    <p:sldId id="276" r:id="rId14"/>
    <p:sldId id="277" r:id="rId15"/>
    <p:sldId id="272" r:id="rId16"/>
  </p:sldIdLst>
  <p:sldSz cx="18288000" cy="10287000"/>
  <p:notesSz cx="10287000" cy="18288000"/>
  <p:embeddedFontLst>
    <p:embeddedFont>
      <p:font typeface="Chakra Petch" panose="020B0604020202020204" charset="0"/>
      <p:regular r:id="rId18"/>
      <p:bold r:id="rId19"/>
      <p:italic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igtAvld4+avjSVjz/FpLWR3DOa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4" d="100"/>
          <a:sy n="44" d="100"/>
        </p:scale>
        <p:origin x="326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6F9E99CE-4F1F-E967-B3C1-D242282B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>
            <a:extLst>
              <a:ext uri="{FF2B5EF4-FFF2-40B4-BE49-F238E27FC236}">
                <a16:creationId xmlns:a16="http://schemas.microsoft.com/office/drawing/2014/main" id="{6319F501-F15E-6A0D-C213-1C224AB11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>
            <a:extLst>
              <a:ext uri="{FF2B5EF4-FFF2-40B4-BE49-F238E27FC236}">
                <a16:creationId xmlns:a16="http://schemas.microsoft.com/office/drawing/2014/main" id="{D8FCA3CD-C371-2572-9739-BE583158D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>
            <a:extLst>
              <a:ext uri="{FF2B5EF4-FFF2-40B4-BE49-F238E27FC236}">
                <a16:creationId xmlns:a16="http://schemas.microsoft.com/office/drawing/2014/main" id="{E2BB3BA7-3D07-2A83-1BC0-09CCD46CFF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988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CCF8F4BC-31F4-5F88-2EE0-F855BA64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>
            <a:extLst>
              <a:ext uri="{FF2B5EF4-FFF2-40B4-BE49-F238E27FC236}">
                <a16:creationId xmlns:a16="http://schemas.microsoft.com/office/drawing/2014/main" id="{29E3E0B5-E7CF-5C9C-6C03-530C1B2DB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>
            <a:extLst>
              <a:ext uri="{FF2B5EF4-FFF2-40B4-BE49-F238E27FC236}">
                <a16:creationId xmlns:a16="http://schemas.microsoft.com/office/drawing/2014/main" id="{8AAA61C3-50A2-DA68-721E-F0D6098DA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>
            <a:extLst>
              <a:ext uri="{FF2B5EF4-FFF2-40B4-BE49-F238E27FC236}">
                <a16:creationId xmlns:a16="http://schemas.microsoft.com/office/drawing/2014/main" id="{71545650-BE9C-E917-E557-0179039CD6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57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337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91027"/>
            <a:ext cx="18288000" cy="58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622550" y="2442418"/>
            <a:ext cx="13042901" cy="315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roxima Nova"/>
              <a:buNone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2622549" y="5648435"/>
            <a:ext cx="13042899" cy="143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4800" b="1" i="0">
                <a:solidFill>
                  <a:schemeClr val="accen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6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" name="Google Shape;25;p6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8644506" y="7191980"/>
            <a:ext cx="1017159" cy="241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068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257299" y="1859857"/>
            <a:ext cx="15773403" cy="128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257299" y="3431667"/>
            <a:ext cx="15773403" cy="58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825" b="18454"/>
          <a:stretch/>
        </p:blipFill>
        <p:spPr>
          <a:xfrm rot="10800000">
            <a:off x="0" y="-27619"/>
            <a:ext cx="18288000" cy="31426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7" name="Google Shape;37;p7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8635418" y="3152712"/>
            <a:ext cx="1017159" cy="241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5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91027"/>
            <a:ext cx="18288000" cy="58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396471" y="5885471"/>
            <a:ext cx="13495052" cy="252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sz="5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6" name="Google Shape;66;p9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8635418" y="4908903"/>
            <a:ext cx="1017159" cy="241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73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6138" y="-491419"/>
            <a:ext cx="3039072" cy="3745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0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75" name="Google Shape;75;p10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0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77" name="Google Shape;77;p10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22021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be12095d08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be12095d08_0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6138" y="-491419"/>
            <a:ext cx="3039072" cy="37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be12095d08_0_50"/>
          <p:cNvSpPr txBox="1"/>
          <p:nvPr/>
        </p:nvSpPr>
        <p:spPr>
          <a:xfrm>
            <a:off x="17309940" y="9877306"/>
            <a:ext cx="73035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8919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1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9900622" y="3817855"/>
            <a:ext cx="10192553" cy="64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0"/>
            <a:ext cx="5154945" cy="449658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/>
          <p:nvPr/>
        </p:nvSpPr>
        <p:spPr>
          <a:xfrm>
            <a:off x="0" y="9877306"/>
            <a:ext cx="18288000" cy="4186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82233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 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be12095d08_0_2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9900621" y="3817855"/>
            <a:ext cx="10192554" cy="64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be12095d08_0_22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-1"/>
            <a:ext cx="5154945" cy="449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be12095d08_0_22"/>
          <p:cNvSpPr txBox="1"/>
          <p:nvPr/>
        </p:nvSpPr>
        <p:spPr>
          <a:xfrm>
            <a:off x="17309940" y="9877306"/>
            <a:ext cx="73035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11944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14229620" y="5579077"/>
            <a:ext cx="7407227" cy="468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0"/>
            <a:ext cx="5154945" cy="449658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11642108" y="1674600"/>
            <a:ext cx="4944473" cy="21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body" idx="1"/>
          </p:nvPr>
        </p:nvSpPr>
        <p:spPr>
          <a:xfrm>
            <a:off x="11642108" y="4336870"/>
            <a:ext cx="4944473" cy="453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pic>
        <p:nvPicPr>
          <p:cNvPr id="325" name="Google Shape;32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20507" y="3972701"/>
            <a:ext cx="2445966" cy="6857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>
            <a:spLocks noGrp="1"/>
          </p:cNvSpPr>
          <p:nvPr>
            <p:ph type="pic" idx="2"/>
          </p:nvPr>
        </p:nvSpPr>
        <p:spPr>
          <a:xfrm>
            <a:off x="957432" y="1923002"/>
            <a:ext cx="9959763" cy="6947915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5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3447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012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"/>
          <p:cNvSpPr txBox="1">
            <a:spLocks noGrp="1"/>
          </p:cNvSpPr>
          <p:nvPr>
            <p:ph type="title"/>
          </p:nvPr>
        </p:nvSpPr>
        <p:spPr>
          <a:xfrm>
            <a:off x="2622550" y="2276784"/>
            <a:ext cx="13042901" cy="315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b" anchorCtr="0">
            <a:noAutofit/>
          </a:bodyPr>
          <a:lstStyle/>
          <a:p>
            <a:pPr>
              <a:buSzPts val="6000"/>
            </a:pPr>
            <a:r>
              <a:rPr lang="en-ID" sz="9000" dirty="0"/>
              <a:t>Introduction to Cybersecurity</a:t>
            </a:r>
            <a:endParaRPr dirty="0"/>
          </a:p>
        </p:txBody>
      </p:sp>
      <p:sp>
        <p:nvSpPr>
          <p:cNvPr id="351" name="Google Shape;351;p1"/>
          <p:cNvSpPr txBox="1">
            <a:spLocks noGrp="1"/>
          </p:cNvSpPr>
          <p:nvPr>
            <p:ph type="subTitle" idx="1"/>
          </p:nvPr>
        </p:nvSpPr>
        <p:spPr>
          <a:xfrm>
            <a:off x="2622552" y="5614398"/>
            <a:ext cx="13042899" cy="143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b" anchorCtr="0">
            <a:normAutofit lnSpcReduction="10000"/>
          </a:bodyPr>
          <a:lstStyle/>
          <a:p>
            <a:pPr marL="0" indent="0">
              <a:spcBef>
                <a:spcPts val="0"/>
              </a:spcBef>
              <a:buSzPts val="4000"/>
            </a:pPr>
            <a:r>
              <a:rPr lang="en-US" dirty="0"/>
              <a:t>Understanding Threats, Risks, and Digital Protection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4520C21-180A-3D78-4311-83419368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>
            <a:extLst>
              <a:ext uri="{FF2B5EF4-FFF2-40B4-BE49-F238E27FC236}">
                <a16:creationId xmlns:a16="http://schemas.microsoft.com/office/drawing/2014/main" id="{1F5B7A62-3560-7C03-9E96-94437E8726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0" y="1820711"/>
            <a:ext cx="7315200" cy="7858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 fontScale="90000"/>
          </a:bodyPr>
          <a:lstStyle/>
          <a:p>
            <a:r>
              <a:rPr lang="en-US" dirty="0"/>
              <a:t>Learning Objectives</a:t>
            </a:r>
            <a:endParaRPr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364" name="Google Shape;364;g3be12095d08_0_0">
            <a:extLst>
              <a:ext uri="{FF2B5EF4-FFF2-40B4-BE49-F238E27FC236}">
                <a16:creationId xmlns:a16="http://schemas.microsoft.com/office/drawing/2014/main" id="{D9521EE0-FA4C-2459-C68F-A34B0BED94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63651" y="3800735"/>
            <a:ext cx="14463991" cy="4665554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lvl="0"/>
            <a:r>
              <a:rPr lang="en-US" sz="3200" dirty="0"/>
              <a:t>Explain why cybersecurity matters to individuals and organizations.</a:t>
            </a:r>
          </a:p>
          <a:p>
            <a:pPr lvl="0"/>
            <a:r>
              <a:rPr lang="en-US" sz="3200" dirty="0"/>
              <a:t>Understand the CIA Triad and AAA security principles.</a:t>
            </a:r>
          </a:p>
          <a:p>
            <a:pPr lvl="0"/>
            <a:r>
              <a:rPr lang="en-US" sz="3200" dirty="0"/>
              <a:t>Identify common cyber threats, vulnerabilities, and attack patterns.</a:t>
            </a:r>
          </a:p>
          <a:p>
            <a:pPr lvl="0"/>
            <a:r>
              <a:rPr lang="en-US" sz="3200" dirty="0"/>
              <a:t>Understand basic Identity and Access Management concepts.</a:t>
            </a:r>
          </a:p>
          <a:p>
            <a:pPr lvl="0"/>
            <a:r>
              <a:rPr lang="en-US" sz="3200" dirty="0"/>
              <a:t>Explain fundamental network security concepts. </a:t>
            </a:r>
          </a:p>
          <a:p>
            <a:pPr lvl="0"/>
            <a:r>
              <a:rPr lang="en-US" sz="3200" dirty="0"/>
              <a:t>Understand the role of monitoring and incident response.</a:t>
            </a:r>
          </a:p>
          <a:p>
            <a:pPr lvl="0"/>
            <a:r>
              <a:rPr lang="en-US" sz="3200" dirty="0"/>
              <a:t>Recognize how Artificial Intelligence affects modern cybersecurity.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4DB09-004C-CC08-6788-397BE53F0CC8}"/>
              </a:ext>
            </a:extLst>
          </p:cNvPr>
          <p:cNvSpPr txBox="1"/>
          <p:nvPr/>
        </p:nvSpPr>
        <p:spPr>
          <a:xfrm>
            <a:off x="2305318" y="2458375"/>
            <a:ext cx="10354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What You Will Understand by the End of This Session</a:t>
            </a:r>
            <a:endParaRPr lang="en-US" sz="2000" i="1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3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/>
          <p:cNvSpPr txBox="1">
            <a:spLocks noGrp="1"/>
          </p:cNvSpPr>
          <p:nvPr>
            <p:ph type="title" idx="4294967295"/>
          </p:nvPr>
        </p:nvSpPr>
        <p:spPr>
          <a:xfrm>
            <a:off x="5951288" y="1849834"/>
            <a:ext cx="7315200" cy="7858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Aptos Display" pitchFamily="34" charset="-120"/>
              </a:rPr>
              <a:t>Why Cybersecurity Matters</a:t>
            </a:r>
            <a:endParaRPr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364" name="Google Shape;364;g3be12095d08_0_0"/>
          <p:cNvSpPr txBox="1">
            <a:spLocks noGrp="1"/>
          </p:cNvSpPr>
          <p:nvPr>
            <p:ph type="body" idx="4294967295"/>
          </p:nvPr>
        </p:nvSpPr>
        <p:spPr>
          <a:xfrm>
            <a:off x="2163651" y="3800735"/>
            <a:ext cx="15563850" cy="18526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chemeClr val="bg1"/>
                </a:solidFill>
              </a:rPr>
              <a:t>As services move to web, cloud, mobile, and remote access, every identity, endpoint, application, and third-party connection becomes part of the attack surface.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17AA4-6CD9-C5A6-B047-349964A4A62C}"/>
              </a:ext>
            </a:extLst>
          </p:cNvPr>
          <p:cNvSpPr txBox="1"/>
          <p:nvPr/>
        </p:nvSpPr>
        <p:spPr>
          <a:xfrm>
            <a:off x="4533363" y="2546069"/>
            <a:ext cx="10354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Proxima Nova" panose="020B0604020202020204" charset="0"/>
              </a:rPr>
              <a:t>“Cybersecurity is about protecting people, information, Environments and organizations.”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2A5E78-21A6-EC6D-3CA6-05EA25ED4243}"/>
              </a:ext>
            </a:extLst>
          </p:cNvPr>
          <p:cNvGrpSpPr/>
          <p:nvPr/>
        </p:nvGrpSpPr>
        <p:grpSpPr>
          <a:xfrm>
            <a:off x="4713024" y="5403345"/>
            <a:ext cx="8861952" cy="3456432"/>
            <a:chOff x="822960" y="3858768"/>
            <a:chExt cx="5577840" cy="2286000"/>
          </a:xfrm>
        </p:grpSpPr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7336221E-F514-502B-6472-F841100528AB}"/>
                </a:ext>
              </a:extLst>
            </p:cNvPr>
            <p:cNvSpPr/>
            <p:nvPr/>
          </p:nvSpPr>
          <p:spPr>
            <a:xfrm>
              <a:off x="822960" y="385876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0">
              <a:extLst>
                <a:ext uri="{FF2B5EF4-FFF2-40B4-BE49-F238E27FC236}">
                  <a16:creationId xmlns:a16="http://schemas.microsoft.com/office/drawing/2014/main" id="{754FFD10-E037-67EC-2576-6C80F7A474BE}"/>
                </a:ext>
              </a:extLst>
            </p:cNvPr>
            <p:cNvSpPr/>
            <p:nvPr/>
          </p:nvSpPr>
          <p:spPr>
            <a:xfrm>
              <a:off x="1024128" y="400507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Trust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1F797318-6A7A-3736-C512-356B9BE7CDCA}"/>
                </a:ext>
              </a:extLst>
            </p:cNvPr>
            <p:cNvSpPr/>
            <p:nvPr/>
          </p:nvSpPr>
          <p:spPr>
            <a:xfrm>
              <a:off x="1024128" y="433425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Customers, partners, and users need confidence that services and data are protected.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1" name="Shape 12">
              <a:extLst>
                <a:ext uri="{FF2B5EF4-FFF2-40B4-BE49-F238E27FC236}">
                  <a16:creationId xmlns:a16="http://schemas.microsoft.com/office/drawing/2014/main" id="{A955D9D2-C645-9B0B-4737-B9FD7CEFF7DE}"/>
                </a:ext>
              </a:extLst>
            </p:cNvPr>
            <p:cNvSpPr/>
            <p:nvPr/>
          </p:nvSpPr>
          <p:spPr>
            <a:xfrm>
              <a:off x="3703320" y="385876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Proxima Nova" panose="020B0604020202020204" charset="0"/>
              </a:endParaRPr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20285CCF-EC3B-7232-D1C6-60D89ED81424}"/>
                </a:ext>
              </a:extLst>
            </p:cNvPr>
            <p:cNvSpPr/>
            <p:nvPr/>
          </p:nvSpPr>
          <p:spPr>
            <a:xfrm>
              <a:off x="3904488" y="400507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Continuity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C4C5DD94-526F-F1DD-C0AC-7E1EB63D0158}"/>
                </a:ext>
              </a:extLst>
            </p:cNvPr>
            <p:cNvSpPr/>
            <p:nvPr/>
          </p:nvSpPr>
          <p:spPr>
            <a:xfrm>
              <a:off x="3904488" y="433425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Security helps keep systems available and recoverable during incidents.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4" name="Shape 16">
              <a:extLst>
                <a:ext uri="{FF2B5EF4-FFF2-40B4-BE49-F238E27FC236}">
                  <a16:creationId xmlns:a16="http://schemas.microsoft.com/office/drawing/2014/main" id="{7E9C1C3F-42A5-E5AB-E468-4580CE2230B6}"/>
                </a:ext>
              </a:extLst>
            </p:cNvPr>
            <p:cNvSpPr/>
            <p:nvPr/>
          </p:nvSpPr>
          <p:spPr>
            <a:xfrm>
              <a:off x="822960" y="513892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18">
              <a:extLst>
                <a:ext uri="{FF2B5EF4-FFF2-40B4-BE49-F238E27FC236}">
                  <a16:creationId xmlns:a16="http://schemas.microsoft.com/office/drawing/2014/main" id="{7D59363C-7ABC-9FAA-6CBD-F93F9F9DE79F}"/>
                </a:ext>
              </a:extLst>
            </p:cNvPr>
            <p:cNvSpPr/>
            <p:nvPr/>
          </p:nvSpPr>
          <p:spPr>
            <a:xfrm>
              <a:off x="1024128" y="528523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Compliance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6" name="Text 19">
              <a:extLst>
                <a:ext uri="{FF2B5EF4-FFF2-40B4-BE49-F238E27FC236}">
                  <a16:creationId xmlns:a16="http://schemas.microsoft.com/office/drawing/2014/main" id="{AF605E68-2F49-2A69-8E8A-D26DDE810214}"/>
                </a:ext>
              </a:extLst>
            </p:cNvPr>
            <p:cNvSpPr/>
            <p:nvPr/>
          </p:nvSpPr>
          <p:spPr>
            <a:xfrm>
              <a:off x="1024128" y="561441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Controls support legal, contractual, and policy requirements.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7" name="Shape 20">
              <a:extLst>
                <a:ext uri="{FF2B5EF4-FFF2-40B4-BE49-F238E27FC236}">
                  <a16:creationId xmlns:a16="http://schemas.microsoft.com/office/drawing/2014/main" id="{A78B83E5-6454-5ACB-C385-5D793D3F5FB2}"/>
                </a:ext>
              </a:extLst>
            </p:cNvPr>
            <p:cNvSpPr/>
            <p:nvPr/>
          </p:nvSpPr>
          <p:spPr>
            <a:xfrm>
              <a:off x="3703320" y="513892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DE66FC19-3AFC-630B-B628-941332BD76AF}"/>
                </a:ext>
              </a:extLst>
            </p:cNvPr>
            <p:cNvSpPr/>
            <p:nvPr/>
          </p:nvSpPr>
          <p:spPr>
            <a:xfrm>
              <a:off x="3904488" y="528523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Decision making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9BA79AEC-2AC5-C418-B897-56632B008FDC}"/>
                </a:ext>
              </a:extLst>
            </p:cNvPr>
            <p:cNvSpPr/>
            <p:nvPr/>
          </p:nvSpPr>
          <p:spPr>
            <a:xfrm>
              <a:off x="3904488" y="561441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Clear risk language helps leaders prioritize security investment.</a:t>
              </a:r>
              <a:endParaRPr lang="en-US" sz="1500" dirty="0">
                <a:latin typeface="Proxima Nova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59068C2-B939-FF7A-632E-EAE6D3AA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>
            <a:extLst>
              <a:ext uri="{FF2B5EF4-FFF2-40B4-BE49-F238E27FC236}">
                <a16:creationId xmlns:a16="http://schemas.microsoft.com/office/drawing/2014/main" id="{7342D071-DD9E-5A2A-9F45-CDC1193E84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299" y="1859856"/>
            <a:ext cx="15773400" cy="1285650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Core Security Objectives</a:t>
            </a:r>
            <a:endParaRPr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EFAC420-1672-4BF4-28CF-B50DC90FC66D}"/>
              </a:ext>
            </a:extLst>
          </p:cNvPr>
          <p:cNvSpPr/>
          <p:nvPr/>
        </p:nvSpPr>
        <p:spPr>
          <a:xfrm>
            <a:off x="1257299" y="3490174"/>
            <a:ext cx="2953868" cy="32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CIA TRIAD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7C5286D-D0E2-390C-B04C-1B0DED2C71F6}"/>
              </a:ext>
            </a:extLst>
          </p:cNvPr>
          <p:cNvSpPr/>
          <p:nvPr/>
        </p:nvSpPr>
        <p:spPr>
          <a:xfrm>
            <a:off x="10078622" y="3490174"/>
            <a:ext cx="2953868" cy="32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AAA MODEL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EBA1F14-C3FC-2E95-8008-8DD084F0CE27}"/>
              </a:ext>
            </a:extLst>
          </p:cNvPr>
          <p:cNvSpPr/>
          <p:nvPr/>
        </p:nvSpPr>
        <p:spPr>
          <a:xfrm>
            <a:off x="1284152" y="4010736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B70070D-A3E5-759C-102A-17202B0ECEC3}"/>
              </a:ext>
            </a:extLst>
          </p:cNvPr>
          <p:cNvSpPr/>
          <p:nvPr/>
        </p:nvSpPr>
        <p:spPr>
          <a:xfrm>
            <a:off x="1579539" y="4209045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Confidentiality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9AB738D-30FA-46D0-56E8-226845235FB4}"/>
              </a:ext>
            </a:extLst>
          </p:cNvPr>
          <p:cNvSpPr/>
          <p:nvPr/>
        </p:nvSpPr>
        <p:spPr>
          <a:xfrm>
            <a:off x="1579539" y="4655241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Only authorized people or systems can access sensitive data.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6B597F9-4A34-C918-CEA3-9635727A6EC8}"/>
              </a:ext>
            </a:extLst>
          </p:cNvPr>
          <p:cNvSpPr/>
          <p:nvPr/>
        </p:nvSpPr>
        <p:spPr>
          <a:xfrm>
            <a:off x="1284152" y="5411294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DE0F628-AEF1-035D-0B35-E379D4796E1F}"/>
              </a:ext>
            </a:extLst>
          </p:cNvPr>
          <p:cNvSpPr/>
          <p:nvPr/>
        </p:nvSpPr>
        <p:spPr>
          <a:xfrm>
            <a:off x="1579539" y="5609604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Integrity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89F18F2-046F-FD42-C126-9BC24ED2EA54}"/>
              </a:ext>
            </a:extLst>
          </p:cNvPr>
          <p:cNvSpPr/>
          <p:nvPr/>
        </p:nvSpPr>
        <p:spPr>
          <a:xfrm>
            <a:off x="1579539" y="6055799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Data stays accurate, complete, and protected from unauthorized change.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25FC8BA-5B32-ED64-99C6-C914E7F88997}"/>
              </a:ext>
            </a:extLst>
          </p:cNvPr>
          <p:cNvSpPr/>
          <p:nvPr/>
        </p:nvSpPr>
        <p:spPr>
          <a:xfrm>
            <a:off x="1284152" y="6811853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5E85A8D-78CA-59B1-414A-2DB094AB1CF5}"/>
              </a:ext>
            </a:extLst>
          </p:cNvPr>
          <p:cNvSpPr/>
          <p:nvPr/>
        </p:nvSpPr>
        <p:spPr>
          <a:xfrm>
            <a:off x="1579539" y="7010162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Availability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C41BDF2-68F9-0D03-684A-D0256BE02EA0}"/>
              </a:ext>
            </a:extLst>
          </p:cNvPr>
          <p:cNvSpPr/>
          <p:nvPr/>
        </p:nvSpPr>
        <p:spPr>
          <a:xfrm>
            <a:off x="1579539" y="7456358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Systems and information remain accessible when needed.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408A4A54-FC7D-0FDD-94B1-13FEEDE8665F}"/>
              </a:ext>
            </a:extLst>
          </p:cNvPr>
          <p:cNvSpPr/>
          <p:nvPr/>
        </p:nvSpPr>
        <p:spPr>
          <a:xfrm>
            <a:off x="9246169" y="3552146"/>
            <a:ext cx="0" cy="4895758"/>
          </a:xfrm>
          <a:prstGeom prst="line">
            <a:avLst/>
          </a:prstGeom>
          <a:noFill/>
          <a:ln w="1524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FFCF9F2B-F45D-399A-7E0B-12A4E3B19D81}"/>
              </a:ext>
            </a:extLst>
          </p:cNvPr>
          <p:cNvSpPr/>
          <p:nvPr/>
        </p:nvSpPr>
        <p:spPr>
          <a:xfrm>
            <a:off x="10078622" y="4010736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A992D597-07D0-770E-EAB7-C6321EEACFB1}"/>
              </a:ext>
            </a:extLst>
          </p:cNvPr>
          <p:cNvSpPr/>
          <p:nvPr/>
        </p:nvSpPr>
        <p:spPr>
          <a:xfrm>
            <a:off x="10374009" y="4209045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Authentication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A3CF3A4-203B-ECA7-F3D1-9E18D1CB6D63}"/>
              </a:ext>
            </a:extLst>
          </p:cNvPr>
          <p:cNvSpPr/>
          <p:nvPr/>
        </p:nvSpPr>
        <p:spPr>
          <a:xfrm>
            <a:off x="10374009" y="4655241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Proves who or what is requesting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BD7C5F80-AC04-F093-95CD-92B46584A57A}"/>
              </a:ext>
            </a:extLst>
          </p:cNvPr>
          <p:cNvSpPr/>
          <p:nvPr/>
        </p:nvSpPr>
        <p:spPr>
          <a:xfrm>
            <a:off x="10078622" y="5411294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6A2336C1-D4D2-F230-F0AE-40D218AE446E}"/>
              </a:ext>
            </a:extLst>
          </p:cNvPr>
          <p:cNvSpPr/>
          <p:nvPr/>
        </p:nvSpPr>
        <p:spPr>
          <a:xfrm>
            <a:off x="10374009" y="5609604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Authorization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D4CE9E2F-636F-8B4C-8D3B-14F4B3819742}"/>
              </a:ext>
            </a:extLst>
          </p:cNvPr>
          <p:cNvSpPr/>
          <p:nvPr/>
        </p:nvSpPr>
        <p:spPr>
          <a:xfrm>
            <a:off x="10374009" y="6055799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Defines what that identity is allowed to do.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D5CC7296-FFAA-4ACA-925B-BD0C57C7E325}"/>
              </a:ext>
            </a:extLst>
          </p:cNvPr>
          <p:cNvSpPr/>
          <p:nvPr/>
        </p:nvSpPr>
        <p:spPr>
          <a:xfrm>
            <a:off x="10078622" y="6811853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BD6589FB-071D-6085-A3EA-D39E3EE5A00D}"/>
              </a:ext>
            </a:extLst>
          </p:cNvPr>
          <p:cNvSpPr/>
          <p:nvPr/>
        </p:nvSpPr>
        <p:spPr>
          <a:xfrm>
            <a:off x="10374009" y="7010162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Accounting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827FD82C-B765-CA80-0CD9-ECA7C8AD0E1A}"/>
              </a:ext>
            </a:extLst>
          </p:cNvPr>
          <p:cNvSpPr/>
          <p:nvPr/>
        </p:nvSpPr>
        <p:spPr>
          <a:xfrm>
            <a:off x="10374009" y="7456358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Records activity for audit, detection, and investigation.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65075FC4-0097-3169-4437-C245078A90CC}"/>
              </a:ext>
            </a:extLst>
          </p:cNvPr>
          <p:cNvSpPr/>
          <p:nvPr/>
        </p:nvSpPr>
        <p:spPr>
          <a:xfrm>
            <a:off x="1619819" y="9067620"/>
            <a:ext cx="14702206" cy="681688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0F56E101-16DF-CDE6-6C79-301672295FD8}"/>
              </a:ext>
            </a:extLst>
          </p:cNvPr>
          <p:cNvSpPr/>
          <p:nvPr/>
        </p:nvSpPr>
        <p:spPr>
          <a:xfrm>
            <a:off x="1888353" y="9290718"/>
            <a:ext cx="14098005" cy="21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Practical meaning: protect the data, verify the identity, limit the access, and keep evidence of activity.</a:t>
            </a:r>
            <a:endParaRPr lang="en-US" sz="12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11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D65D-3D28-3674-D3A0-C8D12339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6AC7-10A1-4688-FA69-0CE66637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Common Attack Patterns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1E33B-A324-EB88-084C-FDF9B7692D4D}"/>
              </a:ext>
            </a:extLst>
          </p:cNvPr>
          <p:cNvSpPr txBox="1"/>
          <p:nvPr/>
        </p:nvSpPr>
        <p:spPr>
          <a:xfrm>
            <a:off x="3812466" y="2528065"/>
            <a:ext cx="1066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Most incidents combine human behavior, weak identity controls, and technical exposure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59373D4-2F76-662E-4051-D19C7B0D1AEB}"/>
              </a:ext>
            </a:extLst>
          </p:cNvPr>
          <p:cNvSpPr/>
          <p:nvPr/>
        </p:nvSpPr>
        <p:spPr>
          <a:xfrm>
            <a:off x="1476509" y="3331844"/>
            <a:ext cx="16009728" cy="685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Good security work is not only technical. It also requires clear rules, scope, evidence handling, and ethical behavior.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4F348A-156D-7FEA-CFEC-C72B630CC773}"/>
              </a:ext>
            </a:extLst>
          </p:cNvPr>
          <p:cNvSpPr/>
          <p:nvPr/>
        </p:nvSpPr>
        <p:spPr>
          <a:xfrm>
            <a:off x="2099257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68345E6-A16C-72D1-C3E3-A5490BF1A4FD}"/>
              </a:ext>
            </a:extLst>
          </p:cNvPr>
          <p:cNvSpPr/>
          <p:nvPr/>
        </p:nvSpPr>
        <p:spPr>
          <a:xfrm>
            <a:off x="2320720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Initial contact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775A0C6-C0C4-0196-43B9-516A59FD95BE}"/>
              </a:ext>
            </a:extLst>
          </p:cNvPr>
          <p:cNvSpPr/>
          <p:nvPr/>
        </p:nvSpPr>
        <p:spPr>
          <a:xfrm>
            <a:off x="2345328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Phishing, malicious link, exposed service, or stolen credential.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1A8A249-7B12-294C-089F-E3E691444F9D}"/>
              </a:ext>
            </a:extLst>
          </p:cNvPr>
          <p:cNvSpPr/>
          <p:nvPr/>
        </p:nvSpPr>
        <p:spPr>
          <a:xfrm>
            <a:off x="5138228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5A435FC4-C7C8-9871-BB4A-4C79C349C89D}"/>
              </a:ext>
            </a:extLst>
          </p:cNvPr>
          <p:cNvSpPr/>
          <p:nvPr/>
        </p:nvSpPr>
        <p:spPr>
          <a:xfrm>
            <a:off x="5790315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27F8867-1ED3-FD3C-575F-09FAFA4B35F0}"/>
              </a:ext>
            </a:extLst>
          </p:cNvPr>
          <p:cNvSpPr/>
          <p:nvPr/>
        </p:nvSpPr>
        <p:spPr>
          <a:xfrm>
            <a:off x="6011779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Execution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884B4FD-52D9-9926-2703-B63A7C4E23D7}"/>
              </a:ext>
            </a:extLst>
          </p:cNvPr>
          <p:cNvSpPr/>
          <p:nvPr/>
        </p:nvSpPr>
        <p:spPr>
          <a:xfrm>
            <a:off x="6036386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Malware, script, exploit, or unauthorized login.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497DEFC-687C-8D4A-1DAF-5857DE1B692C}"/>
              </a:ext>
            </a:extLst>
          </p:cNvPr>
          <p:cNvSpPr/>
          <p:nvPr/>
        </p:nvSpPr>
        <p:spPr>
          <a:xfrm>
            <a:off x="8829287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86207C00-9AF1-FCA7-303D-CCB58F1E937F}"/>
              </a:ext>
            </a:extLst>
          </p:cNvPr>
          <p:cNvSpPr/>
          <p:nvPr/>
        </p:nvSpPr>
        <p:spPr>
          <a:xfrm>
            <a:off x="9481373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B689CE6-106B-FC15-0409-C394109DABFB}"/>
              </a:ext>
            </a:extLst>
          </p:cNvPr>
          <p:cNvSpPr/>
          <p:nvPr/>
        </p:nvSpPr>
        <p:spPr>
          <a:xfrm>
            <a:off x="9702837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Privilege &amp; movement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BBB7865-32ED-A645-E61E-AE8C994C7E22}"/>
              </a:ext>
            </a:extLst>
          </p:cNvPr>
          <p:cNvSpPr/>
          <p:nvPr/>
        </p:nvSpPr>
        <p:spPr>
          <a:xfrm>
            <a:off x="9727444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Access expansion, credential reuse, lateral movement.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B93D3B0E-9760-76BA-8D41-8D1AB340AACE}"/>
              </a:ext>
            </a:extLst>
          </p:cNvPr>
          <p:cNvSpPr/>
          <p:nvPr/>
        </p:nvSpPr>
        <p:spPr>
          <a:xfrm>
            <a:off x="12520345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2AE9CD5B-01D6-3BE4-5601-0DCA5FF02CD7}"/>
              </a:ext>
            </a:extLst>
          </p:cNvPr>
          <p:cNvSpPr/>
          <p:nvPr/>
        </p:nvSpPr>
        <p:spPr>
          <a:xfrm>
            <a:off x="13172432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596BE242-DB32-C557-F2A3-3AD7B5406FA1}"/>
              </a:ext>
            </a:extLst>
          </p:cNvPr>
          <p:cNvSpPr/>
          <p:nvPr/>
        </p:nvSpPr>
        <p:spPr>
          <a:xfrm>
            <a:off x="13393895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Impact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19215CD-171F-2992-D795-2236C7CCFAA6}"/>
              </a:ext>
            </a:extLst>
          </p:cNvPr>
          <p:cNvSpPr/>
          <p:nvPr/>
        </p:nvSpPr>
        <p:spPr>
          <a:xfrm>
            <a:off x="13418502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Data theft, fraud, service outage, ransomware, or persistence.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FA85643C-D158-26D8-1432-9D94D6E6EAE5}"/>
              </a:ext>
            </a:extLst>
          </p:cNvPr>
          <p:cNvSpPr/>
          <p:nvPr/>
        </p:nvSpPr>
        <p:spPr>
          <a:xfrm>
            <a:off x="2148470" y="6522186"/>
            <a:ext cx="3273535" cy="506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EXAMPLES TO RECOGNIZE</a:t>
            </a:r>
            <a:endParaRPr lang="en-US" sz="16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61B702DA-0FAB-AAB3-28F7-439C6CCB108F}"/>
              </a:ext>
            </a:extLst>
          </p:cNvPr>
          <p:cNvSpPr/>
          <p:nvPr/>
        </p:nvSpPr>
        <p:spPr>
          <a:xfrm>
            <a:off x="2148470" y="7098205"/>
            <a:ext cx="3273535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C0C0C0"/>
              </a:highlight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64D8BB0F-B1B1-FFE2-3A6E-D742C96A23C5}"/>
              </a:ext>
            </a:extLst>
          </p:cNvPr>
          <p:cNvSpPr/>
          <p:nvPr/>
        </p:nvSpPr>
        <p:spPr>
          <a:xfrm>
            <a:off x="2160775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4D6CE788-4ECC-EFE6-A803-2EAFA8DFAC36}"/>
              </a:ext>
            </a:extLst>
          </p:cNvPr>
          <p:cNvSpPr/>
          <p:nvPr/>
        </p:nvSpPr>
        <p:spPr>
          <a:xfrm>
            <a:off x="2431452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Credential attacks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04AEE3C0-78FC-E0F8-C682-343FEE730D38}"/>
              </a:ext>
            </a:extLst>
          </p:cNvPr>
          <p:cNvSpPr/>
          <p:nvPr/>
        </p:nvSpPr>
        <p:spPr>
          <a:xfrm>
            <a:off x="2431452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Password spraying, credential stuffing, brute force, and reuse of leaked passwords.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76476F28-80E2-3B6C-406B-13A731A67D8F}"/>
              </a:ext>
            </a:extLst>
          </p:cNvPr>
          <p:cNvSpPr/>
          <p:nvPr/>
        </p:nvSpPr>
        <p:spPr>
          <a:xfrm>
            <a:off x="6996061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9E89C31A-BA59-8C15-EFB6-D02417C53424}"/>
              </a:ext>
            </a:extLst>
          </p:cNvPr>
          <p:cNvSpPr/>
          <p:nvPr/>
        </p:nvSpPr>
        <p:spPr>
          <a:xfrm>
            <a:off x="7266739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Malware delivery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CE353320-0D86-AA80-B6F0-520086FD9533}"/>
              </a:ext>
            </a:extLst>
          </p:cNvPr>
          <p:cNvSpPr/>
          <p:nvPr/>
        </p:nvSpPr>
        <p:spPr>
          <a:xfrm>
            <a:off x="7266739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Ransomware, trojans, spyware, malicious documents, or drive-by downloads.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7" name="Shape 33">
            <a:extLst>
              <a:ext uri="{FF2B5EF4-FFF2-40B4-BE49-F238E27FC236}">
                <a16:creationId xmlns:a16="http://schemas.microsoft.com/office/drawing/2014/main" id="{805C447E-9168-C433-3F66-2D30D3086D2E}"/>
              </a:ext>
            </a:extLst>
          </p:cNvPr>
          <p:cNvSpPr/>
          <p:nvPr/>
        </p:nvSpPr>
        <p:spPr>
          <a:xfrm>
            <a:off x="11843651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1211D6B4-95DD-B023-9526-C184C4066B91}"/>
              </a:ext>
            </a:extLst>
          </p:cNvPr>
          <p:cNvSpPr/>
          <p:nvPr/>
        </p:nvSpPr>
        <p:spPr>
          <a:xfrm>
            <a:off x="12114328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Exploitation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53F82C62-A22B-309F-415C-664B0D8894BA}"/>
              </a:ext>
            </a:extLst>
          </p:cNvPr>
          <p:cNvSpPr/>
          <p:nvPr/>
        </p:nvSpPr>
        <p:spPr>
          <a:xfrm>
            <a:off x="12114328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Unpatched systems, insecure services, weak configuration, exposed admin panels.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78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5024-5244-D7B3-8314-926FFDD7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DABD-F43F-4307-403C-0CDC33BE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342" y="1868702"/>
            <a:ext cx="15773403" cy="58712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Risk, Vulnerability, and Controls</a:t>
            </a:r>
            <a:endParaRPr lang="en-US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AB457-64EF-9575-C106-47AB56F222BD}"/>
              </a:ext>
            </a:extLst>
          </p:cNvPr>
          <p:cNvSpPr txBox="1"/>
          <p:nvPr/>
        </p:nvSpPr>
        <p:spPr>
          <a:xfrm>
            <a:off x="5076711" y="2538572"/>
            <a:ext cx="9002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Security decisions become clearer when risk is expressed consistently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9C6DA80-841E-D511-D50C-50145E9396E9}"/>
              </a:ext>
            </a:extLst>
          </p:cNvPr>
          <p:cNvSpPr/>
          <p:nvPr/>
        </p:nvSpPr>
        <p:spPr>
          <a:xfrm>
            <a:off x="2987898" y="3420481"/>
            <a:ext cx="12144778" cy="858448"/>
          </a:xfrm>
          <a:prstGeom prst="roundRect">
            <a:avLst>
              <a:gd name="adj" fmla="val 1025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6C63210-C5A0-4C4C-482E-7E665C53F98C}"/>
              </a:ext>
            </a:extLst>
          </p:cNvPr>
          <p:cNvSpPr/>
          <p:nvPr/>
        </p:nvSpPr>
        <p:spPr>
          <a:xfrm>
            <a:off x="2066138" y="3726229"/>
            <a:ext cx="14706447" cy="25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Risk = Threat × Vulnerability × Impact</a:t>
            </a:r>
            <a:endParaRPr lang="en-US" sz="17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5C1C779-1E24-7E67-0480-E308DAD4FFD8}"/>
              </a:ext>
            </a:extLst>
          </p:cNvPr>
          <p:cNvSpPr/>
          <p:nvPr/>
        </p:nvSpPr>
        <p:spPr>
          <a:xfrm>
            <a:off x="1661373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B2B0626-D6A4-5988-6C09-D124CFE5133E}"/>
              </a:ext>
            </a:extLst>
          </p:cNvPr>
          <p:cNvSpPr/>
          <p:nvPr/>
        </p:nvSpPr>
        <p:spPr>
          <a:xfrm>
            <a:off x="1958200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Threat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1F45F43D-F0A4-7C1F-F2F4-57F80920B97E}"/>
              </a:ext>
            </a:extLst>
          </p:cNvPr>
          <p:cNvSpPr/>
          <p:nvPr/>
        </p:nvSpPr>
        <p:spPr>
          <a:xfrm>
            <a:off x="1958200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 source of potential harm: attacker, malware, disaster, human error, or process failure.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21902C4-946F-D90E-8EBA-47BB00239C51}"/>
              </a:ext>
            </a:extLst>
          </p:cNvPr>
          <p:cNvSpPr/>
          <p:nvPr/>
        </p:nvSpPr>
        <p:spPr>
          <a:xfrm>
            <a:off x="7058234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E929301-57A1-EFA2-AD45-93D97D98D1F1}"/>
              </a:ext>
            </a:extLst>
          </p:cNvPr>
          <p:cNvSpPr/>
          <p:nvPr/>
        </p:nvSpPr>
        <p:spPr>
          <a:xfrm>
            <a:off x="7355062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Vulnerability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13785791-E996-6D5A-FF6E-85D14C796ABE}"/>
              </a:ext>
            </a:extLst>
          </p:cNvPr>
          <p:cNvSpPr/>
          <p:nvPr/>
        </p:nvSpPr>
        <p:spPr>
          <a:xfrm>
            <a:off x="7355062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 weakness that can be abused: missing patch, weak password, misconfiguration, or exposed service.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5CDC5CA7-F095-306F-C8FD-0350E46BC75E}"/>
              </a:ext>
            </a:extLst>
          </p:cNvPr>
          <p:cNvSpPr/>
          <p:nvPr/>
        </p:nvSpPr>
        <p:spPr>
          <a:xfrm>
            <a:off x="12455096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9641875-9AA9-93F6-38E8-16D52DF06C20}"/>
              </a:ext>
            </a:extLst>
          </p:cNvPr>
          <p:cNvSpPr/>
          <p:nvPr/>
        </p:nvSpPr>
        <p:spPr>
          <a:xfrm>
            <a:off x="12751923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Impact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20AD8A5-66EA-0BE0-722F-0D7C883E7D9F}"/>
              </a:ext>
            </a:extLst>
          </p:cNvPr>
          <p:cNvSpPr/>
          <p:nvPr/>
        </p:nvSpPr>
        <p:spPr>
          <a:xfrm>
            <a:off x="12751923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The business consequence: downtime, data leakage, financial loss, legal exposure, or reputation damage.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D51B84DB-7B38-F5EB-848C-DB1EAB82512C}"/>
              </a:ext>
            </a:extLst>
          </p:cNvPr>
          <p:cNvSpPr/>
          <p:nvPr/>
        </p:nvSpPr>
        <p:spPr>
          <a:xfrm>
            <a:off x="1715342" y="7183539"/>
            <a:ext cx="3170656" cy="21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CONTROL CATEGORIES</a:t>
            </a:r>
            <a:endParaRPr lang="en-US" sz="16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88BBC980-293C-5604-2148-598AD15D8A49}"/>
              </a:ext>
            </a:extLst>
          </p:cNvPr>
          <p:cNvSpPr/>
          <p:nvPr/>
        </p:nvSpPr>
        <p:spPr>
          <a:xfrm>
            <a:off x="1715342" y="7465768"/>
            <a:ext cx="3170656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FA0BA8A4-1BB9-3859-80A8-55BBAB0A3D0D}"/>
              </a:ext>
            </a:extLst>
          </p:cNvPr>
          <p:cNvSpPr/>
          <p:nvPr/>
        </p:nvSpPr>
        <p:spPr>
          <a:xfrm>
            <a:off x="1863755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Administrative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3F6AEC59-D49D-5637-E063-623EA3AB4606}"/>
              </a:ext>
            </a:extLst>
          </p:cNvPr>
          <p:cNvSpPr/>
          <p:nvPr/>
        </p:nvSpPr>
        <p:spPr>
          <a:xfrm>
            <a:off x="1863755" y="8241899"/>
            <a:ext cx="3980185" cy="74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Policy, standards, training, risk assessment, and vendor management.</a:t>
            </a: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64D2B0E6-2400-800A-27A1-059FB4E26FBC}"/>
              </a:ext>
            </a:extLst>
          </p:cNvPr>
          <p:cNvSpPr/>
          <p:nvPr/>
        </p:nvSpPr>
        <p:spPr>
          <a:xfrm>
            <a:off x="7328077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Technical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B73B3CE8-3A9B-415B-5CBF-6507257D7535}"/>
              </a:ext>
            </a:extLst>
          </p:cNvPr>
          <p:cNvSpPr/>
          <p:nvPr/>
        </p:nvSpPr>
        <p:spPr>
          <a:xfrm>
            <a:off x="7328077" y="8241899"/>
            <a:ext cx="398018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Firewall, MFA, encryption, logging, endpoint protection, backup, and vulnerability management.</a:t>
            </a:r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6A9B9943-0606-2DEA-2B97-FDCBFB497CFD}"/>
              </a:ext>
            </a:extLst>
          </p:cNvPr>
          <p:cNvSpPr/>
          <p:nvPr/>
        </p:nvSpPr>
        <p:spPr>
          <a:xfrm>
            <a:off x="12724939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Physical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AC749F45-E7A9-DAE0-FBFC-C18938C35560}"/>
              </a:ext>
            </a:extLst>
          </p:cNvPr>
          <p:cNvSpPr/>
          <p:nvPr/>
        </p:nvSpPr>
        <p:spPr>
          <a:xfrm>
            <a:off x="12724939" y="8241899"/>
            <a:ext cx="3980185" cy="39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Badges, secure rooms, CCTV, environmental controls, and asset protection.</a:t>
            </a:r>
          </a:p>
        </p:txBody>
      </p:sp>
    </p:spTree>
    <p:extLst>
      <p:ext uri="{BB962C8B-B14F-4D97-AF65-F5344CB8AC3E}">
        <p14:creationId xmlns:p14="http://schemas.microsoft.com/office/powerpoint/2010/main" val="134740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A5A23-78B5-8691-83AA-0629759E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Landscape</a:t>
            </a:r>
            <a:b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dirty="0"/>
            </a:br>
            <a:r>
              <a:rPr lang="en-US" sz="2500" dirty="0">
                <a:solidFill>
                  <a:srgbClr val="B94A48"/>
                </a:solidFill>
              </a:rPr>
              <a:t>ACTOR CATEGORIES</a:t>
            </a:r>
            <a:endParaRPr lang="en-US" sz="2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F7D71-87E9-A23B-446D-4FFF6AEA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42107" y="3984172"/>
            <a:ext cx="4944473" cy="5381896"/>
          </a:xfrm>
        </p:spPr>
        <p:txBody>
          <a:bodyPr>
            <a:noAutofit/>
          </a:bodyPr>
          <a:lstStyle/>
          <a:p>
            <a:r>
              <a:rPr lang="en-US" sz="1300" b="1" dirty="0"/>
              <a:t>Cybercriminals</a:t>
            </a:r>
          </a:p>
          <a:p>
            <a:r>
              <a:rPr lang="en-US" sz="1300" dirty="0"/>
              <a:t>Financial gain, credential theft, fraud, ransomware.</a:t>
            </a:r>
          </a:p>
          <a:p>
            <a:endParaRPr lang="en-US" sz="1300" dirty="0"/>
          </a:p>
          <a:p>
            <a:r>
              <a:rPr lang="en-US" sz="1300" b="1" dirty="0"/>
              <a:t>Hacktivists</a:t>
            </a:r>
          </a:p>
          <a:p>
            <a:r>
              <a:rPr lang="en-US" sz="1300" dirty="0"/>
              <a:t>Publicity, disruption, ideological motivation.</a:t>
            </a:r>
          </a:p>
          <a:p>
            <a:endParaRPr lang="en-US" sz="1300" dirty="0"/>
          </a:p>
          <a:p>
            <a:r>
              <a:rPr lang="en-US" sz="1300" b="1" dirty="0"/>
              <a:t>Insiders</a:t>
            </a:r>
          </a:p>
          <a:p>
            <a:r>
              <a:rPr lang="en-US" sz="1300" dirty="0"/>
              <a:t>Misuse by employees, contractors, or trusted partners.</a:t>
            </a:r>
          </a:p>
          <a:p>
            <a:endParaRPr lang="en-US" sz="1300" dirty="0"/>
          </a:p>
          <a:p>
            <a:r>
              <a:rPr lang="en-US" sz="1300" b="1" dirty="0"/>
              <a:t>Nation-state groups</a:t>
            </a:r>
          </a:p>
          <a:p>
            <a:r>
              <a:rPr lang="en-US" sz="1300" dirty="0"/>
              <a:t>Espionage, intelligence gathering, sabotage, influence.</a:t>
            </a:r>
          </a:p>
          <a:p>
            <a:endParaRPr lang="en-US" sz="1300" dirty="0"/>
          </a:p>
          <a:p>
            <a:r>
              <a:rPr lang="en-US" sz="1300" b="1" dirty="0"/>
              <a:t>Opportunistic attackers</a:t>
            </a:r>
          </a:p>
          <a:p>
            <a:r>
              <a:rPr lang="en-US" sz="1300" dirty="0"/>
              <a:t>Public tools, exposed services, weak passwords.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A4863-8BE5-5285-F111-45BA965B307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9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1189-843E-252D-1C29-1E8E7BE0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F081-2351-EDE0-6257-73A7D9AA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Governance, Policy, and Ethics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AD46F-6235-43AC-601D-DF9EB15C79E2}"/>
              </a:ext>
            </a:extLst>
          </p:cNvPr>
          <p:cNvSpPr txBox="1"/>
          <p:nvPr/>
        </p:nvSpPr>
        <p:spPr>
          <a:xfrm>
            <a:off x="5218616" y="2488608"/>
            <a:ext cx="793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must be authorized, documented, and accountable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478B2A2-7DC7-9CA8-70CC-E4DA5C0043A5}"/>
              </a:ext>
            </a:extLst>
          </p:cNvPr>
          <p:cNvSpPr/>
          <p:nvPr/>
        </p:nvSpPr>
        <p:spPr>
          <a:xfrm>
            <a:off x="1451747" y="3590254"/>
            <a:ext cx="16009728" cy="685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Good security work is not only technical. It also requires clear rules, scope, evidence handling, and ethical behavior.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387777C-F459-3213-F76E-4264DDDC423F}"/>
              </a:ext>
            </a:extLst>
          </p:cNvPr>
          <p:cNvSpPr/>
          <p:nvPr/>
        </p:nvSpPr>
        <p:spPr>
          <a:xfrm>
            <a:off x="1451747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577E764-78E9-2A32-AE0B-91460F5C8288}"/>
              </a:ext>
            </a:extLst>
          </p:cNvPr>
          <p:cNvSpPr/>
          <p:nvPr/>
        </p:nvSpPr>
        <p:spPr>
          <a:xfrm>
            <a:off x="1742221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Policies and standards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AEA32DC-D63E-718B-ECFC-F48079C2EF38}"/>
              </a:ext>
            </a:extLst>
          </p:cNvPr>
          <p:cNvSpPr/>
          <p:nvPr/>
        </p:nvSpPr>
        <p:spPr>
          <a:xfrm>
            <a:off x="1742221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Define expectations for acceptable use, access, password, data handling, patching, and incident reporting.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F66993B-AB88-8794-2D44-D799FD299BA9}"/>
              </a:ext>
            </a:extLst>
          </p:cNvPr>
          <p:cNvSpPr/>
          <p:nvPr/>
        </p:nvSpPr>
        <p:spPr>
          <a:xfrm>
            <a:off x="6627462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65D6DE4-CC3D-106C-9F11-97BD8E9E61C2}"/>
              </a:ext>
            </a:extLst>
          </p:cNvPr>
          <p:cNvSpPr/>
          <p:nvPr/>
        </p:nvSpPr>
        <p:spPr>
          <a:xfrm>
            <a:off x="6917936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Legal and regulatory context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542DEED-F0AE-FC90-DF93-11ACCFFBF796}"/>
              </a:ext>
            </a:extLst>
          </p:cNvPr>
          <p:cNvSpPr/>
          <p:nvPr/>
        </p:nvSpPr>
        <p:spPr>
          <a:xfrm>
            <a:off x="6917936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Security activities must follow law, contract, privacy requirements, and organizational authorization.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C027C1F6-D6DD-0744-2BC6-107D2F2A98E7}"/>
              </a:ext>
            </a:extLst>
          </p:cNvPr>
          <p:cNvSpPr/>
          <p:nvPr/>
        </p:nvSpPr>
        <p:spPr>
          <a:xfrm>
            <a:off x="11816380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DCA18309-6A79-A32D-487D-66CAF1708E9D}"/>
              </a:ext>
            </a:extLst>
          </p:cNvPr>
          <p:cNvSpPr/>
          <p:nvPr/>
        </p:nvSpPr>
        <p:spPr>
          <a:xfrm>
            <a:off x="12106854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Evidence and documentation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5F5B318-06E0-FCE6-6CE6-2B729B68F05E}"/>
              </a:ext>
            </a:extLst>
          </p:cNvPr>
          <p:cNvSpPr/>
          <p:nvPr/>
        </p:nvSpPr>
        <p:spPr>
          <a:xfrm>
            <a:off x="12106854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Record what happened, when it happened, who was involved, and what actions were taken.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99DAB08-0C67-B40F-1A43-AA94839990AA}"/>
              </a:ext>
            </a:extLst>
          </p:cNvPr>
          <p:cNvSpPr/>
          <p:nvPr/>
        </p:nvSpPr>
        <p:spPr>
          <a:xfrm>
            <a:off x="3086698" y="7063836"/>
            <a:ext cx="5611425" cy="17839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B58B2A78-E561-73BB-5810-EAE6C6AE4A4D}"/>
              </a:ext>
            </a:extLst>
          </p:cNvPr>
          <p:cNvSpPr/>
          <p:nvPr/>
        </p:nvSpPr>
        <p:spPr>
          <a:xfrm>
            <a:off x="3377172" y="7292182"/>
            <a:ext cx="5109698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Ethical boundaries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8CF04CB5-103D-E760-BD52-95D5EBCC2E74}"/>
              </a:ext>
            </a:extLst>
          </p:cNvPr>
          <p:cNvSpPr/>
          <p:nvPr/>
        </p:nvSpPr>
        <p:spPr>
          <a:xfrm>
            <a:off x="3377172" y="7805959"/>
            <a:ext cx="5136105" cy="84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Test only systems you are authorized to assess. Avoid unnecessary disruption and protect confidential data.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8304135F-746F-63B8-2CEA-1D212DC1A581}"/>
              </a:ext>
            </a:extLst>
          </p:cNvPr>
          <p:cNvSpPr/>
          <p:nvPr/>
        </p:nvSpPr>
        <p:spPr>
          <a:xfrm>
            <a:off x="9187018" y="7063836"/>
            <a:ext cx="5611425" cy="17839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53E174D-EBBE-0DA4-C955-F9E6047FF641}"/>
              </a:ext>
            </a:extLst>
          </p:cNvPr>
          <p:cNvSpPr/>
          <p:nvPr/>
        </p:nvSpPr>
        <p:spPr>
          <a:xfrm>
            <a:off x="9477492" y="7292182"/>
            <a:ext cx="5109698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Business alignment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1485FE9C-6455-3680-F8B0-7C736BAFD5F2}"/>
              </a:ext>
            </a:extLst>
          </p:cNvPr>
          <p:cNvSpPr/>
          <p:nvPr/>
        </p:nvSpPr>
        <p:spPr>
          <a:xfrm>
            <a:off x="9477492" y="7805959"/>
            <a:ext cx="5136105" cy="84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Controls should support business objectives, reduce risk, and remain practical for users and operations.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016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2321-E5EE-4A71-404E-4A25739C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and Access Management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CBC22-7041-6483-79F7-C523BA5FE2E5}"/>
              </a:ext>
            </a:extLst>
          </p:cNvPr>
          <p:cNvSpPr txBox="1"/>
          <p:nvPr/>
        </p:nvSpPr>
        <p:spPr>
          <a:xfrm>
            <a:off x="4597758" y="2539216"/>
            <a:ext cx="9594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“Identity is the control point for users, admins, services, and applications”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F8AFEBE-0E8D-9557-E475-E7A00B3043D8}"/>
              </a:ext>
            </a:extLst>
          </p:cNvPr>
          <p:cNvSpPr/>
          <p:nvPr/>
        </p:nvSpPr>
        <p:spPr>
          <a:xfrm>
            <a:off x="1376084" y="3966693"/>
            <a:ext cx="3237336" cy="1248703"/>
          </a:xfrm>
          <a:prstGeom prst="rect">
            <a:avLst/>
          </a:prstGeom>
          <a:solidFill>
            <a:srgbClr val="EEF5FA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C4333FD-9CEF-8997-BD89-132C6775DE64}"/>
              </a:ext>
            </a:extLst>
          </p:cNvPr>
          <p:cNvSpPr/>
          <p:nvPr/>
        </p:nvSpPr>
        <p:spPr>
          <a:xfrm>
            <a:off x="1624051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Join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105E7BF-ABA5-C4BE-0AE9-23F3251A89E3}"/>
              </a:ext>
            </a:extLst>
          </p:cNvPr>
          <p:cNvSpPr/>
          <p:nvPr/>
        </p:nvSpPr>
        <p:spPr>
          <a:xfrm>
            <a:off x="159649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Create identity and assign role-based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7EE58CC-D3EB-D1EE-0F7F-67FBAAB92FA4}"/>
              </a:ext>
            </a:extLst>
          </p:cNvPr>
          <p:cNvSpPr/>
          <p:nvPr/>
        </p:nvSpPr>
        <p:spPr>
          <a:xfrm>
            <a:off x="4709852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1B72220-5D20-E111-2C1E-3A329F06324D}"/>
              </a:ext>
            </a:extLst>
          </p:cNvPr>
          <p:cNvSpPr/>
          <p:nvPr/>
        </p:nvSpPr>
        <p:spPr>
          <a:xfrm>
            <a:off x="5439974" y="3966693"/>
            <a:ext cx="3237336" cy="1248703"/>
          </a:xfrm>
          <a:prstGeom prst="rect">
            <a:avLst/>
          </a:prstGeom>
          <a:solidFill>
            <a:srgbClr val="F7FAFC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2AF9BE2-061D-00EB-9C15-0B4796FCAC07}"/>
              </a:ext>
            </a:extLst>
          </p:cNvPr>
          <p:cNvSpPr/>
          <p:nvPr/>
        </p:nvSpPr>
        <p:spPr>
          <a:xfrm>
            <a:off x="5687941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Move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C6E12AA-BDA1-4DA4-701C-04974E762A3C}"/>
              </a:ext>
            </a:extLst>
          </p:cNvPr>
          <p:cNvSpPr/>
          <p:nvPr/>
        </p:nvSpPr>
        <p:spPr>
          <a:xfrm>
            <a:off x="566038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Review access when duties change.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765D072-1112-79B0-5E3B-69740EBE694C}"/>
              </a:ext>
            </a:extLst>
          </p:cNvPr>
          <p:cNvSpPr/>
          <p:nvPr/>
        </p:nvSpPr>
        <p:spPr>
          <a:xfrm>
            <a:off x="8773742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F7B0B8C-758C-11F0-F87F-B9D9CF0ED847}"/>
              </a:ext>
            </a:extLst>
          </p:cNvPr>
          <p:cNvSpPr/>
          <p:nvPr/>
        </p:nvSpPr>
        <p:spPr>
          <a:xfrm>
            <a:off x="9503864" y="3966693"/>
            <a:ext cx="3237336" cy="1248703"/>
          </a:xfrm>
          <a:prstGeom prst="rect">
            <a:avLst/>
          </a:prstGeom>
          <a:solidFill>
            <a:srgbClr val="EEF5FA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23D2223-9C11-FC6C-7077-8695B0F7D44E}"/>
              </a:ext>
            </a:extLst>
          </p:cNvPr>
          <p:cNvSpPr/>
          <p:nvPr/>
        </p:nvSpPr>
        <p:spPr>
          <a:xfrm>
            <a:off x="9751830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Use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6F8CCC9-738B-FCA3-B2C5-C21BE92E3581}"/>
              </a:ext>
            </a:extLst>
          </p:cNvPr>
          <p:cNvSpPr/>
          <p:nvPr/>
        </p:nvSpPr>
        <p:spPr>
          <a:xfrm>
            <a:off x="972427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Enforce strong authentication and monitor activity.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3957FB-F72E-C6B0-1992-4A8856D904A4}"/>
              </a:ext>
            </a:extLst>
          </p:cNvPr>
          <p:cNvSpPr/>
          <p:nvPr/>
        </p:nvSpPr>
        <p:spPr>
          <a:xfrm>
            <a:off x="12837631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10A28B25-00BE-EC3D-49E5-AFA85F10CDE4}"/>
              </a:ext>
            </a:extLst>
          </p:cNvPr>
          <p:cNvSpPr/>
          <p:nvPr/>
        </p:nvSpPr>
        <p:spPr>
          <a:xfrm>
            <a:off x="13567754" y="3966693"/>
            <a:ext cx="3237336" cy="1248703"/>
          </a:xfrm>
          <a:prstGeom prst="rect">
            <a:avLst/>
          </a:prstGeom>
          <a:solidFill>
            <a:srgbClr val="F7FAFC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3D4FBD0-E813-D994-4AC4-C45406BA9E10}"/>
              </a:ext>
            </a:extLst>
          </p:cNvPr>
          <p:cNvSpPr/>
          <p:nvPr/>
        </p:nvSpPr>
        <p:spPr>
          <a:xfrm>
            <a:off x="13815720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Leave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46A51677-0BBC-20D1-4C83-4C87D9FBE720}"/>
              </a:ext>
            </a:extLst>
          </p:cNvPr>
          <p:cNvSpPr/>
          <p:nvPr/>
        </p:nvSpPr>
        <p:spPr>
          <a:xfrm>
            <a:off x="13788168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Remove access immediately when no longer needed.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06F6353A-4FD6-7FB3-E287-095B0C51562D}"/>
              </a:ext>
            </a:extLst>
          </p:cNvPr>
          <p:cNvSpPr/>
          <p:nvPr/>
        </p:nvSpPr>
        <p:spPr>
          <a:xfrm>
            <a:off x="1307205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89FD65CF-963C-8478-DFB4-E8FDD60B06AE}"/>
              </a:ext>
            </a:extLst>
          </p:cNvPr>
          <p:cNvSpPr/>
          <p:nvPr/>
        </p:nvSpPr>
        <p:spPr>
          <a:xfrm>
            <a:off x="1610275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Least privilege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2CC937AB-CB82-E4D6-33A8-96EE3390EF73}"/>
              </a:ext>
            </a:extLst>
          </p:cNvPr>
          <p:cNvSpPr/>
          <p:nvPr/>
        </p:nvSpPr>
        <p:spPr>
          <a:xfrm>
            <a:off x="1610275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Give users, administrators, service accounts, and applications only the access needed to perform their work.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1BFA479A-3A69-A62A-9FFD-6870053799E4}"/>
              </a:ext>
            </a:extLst>
          </p:cNvPr>
          <p:cNvSpPr/>
          <p:nvPr/>
        </p:nvSpPr>
        <p:spPr>
          <a:xfrm>
            <a:off x="6693581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85F6F626-64AB-6312-0E03-864C22730063}"/>
              </a:ext>
            </a:extLst>
          </p:cNvPr>
          <p:cNvSpPr/>
          <p:nvPr/>
        </p:nvSpPr>
        <p:spPr>
          <a:xfrm>
            <a:off x="6996651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Separation of duties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F5DFF9BD-8BFD-4E54-7932-4B85FA6160FC}"/>
              </a:ext>
            </a:extLst>
          </p:cNvPr>
          <p:cNvSpPr/>
          <p:nvPr/>
        </p:nvSpPr>
        <p:spPr>
          <a:xfrm>
            <a:off x="6996651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Separate critical functions so one account does not control every step of a sensitive process.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75D3042D-3CA6-0D5C-7BD4-0687639EF6E4}"/>
              </a:ext>
            </a:extLst>
          </p:cNvPr>
          <p:cNvSpPr/>
          <p:nvPr/>
        </p:nvSpPr>
        <p:spPr>
          <a:xfrm>
            <a:off x="12093733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BE9A7506-296B-F3E3-2E34-B33C02558531}"/>
              </a:ext>
            </a:extLst>
          </p:cNvPr>
          <p:cNvSpPr/>
          <p:nvPr/>
        </p:nvSpPr>
        <p:spPr>
          <a:xfrm>
            <a:off x="12396803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Multi-Factor Authentication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9F8B9F13-6CC0-57CD-443F-3DFB4DE91B4D}"/>
              </a:ext>
            </a:extLst>
          </p:cNvPr>
          <p:cNvSpPr/>
          <p:nvPr/>
        </p:nvSpPr>
        <p:spPr>
          <a:xfrm>
            <a:off x="12396803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Reduce password-only risk by requiring another factor such as authenticator app, token, or biometric validation.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0ED72AE7-FF47-8B93-5060-D1E29AE5C010}"/>
              </a:ext>
            </a:extLst>
          </p:cNvPr>
          <p:cNvSpPr/>
          <p:nvPr/>
        </p:nvSpPr>
        <p:spPr>
          <a:xfrm>
            <a:off x="2318750" y="8842580"/>
            <a:ext cx="13736536" cy="74922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2060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DAEEF675-3195-A3DC-C21E-551C1DE6B84C}"/>
              </a:ext>
            </a:extLst>
          </p:cNvPr>
          <p:cNvSpPr/>
          <p:nvPr/>
        </p:nvSpPr>
        <p:spPr>
          <a:xfrm>
            <a:off x="1789361" y="9116105"/>
            <a:ext cx="14671331" cy="178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Operational habit: review privileged accounts regularly and remove temporary access after the task is complete.</a:t>
            </a: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99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4FA6EA-318C-433D-BC59-12956D8F7DF1}"/>
              </a:ext>
            </a:extLst>
          </p:cNvPr>
          <p:cNvSpPr txBox="1"/>
          <p:nvPr/>
        </p:nvSpPr>
        <p:spPr>
          <a:xfrm>
            <a:off x="4948706" y="1449861"/>
            <a:ext cx="8807941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Network Security Fundamentals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3086C-DAA7-47DE-D2F7-2212FCAE31D1}"/>
              </a:ext>
            </a:extLst>
          </p:cNvPr>
          <p:cNvSpPr txBox="1"/>
          <p:nvPr/>
        </p:nvSpPr>
        <p:spPr>
          <a:xfrm>
            <a:off x="5412345" y="2280858"/>
            <a:ext cx="78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“The network carries data, so it must be understood and protected”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FD3F3A6-E689-E8D6-1E1A-B938C43C2BD0}"/>
              </a:ext>
            </a:extLst>
          </p:cNvPr>
          <p:cNvSpPr/>
          <p:nvPr/>
        </p:nvSpPr>
        <p:spPr>
          <a:xfrm>
            <a:off x="10072494" y="3127025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42E7B85-7D5F-78D0-4699-70D7138B487C}"/>
              </a:ext>
            </a:extLst>
          </p:cNvPr>
          <p:cNvSpPr/>
          <p:nvPr/>
        </p:nvSpPr>
        <p:spPr>
          <a:xfrm>
            <a:off x="10648926" y="3415262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OSI &amp; TCP/IP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B0C8FA6-2ED8-AC61-9591-F925A09F7773}"/>
              </a:ext>
            </a:extLst>
          </p:cNvPr>
          <p:cNvSpPr/>
          <p:nvPr/>
        </p:nvSpPr>
        <p:spPr>
          <a:xfrm>
            <a:off x="10348178" y="399174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Communication is organized by layers, from physical to application.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103D7638-FDB0-B0E2-EA5C-E03D0F09768B}"/>
              </a:ext>
            </a:extLst>
          </p:cNvPr>
          <p:cNvSpPr/>
          <p:nvPr/>
        </p:nvSpPr>
        <p:spPr>
          <a:xfrm>
            <a:off x="13480962" y="3127025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678062B-C5EE-65DF-C661-48231DB1E5FC}"/>
              </a:ext>
            </a:extLst>
          </p:cNvPr>
          <p:cNvSpPr/>
          <p:nvPr/>
        </p:nvSpPr>
        <p:spPr>
          <a:xfrm>
            <a:off x="14057394" y="3415262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IPv4 / IPv6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4E7C26A-5B79-EBF2-12C1-7746D3CD59B5}"/>
              </a:ext>
            </a:extLst>
          </p:cNvPr>
          <p:cNvSpPr/>
          <p:nvPr/>
        </p:nvSpPr>
        <p:spPr>
          <a:xfrm>
            <a:off x="13756647" y="399174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Network addressing used to identify hosts and route packets.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02F81D7-8B50-0FEE-AFF6-F4E6B72CB7BE}"/>
              </a:ext>
            </a:extLst>
          </p:cNvPr>
          <p:cNvSpPr/>
          <p:nvPr/>
        </p:nvSpPr>
        <p:spPr>
          <a:xfrm>
            <a:off x="10072494" y="5099181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F43422C0-56D5-ABC6-C92F-80D1CC9B9830}"/>
              </a:ext>
            </a:extLst>
          </p:cNvPr>
          <p:cNvSpPr/>
          <p:nvPr/>
        </p:nvSpPr>
        <p:spPr>
          <a:xfrm>
            <a:off x="10323116" y="5441426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7C062AFD-4A01-58AF-C4C4-333A5829F4C7}"/>
              </a:ext>
            </a:extLst>
          </p:cNvPr>
          <p:cNvSpPr/>
          <p:nvPr/>
        </p:nvSpPr>
        <p:spPr>
          <a:xfrm>
            <a:off x="10648926" y="5387417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Firewall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AE7FC26A-5553-FEBE-C1F1-470388860E19}"/>
              </a:ext>
            </a:extLst>
          </p:cNvPr>
          <p:cNvSpPr/>
          <p:nvPr/>
        </p:nvSpPr>
        <p:spPr>
          <a:xfrm>
            <a:off x="10348178" y="5963895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Traffic control based on port, protocol, application, and policy.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AAC01996-FDAA-A32D-F5D5-FE018D7CFE25}"/>
              </a:ext>
            </a:extLst>
          </p:cNvPr>
          <p:cNvSpPr/>
          <p:nvPr/>
        </p:nvSpPr>
        <p:spPr>
          <a:xfrm>
            <a:off x="13480962" y="5099181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45894692-1861-6DA1-FDF4-26E4F4377712}"/>
              </a:ext>
            </a:extLst>
          </p:cNvPr>
          <p:cNvSpPr/>
          <p:nvPr/>
        </p:nvSpPr>
        <p:spPr>
          <a:xfrm>
            <a:off x="13731584" y="5441426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25CB8829-EFC1-049A-03B1-2F67AA3521D5}"/>
              </a:ext>
            </a:extLst>
          </p:cNvPr>
          <p:cNvSpPr/>
          <p:nvPr/>
        </p:nvSpPr>
        <p:spPr>
          <a:xfrm>
            <a:off x="14057394" y="5387417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VPN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68C064AF-53AD-601B-4C22-1EC80CE3283F}"/>
              </a:ext>
            </a:extLst>
          </p:cNvPr>
          <p:cNvSpPr/>
          <p:nvPr/>
        </p:nvSpPr>
        <p:spPr>
          <a:xfrm>
            <a:off x="13756647" y="5963895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Encrypted tunnel for remote access or site-to-site connectivity.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89C1DB5D-2B28-76C0-188B-2A7F3C881267}"/>
              </a:ext>
            </a:extLst>
          </p:cNvPr>
          <p:cNvSpPr/>
          <p:nvPr/>
        </p:nvSpPr>
        <p:spPr>
          <a:xfrm>
            <a:off x="10072494" y="7071336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1A2B514-28DF-BB45-3412-CBFAF0511B69}"/>
              </a:ext>
            </a:extLst>
          </p:cNvPr>
          <p:cNvSpPr/>
          <p:nvPr/>
        </p:nvSpPr>
        <p:spPr>
          <a:xfrm>
            <a:off x="10648926" y="7359573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Wireless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EED2EB09-E08D-986C-53D9-BD17854A3EEF}"/>
              </a:ext>
            </a:extLst>
          </p:cNvPr>
          <p:cNvSpPr/>
          <p:nvPr/>
        </p:nvSpPr>
        <p:spPr>
          <a:xfrm>
            <a:off x="10348178" y="793605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Wi‑Fi and Bluetooth must be secured against unauthorized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F3B937AC-D7FB-E34C-EE13-4B845720E2EF}"/>
              </a:ext>
            </a:extLst>
          </p:cNvPr>
          <p:cNvSpPr/>
          <p:nvPr/>
        </p:nvSpPr>
        <p:spPr>
          <a:xfrm>
            <a:off x="13480962" y="7071336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906A409B-CB10-B230-02B1-D024A511C39E}"/>
              </a:ext>
            </a:extLst>
          </p:cNvPr>
          <p:cNvSpPr/>
          <p:nvPr/>
        </p:nvSpPr>
        <p:spPr>
          <a:xfrm>
            <a:off x="13731584" y="7413582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94B6D1E-03B6-364E-B8AE-7DDCA51B37CF}"/>
              </a:ext>
            </a:extLst>
          </p:cNvPr>
          <p:cNvSpPr/>
          <p:nvPr/>
        </p:nvSpPr>
        <p:spPr>
          <a:xfrm>
            <a:off x="14057394" y="7359573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IoT / ICS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65044DE7-55A8-2476-2A4B-B9725F8B7A52}"/>
              </a:ext>
            </a:extLst>
          </p:cNvPr>
          <p:cNvSpPr/>
          <p:nvPr/>
        </p:nvSpPr>
        <p:spPr>
          <a:xfrm>
            <a:off x="13756647" y="793605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Embedded and industrial devices need segmentation and monitoring.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EEE7-A70D-8387-BE47-F04D151E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B4A0BA6-4120-9F21-2D1D-82B7816A01DD}"/>
              </a:ext>
            </a:extLst>
          </p:cNvPr>
          <p:cNvSpPr/>
          <p:nvPr/>
        </p:nvSpPr>
        <p:spPr>
          <a:xfrm>
            <a:off x="4288601" y="1249297"/>
            <a:ext cx="11050138" cy="67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Security Operations &amp; Incident Response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5A0E4BE-1CCF-A921-6FCA-8990A0CBD5F9}"/>
              </a:ext>
            </a:extLst>
          </p:cNvPr>
          <p:cNvSpPr/>
          <p:nvPr/>
        </p:nvSpPr>
        <p:spPr>
          <a:xfrm>
            <a:off x="6836930" y="1928727"/>
            <a:ext cx="5428111" cy="49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“Turning alerts into decisions and actions”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DD7544FA-936F-766D-EBE1-4BDE30305299}"/>
              </a:ext>
            </a:extLst>
          </p:cNvPr>
          <p:cNvSpPr/>
          <p:nvPr/>
        </p:nvSpPr>
        <p:spPr>
          <a:xfrm>
            <a:off x="10145048" y="2802644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33E7A0E-CBC4-9EDA-6A11-206FD7E99B00}"/>
              </a:ext>
            </a:extLst>
          </p:cNvPr>
          <p:cNvSpPr/>
          <p:nvPr/>
        </p:nvSpPr>
        <p:spPr>
          <a:xfrm>
            <a:off x="10409075" y="3096378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56EBFDB-EE49-99CF-A5DE-B9039B752911}"/>
              </a:ext>
            </a:extLst>
          </p:cNvPr>
          <p:cNvSpPr/>
          <p:nvPr/>
        </p:nvSpPr>
        <p:spPr>
          <a:xfrm>
            <a:off x="10631907" y="3042997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Collect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CD51634B-4A3D-2E4C-D985-2C12A0C90CD9}"/>
              </a:ext>
            </a:extLst>
          </p:cNvPr>
          <p:cNvSpPr/>
          <p:nvPr/>
        </p:nvSpPr>
        <p:spPr>
          <a:xfrm>
            <a:off x="10435478" y="3544790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Logs from endpoint, network, cloud, identity, and applications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0BF8FB18-01D7-09F4-3813-1B7DC622B12F}"/>
              </a:ext>
            </a:extLst>
          </p:cNvPr>
          <p:cNvSpPr/>
          <p:nvPr/>
        </p:nvSpPr>
        <p:spPr>
          <a:xfrm>
            <a:off x="10145048" y="4143715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56C41A7-25BA-B31C-D7A3-C3F5F97E7D51}"/>
              </a:ext>
            </a:extLst>
          </p:cNvPr>
          <p:cNvSpPr/>
          <p:nvPr/>
        </p:nvSpPr>
        <p:spPr>
          <a:xfrm>
            <a:off x="10409075" y="4437449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3E96DBA8-0CB7-0603-0E2B-48784F14B4A1}"/>
              </a:ext>
            </a:extLst>
          </p:cNvPr>
          <p:cNvSpPr/>
          <p:nvPr/>
        </p:nvSpPr>
        <p:spPr>
          <a:xfrm>
            <a:off x="10631907" y="4384068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Detect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99A5C43F-683F-FFEC-F0F4-8D0B8037E47A}"/>
              </a:ext>
            </a:extLst>
          </p:cNvPr>
          <p:cNvSpPr/>
          <p:nvPr/>
        </p:nvSpPr>
        <p:spPr>
          <a:xfrm>
            <a:off x="10435478" y="4885861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Correlation rules, anomaly detection, and threat intelligence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645FF2E9-A83A-D086-2394-EC461608B8C6}"/>
              </a:ext>
            </a:extLst>
          </p:cNvPr>
          <p:cNvSpPr/>
          <p:nvPr/>
        </p:nvSpPr>
        <p:spPr>
          <a:xfrm>
            <a:off x="10145048" y="5484786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FBBF2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E50834B8-266E-1562-4B7E-341AA4BD25B6}"/>
              </a:ext>
            </a:extLst>
          </p:cNvPr>
          <p:cNvSpPr/>
          <p:nvPr/>
        </p:nvSpPr>
        <p:spPr>
          <a:xfrm>
            <a:off x="10409075" y="5778520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02B03A03-CDC2-AA76-A77F-DA74DCBE1997}"/>
              </a:ext>
            </a:extLst>
          </p:cNvPr>
          <p:cNvSpPr/>
          <p:nvPr/>
        </p:nvSpPr>
        <p:spPr>
          <a:xfrm>
            <a:off x="10631907" y="5725139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Triage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BF46758F-0CA8-9CB1-77C1-5A584D9E4B19}"/>
              </a:ext>
            </a:extLst>
          </p:cNvPr>
          <p:cNvSpPr/>
          <p:nvPr/>
        </p:nvSpPr>
        <p:spPr>
          <a:xfrm>
            <a:off x="10435478" y="6226931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Prioritize by impact, confidence, and affected assets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1869DB11-AA87-1E57-9698-F47445D989BB}"/>
              </a:ext>
            </a:extLst>
          </p:cNvPr>
          <p:cNvSpPr/>
          <p:nvPr/>
        </p:nvSpPr>
        <p:spPr>
          <a:xfrm>
            <a:off x="10145048" y="6825856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EC857DAF-E2F2-7B01-130E-FACAF26D0F10}"/>
              </a:ext>
            </a:extLst>
          </p:cNvPr>
          <p:cNvSpPr/>
          <p:nvPr/>
        </p:nvSpPr>
        <p:spPr>
          <a:xfrm>
            <a:off x="10409075" y="7119590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A9C28C92-83AB-BFF9-9207-9A5E0F9EA975}"/>
              </a:ext>
            </a:extLst>
          </p:cNvPr>
          <p:cNvSpPr/>
          <p:nvPr/>
        </p:nvSpPr>
        <p:spPr>
          <a:xfrm>
            <a:off x="10631907" y="7066209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Respond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AFFEC0F2-1C95-098A-9E2B-CAF4A2E449F4}"/>
              </a:ext>
            </a:extLst>
          </p:cNvPr>
          <p:cNvSpPr/>
          <p:nvPr/>
        </p:nvSpPr>
        <p:spPr>
          <a:xfrm>
            <a:off x="10435478" y="7568002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Contain, eradicate, recover, and document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AD5DF4E8-4DEE-B5C8-D6DB-678940D23F31}"/>
              </a:ext>
            </a:extLst>
          </p:cNvPr>
          <p:cNvSpPr/>
          <p:nvPr/>
        </p:nvSpPr>
        <p:spPr>
          <a:xfrm>
            <a:off x="2026198" y="8479409"/>
            <a:ext cx="14983568" cy="716106"/>
          </a:xfrm>
          <a:prstGeom prst="roundRect">
            <a:avLst>
              <a:gd name="adj" fmla="val 9091"/>
            </a:avLst>
          </a:prstGeom>
          <a:solidFill>
            <a:schemeClr val="bg1">
              <a:lumMod val="95000"/>
              <a:alpha val="95000"/>
            </a:scheme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D16B05B6-DC51-F5B2-B203-A7A6E6688A0D}"/>
              </a:ext>
            </a:extLst>
          </p:cNvPr>
          <p:cNvSpPr/>
          <p:nvPr/>
        </p:nvSpPr>
        <p:spPr>
          <a:xfrm>
            <a:off x="2184615" y="8635651"/>
            <a:ext cx="462048" cy="45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670F9648-AA68-FE36-128C-E0B8099B0300}"/>
              </a:ext>
            </a:extLst>
          </p:cNvPr>
          <p:cNvSpPr/>
          <p:nvPr/>
        </p:nvSpPr>
        <p:spPr>
          <a:xfrm>
            <a:off x="2381043" y="8687732"/>
            <a:ext cx="14033069" cy="40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Security operations output: validated cases, clear evidence, understood impact, and documented remediation and mitigation actions.</a:t>
            </a:r>
          </a:p>
        </p:txBody>
      </p:sp>
    </p:spTree>
    <p:extLst>
      <p:ext uri="{BB962C8B-B14F-4D97-AF65-F5344CB8AC3E}">
        <p14:creationId xmlns:p14="http://schemas.microsoft.com/office/powerpoint/2010/main" val="58283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F36E-5318-D39B-1993-C10A0A951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17EF47F-A479-3170-D06F-031AB438877F}"/>
              </a:ext>
            </a:extLst>
          </p:cNvPr>
          <p:cNvSpPr/>
          <p:nvPr/>
        </p:nvSpPr>
        <p:spPr>
          <a:xfrm>
            <a:off x="3622127" y="1291034"/>
            <a:ext cx="12392960" cy="6378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 err="1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Artifical</a:t>
            </a: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 Intelligence in Modern Cybersecurity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CE7F9EC-88BB-45CD-AB59-7C5F9DF7DF11}"/>
              </a:ext>
            </a:extLst>
          </p:cNvPr>
          <p:cNvSpPr/>
          <p:nvPr/>
        </p:nvSpPr>
        <p:spPr>
          <a:xfrm>
            <a:off x="6474951" y="2046065"/>
            <a:ext cx="7081431" cy="362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“AI improves detection, but also creates new risks to manage”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3D7D4C6-E0CA-2906-988E-EC3C6E121981}"/>
              </a:ext>
            </a:extLst>
          </p:cNvPr>
          <p:cNvSpPr/>
          <p:nvPr/>
        </p:nvSpPr>
        <p:spPr>
          <a:xfrm>
            <a:off x="1453110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F2D3FFB-F9BF-40B0-1B4C-6B1A743C5128}"/>
              </a:ext>
            </a:extLst>
          </p:cNvPr>
          <p:cNvSpPr/>
          <p:nvPr/>
        </p:nvSpPr>
        <p:spPr>
          <a:xfrm>
            <a:off x="1707380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AFE1278-761C-CBCA-53E9-A39C45491AC9}"/>
              </a:ext>
            </a:extLst>
          </p:cNvPr>
          <p:cNvSpPr/>
          <p:nvPr/>
        </p:nvSpPr>
        <p:spPr>
          <a:xfrm>
            <a:off x="1936224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helps defenders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CA8DC433-B3BB-EB1E-76AF-B482BC726B61}"/>
              </a:ext>
            </a:extLst>
          </p:cNvPr>
          <p:cNvSpPr/>
          <p:nvPr/>
        </p:nvSpPr>
        <p:spPr>
          <a:xfrm>
            <a:off x="1732807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Alert correlation, anomaly detection, log analysis, threat intelligence enrichment, and early triage automation.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B9B8A39D-F1E4-2449-57EC-A07B4FAB425C}"/>
              </a:ext>
            </a:extLst>
          </p:cNvPr>
          <p:cNvSpPr/>
          <p:nvPr/>
        </p:nvSpPr>
        <p:spPr>
          <a:xfrm>
            <a:off x="6474951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8B1287A-DEA3-B777-8CA0-82475EC93155}"/>
              </a:ext>
            </a:extLst>
          </p:cNvPr>
          <p:cNvSpPr/>
          <p:nvPr/>
        </p:nvSpPr>
        <p:spPr>
          <a:xfrm>
            <a:off x="6729221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53E3DE2-6422-0E75-9A03-A598C30F0FD2}"/>
              </a:ext>
            </a:extLst>
          </p:cNvPr>
          <p:cNvSpPr/>
          <p:nvPr/>
        </p:nvSpPr>
        <p:spPr>
          <a:xfrm>
            <a:off x="6958064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helps attackers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A2ACC68F-6395-B5B2-6749-EF612909BB24}"/>
              </a:ext>
            </a:extLst>
          </p:cNvPr>
          <p:cNvSpPr/>
          <p:nvPr/>
        </p:nvSpPr>
        <p:spPr>
          <a:xfrm>
            <a:off x="6754648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More convincing phishing, deepfakes, automated reconnaissance, and more adaptive malware.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1747EA00-9239-56D8-374C-FB679C5D0764}"/>
              </a:ext>
            </a:extLst>
          </p:cNvPr>
          <p:cNvSpPr/>
          <p:nvPr/>
        </p:nvSpPr>
        <p:spPr>
          <a:xfrm>
            <a:off x="11496792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E994C16B-AA0D-4A18-5E6D-5C194EA5D648}"/>
              </a:ext>
            </a:extLst>
          </p:cNvPr>
          <p:cNvSpPr/>
          <p:nvPr/>
        </p:nvSpPr>
        <p:spPr>
          <a:xfrm>
            <a:off x="11751062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FC70E320-3C3E-A2CB-CA27-B1DFF44A0D2A}"/>
              </a:ext>
            </a:extLst>
          </p:cNvPr>
          <p:cNvSpPr/>
          <p:nvPr/>
        </p:nvSpPr>
        <p:spPr>
          <a:xfrm>
            <a:off x="11979905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as an asset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EB93D7CD-CE9C-351B-340A-2180E0FA2BBB}"/>
              </a:ext>
            </a:extLst>
          </p:cNvPr>
          <p:cNvSpPr/>
          <p:nvPr/>
        </p:nvSpPr>
        <p:spPr>
          <a:xfrm>
            <a:off x="11776489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Models, datasets, prompts, outputs, plugins, and APIs should be included in asset inventory and risk assessment.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E5F50159-8A6D-06F6-76A7-D1FCAD05F70F}"/>
              </a:ext>
            </a:extLst>
          </p:cNvPr>
          <p:cNvSpPr/>
          <p:nvPr/>
        </p:nvSpPr>
        <p:spPr>
          <a:xfrm>
            <a:off x="1707380" y="6323367"/>
            <a:ext cx="13921306" cy="0"/>
          </a:xfrm>
          <a:prstGeom prst="line">
            <a:avLst/>
          </a:prstGeom>
          <a:noFill/>
          <a:ln w="17780">
            <a:solidFill>
              <a:schemeClr val="bg1">
                <a:alpha val="75000"/>
              </a:scheme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70E1CA10-909D-E88D-44FD-32706C0D6F84}"/>
              </a:ext>
            </a:extLst>
          </p:cNvPr>
          <p:cNvSpPr/>
          <p:nvPr/>
        </p:nvSpPr>
        <p:spPr>
          <a:xfrm>
            <a:off x="1453110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2CF96ECD-3700-25F2-B1C5-22A27C0AFCCA}"/>
              </a:ext>
            </a:extLst>
          </p:cNvPr>
          <p:cNvSpPr/>
          <p:nvPr/>
        </p:nvSpPr>
        <p:spPr>
          <a:xfrm>
            <a:off x="1707380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6EEDF55-8B75-BFA8-87E3-EA7CE567236B}"/>
              </a:ext>
            </a:extLst>
          </p:cNvPr>
          <p:cNvSpPr/>
          <p:nvPr/>
        </p:nvSpPr>
        <p:spPr>
          <a:xfrm>
            <a:off x="1936224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Data integrity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3A8CBCAF-28EB-4279-1F2D-3B025DB113F2}"/>
              </a:ext>
            </a:extLst>
          </p:cNvPr>
          <p:cNvSpPr/>
          <p:nvPr/>
        </p:nvSpPr>
        <p:spPr>
          <a:xfrm>
            <a:off x="1732807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Prevent poisoning and unauthorized dataset changes.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4B0AC900-46ED-45C2-9538-7ACA78D94599}"/>
              </a:ext>
            </a:extLst>
          </p:cNvPr>
          <p:cNvSpPr/>
          <p:nvPr/>
        </p:nvSpPr>
        <p:spPr>
          <a:xfrm>
            <a:off x="5267166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F5C8A71C-DF30-4994-F91C-4A495F906781}"/>
              </a:ext>
            </a:extLst>
          </p:cNvPr>
          <p:cNvSpPr/>
          <p:nvPr/>
        </p:nvSpPr>
        <p:spPr>
          <a:xfrm>
            <a:off x="5521437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3F0BC18D-9596-0CD5-5AE0-94E7B4B5FED9}"/>
              </a:ext>
            </a:extLst>
          </p:cNvPr>
          <p:cNvSpPr/>
          <p:nvPr/>
        </p:nvSpPr>
        <p:spPr>
          <a:xfrm>
            <a:off x="5750280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Privacy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502F3A17-FF5C-F41A-D16D-BED391ECB97C}"/>
              </a:ext>
            </a:extLst>
          </p:cNvPr>
          <p:cNvSpPr/>
          <p:nvPr/>
        </p:nvSpPr>
        <p:spPr>
          <a:xfrm>
            <a:off x="5546864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Avoid sending sensitive data into public AI services.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C9DA502B-22A1-1406-7A21-78CE08165A93}"/>
              </a:ext>
            </a:extLst>
          </p:cNvPr>
          <p:cNvSpPr/>
          <p:nvPr/>
        </p:nvSpPr>
        <p:spPr>
          <a:xfrm>
            <a:off x="9081223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B329AB14-4713-4EEF-E4A2-4B1B7E116F79}"/>
              </a:ext>
            </a:extLst>
          </p:cNvPr>
          <p:cNvSpPr/>
          <p:nvPr/>
        </p:nvSpPr>
        <p:spPr>
          <a:xfrm>
            <a:off x="9335493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3" name="Text 38">
            <a:extLst>
              <a:ext uri="{FF2B5EF4-FFF2-40B4-BE49-F238E27FC236}">
                <a16:creationId xmlns:a16="http://schemas.microsoft.com/office/drawing/2014/main" id="{20C61334-E3F9-CB3B-2EDD-D9F25E2F2593}"/>
              </a:ext>
            </a:extLst>
          </p:cNvPr>
          <p:cNvSpPr/>
          <p:nvPr/>
        </p:nvSpPr>
        <p:spPr>
          <a:xfrm>
            <a:off x="9564336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Access control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5" name="Text 39">
            <a:extLst>
              <a:ext uri="{FF2B5EF4-FFF2-40B4-BE49-F238E27FC236}">
                <a16:creationId xmlns:a16="http://schemas.microsoft.com/office/drawing/2014/main" id="{4E1612E3-1E08-373C-7507-11AC779A29F2}"/>
              </a:ext>
            </a:extLst>
          </p:cNvPr>
          <p:cNvSpPr/>
          <p:nvPr/>
        </p:nvSpPr>
        <p:spPr>
          <a:xfrm>
            <a:off x="9360920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Service accounts and bots still require PoLP and review.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7" name="Shape 40">
            <a:extLst>
              <a:ext uri="{FF2B5EF4-FFF2-40B4-BE49-F238E27FC236}">
                <a16:creationId xmlns:a16="http://schemas.microsoft.com/office/drawing/2014/main" id="{5C7AB93C-4448-7538-9E7E-6BFF208F69FB}"/>
              </a:ext>
            </a:extLst>
          </p:cNvPr>
          <p:cNvSpPr/>
          <p:nvPr/>
        </p:nvSpPr>
        <p:spPr>
          <a:xfrm>
            <a:off x="12895279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3" name="Text 43">
            <a:extLst>
              <a:ext uri="{FF2B5EF4-FFF2-40B4-BE49-F238E27FC236}">
                <a16:creationId xmlns:a16="http://schemas.microsoft.com/office/drawing/2014/main" id="{18FD86D0-F05D-B3C1-CB5C-7CF1A7954855}"/>
              </a:ext>
            </a:extLst>
          </p:cNvPr>
          <p:cNvSpPr/>
          <p:nvPr/>
        </p:nvSpPr>
        <p:spPr>
          <a:xfrm>
            <a:off x="13149550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DBCE9F62-B7A2-81F6-C4C4-320821A97C76}"/>
              </a:ext>
            </a:extLst>
          </p:cNvPr>
          <p:cNvSpPr/>
          <p:nvPr/>
        </p:nvSpPr>
        <p:spPr>
          <a:xfrm>
            <a:off x="13378393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BC/DR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7" name="Text 45">
            <a:extLst>
              <a:ext uri="{FF2B5EF4-FFF2-40B4-BE49-F238E27FC236}">
                <a16:creationId xmlns:a16="http://schemas.microsoft.com/office/drawing/2014/main" id="{A66479B1-2BD4-56B1-2208-B5B91C45B4CB}"/>
              </a:ext>
            </a:extLst>
          </p:cNvPr>
          <p:cNvSpPr/>
          <p:nvPr/>
        </p:nvSpPr>
        <p:spPr>
          <a:xfrm>
            <a:off x="13174977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Back up important configurations, models, pipelines, and datasets.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7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3C668-0222-F98E-C91C-B233C832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DEE70402-2685-E3F7-31BA-591EFFDB3FE9}"/>
              </a:ext>
            </a:extLst>
          </p:cNvPr>
          <p:cNvSpPr/>
          <p:nvPr/>
        </p:nvSpPr>
        <p:spPr>
          <a:xfrm>
            <a:off x="5455325" y="1228506"/>
            <a:ext cx="8227668" cy="74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Learning and Certification Path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0907405-732C-3190-9EF0-F1402822ABE9}"/>
              </a:ext>
            </a:extLst>
          </p:cNvPr>
          <p:cNvSpPr/>
          <p:nvPr/>
        </p:nvSpPr>
        <p:spPr>
          <a:xfrm>
            <a:off x="6765762" y="1879725"/>
            <a:ext cx="5800759" cy="387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“From awareness to entry-level cybersecurity roles”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C1343E24-6DA2-E206-A389-ED04B84A0AB4}"/>
              </a:ext>
            </a:extLst>
          </p:cNvPr>
          <p:cNvSpPr/>
          <p:nvPr/>
        </p:nvSpPr>
        <p:spPr>
          <a:xfrm>
            <a:off x="1557555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0588AF0-2441-6BAB-87BA-8166A6EA3DD2}"/>
              </a:ext>
            </a:extLst>
          </p:cNvPr>
          <p:cNvSpPr/>
          <p:nvPr/>
        </p:nvSpPr>
        <p:spPr>
          <a:xfrm>
            <a:off x="2009287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Start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9433765E-D311-785E-1F54-769EF965B23E}"/>
              </a:ext>
            </a:extLst>
          </p:cNvPr>
          <p:cNvSpPr/>
          <p:nvPr/>
        </p:nvSpPr>
        <p:spPr>
          <a:xfrm>
            <a:off x="1849852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Intro to Cybersecurity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8CE6967-21C4-217D-F253-2A1A12B24440}"/>
              </a:ext>
            </a:extLst>
          </p:cNvPr>
          <p:cNvSpPr/>
          <p:nvPr/>
        </p:nvSpPr>
        <p:spPr>
          <a:xfrm>
            <a:off x="4772826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E089FB36-4890-82C4-FE22-FE001E00B035}"/>
              </a:ext>
            </a:extLst>
          </p:cNvPr>
          <p:cNvSpPr/>
          <p:nvPr/>
        </p:nvSpPr>
        <p:spPr>
          <a:xfrm>
            <a:off x="5224558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Build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1F5EFFDC-FB37-B5C5-53C6-691673F80906}"/>
              </a:ext>
            </a:extLst>
          </p:cNvPr>
          <p:cNvSpPr/>
          <p:nvPr/>
        </p:nvSpPr>
        <p:spPr>
          <a:xfrm>
            <a:off x="5065123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Networking Basics + Linux</a:t>
            </a: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8CAD79EC-E0C7-7CFD-1AB4-96A575DEF8BC}"/>
              </a:ext>
            </a:extLst>
          </p:cNvPr>
          <p:cNvSpPr/>
          <p:nvPr/>
        </p:nvSpPr>
        <p:spPr>
          <a:xfrm>
            <a:off x="7988097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42162993-DBFE-9CFF-83F1-BC5672C283A7}"/>
              </a:ext>
            </a:extLst>
          </p:cNvPr>
          <p:cNvSpPr/>
          <p:nvPr/>
        </p:nvSpPr>
        <p:spPr>
          <a:xfrm>
            <a:off x="8439829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Practice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6E65E2D7-DA43-D852-C0EF-8659C1DCA3DE}"/>
              </a:ext>
            </a:extLst>
          </p:cNvPr>
          <p:cNvSpPr/>
          <p:nvPr/>
        </p:nvSpPr>
        <p:spPr>
          <a:xfrm>
            <a:off x="8280394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Labs: logs, scanning, hardening</a:t>
            </a:r>
          </a:p>
        </p:txBody>
      </p:sp>
      <p:sp>
        <p:nvSpPr>
          <p:cNvPr id="83" name="Shape 30">
            <a:extLst>
              <a:ext uri="{FF2B5EF4-FFF2-40B4-BE49-F238E27FC236}">
                <a16:creationId xmlns:a16="http://schemas.microsoft.com/office/drawing/2014/main" id="{6B2EA79B-6461-F39B-9C56-C5BFC61202E5}"/>
              </a:ext>
            </a:extLst>
          </p:cNvPr>
          <p:cNvSpPr/>
          <p:nvPr/>
        </p:nvSpPr>
        <p:spPr>
          <a:xfrm>
            <a:off x="11203368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4" name="Text 34">
            <a:extLst>
              <a:ext uri="{FF2B5EF4-FFF2-40B4-BE49-F238E27FC236}">
                <a16:creationId xmlns:a16="http://schemas.microsoft.com/office/drawing/2014/main" id="{0713E945-E977-2843-3DC1-3F1B4A6686A1}"/>
              </a:ext>
            </a:extLst>
          </p:cNvPr>
          <p:cNvSpPr/>
          <p:nvPr/>
        </p:nvSpPr>
        <p:spPr>
          <a:xfrm>
            <a:off x="11655100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Validate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114B96F5-59DB-A117-9B21-ADED2F0A4D5C}"/>
              </a:ext>
            </a:extLst>
          </p:cNvPr>
          <p:cNvSpPr/>
          <p:nvPr/>
        </p:nvSpPr>
        <p:spPr>
          <a:xfrm>
            <a:off x="11495665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entry certification</a:t>
            </a:r>
          </a:p>
        </p:txBody>
      </p:sp>
      <p:sp>
        <p:nvSpPr>
          <p:cNvPr id="106" name="Shape 38">
            <a:extLst>
              <a:ext uri="{FF2B5EF4-FFF2-40B4-BE49-F238E27FC236}">
                <a16:creationId xmlns:a16="http://schemas.microsoft.com/office/drawing/2014/main" id="{927451B2-1DB3-BA34-C924-27950DA6DE08}"/>
              </a:ext>
            </a:extLst>
          </p:cNvPr>
          <p:cNvSpPr/>
          <p:nvPr/>
        </p:nvSpPr>
        <p:spPr>
          <a:xfrm>
            <a:off x="14418639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8" name="Text 42">
            <a:extLst>
              <a:ext uri="{FF2B5EF4-FFF2-40B4-BE49-F238E27FC236}">
                <a16:creationId xmlns:a16="http://schemas.microsoft.com/office/drawing/2014/main" id="{225D7006-6814-3194-C9BF-A1BB528D8353}"/>
              </a:ext>
            </a:extLst>
          </p:cNvPr>
          <p:cNvSpPr/>
          <p:nvPr/>
        </p:nvSpPr>
        <p:spPr>
          <a:xfrm>
            <a:off x="14870371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Role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20" name="Text 43">
            <a:extLst>
              <a:ext uri="{FF2B5EF4-FFF2-40B4-BE49-F238E27FC236}">
                <a16:creationId xmlns:a16="http://schemas.microsoft.com/office/drawing/2014/main" id="{A7599DD1-6879-15EE-D6B7-69E97BE1417D}"/>
              </a:ext>
            </a:extLst>
          </p:cNvPr>
          <p:cNvSpPr/>
          <p:nvPr/>
        </p:nvSpPr>
        <p:spPr>
          <a:xfrm>
            <a:off x="14710936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SOC, IT security, security analyst, </a:t>
            </a:r>
            <a:r>
              <a:rPr lang="en-US" sz="1500" dirty="0" err="1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pentester</a:t>
            </a: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, DFIR</a:t>
            </a:r>
          </a:p>
        </p:txBody>
      </p:sp>
      <p:sp>
        <p:nvSpPr>
          <p:cNvPr id="122" name="Shape 44">
            <a:extLst>
              <a:ext uri="{FF2B5EF4-FFF2-40B4-BE49-F238E27FC236}">
                <a16:creationId xmlns:a16="http://schemas.microsoft.com/office/drawing/2014/main" id="{3B917E88-7312-94E0-80E8-0B55E02C2A74}"/>
              </a:ext>
            </a:extLst>
          </p:cNvPr>
          <p:cNvSpPr/>
          <p:nvPr/>
        </p:nvSpPr>
        <p:spPr>
          <a:xfrm>
            <a:off x="1716990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2" name="Text 49">
            <a:extLst>
              <a:ext uri="{FF2B5EF4-FFF2-40B4-BE49-F238E27FC236}">
                <a16:creationId xmlns:a16="http://schemas.microsoft.com/office/drawing/2014/main" id="{06048684-7200-417A-7423-DACA008516DF}"/>
              </a:ext>
            </a:extLst>
          </p:cNvPr>
          <p:cNvSpPr/>
          <p:nvPr/>
        </p:nvSpPr>
        <p:spPr>
          <a:xfrm>
            <a:off x="2064872" y="7071926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Introduction to Cybersecurity is a beginner course designed to introduce the cybersecurity field.</a:t>
            </a:r>
          </a:p>
        </p:txBody>
      </p:sp>
      <p:sp>
        <p:nvSpPr>
          <p:cNvPr id="134" name="Shape 50">
            <a:extLst>
              <a:ext uri="{FF2B5EF4-FFF2-40B4-BE49-F238E27FC236}">
                <a16:creationId xmlns:a16="http://schemas.microsoft.com/office/drawing/2014/main" id="{51675003-A7B6-33CF-BF23-AD471F530FB7}"/>
              </a:ext>
            </a:extLst>
          </p:cNvPr>
          <p:cNvSpPr/>
          <p:nvPr/>
        </p:nvSpPr>
        <p:spPr>
          <a:xfrm>
            <a:off x="6965056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4" name="Text 55">
            <a:extLst>
              <a:ext uri="{FF2B5EF4-FFF2-40B4-BE49-F238E27FC236}">
                <a16:creationId xmlns:a16="http://schemas.microsoft.com/office/drawing/2014/main" id="{6BD45779-F829-9BDF-5F98-0AAC12DC67B3}"/>
              </a:ext>
            </a:extLst>
          </p:cNvPr>
          <p:cNvSpPr/>
          <p:nvPr/>
        </p:nvSpPr>
        <p:spPr>
          <a:xfrm>
            <a:off x="7244067" y="6998623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An entry-level credential covering security principles, governance, IAM, network/ cloud, and operations/IR.</a:t>
            </a:r>
          </a:p>
        </p:txBody>
      </p:sp>
      <p:sp>
        <p:nvSpPr>
          <p:cNvPr id="146" name="Shape 56">
            <a:extLst>
              <a:ext uri="{FF2B5EF4-FFF2-40B4-BE49-F238E27FC236}">
                <a16:creationId xmlns:a16="http://schemas.microsoft.com/office/drawing/2014/main" id="{EAC51EAF-C2D5-4318-5243-8E95CA561372}"/>
              </a:ext>
            </a:extLst>
          </p:cNvPr>
          <p:cNvSpPr/>
          <p:nvPr/>
        </p:nvSpPr>
        <p:spPr>
          <a:xfrm>
            <a:off x="12213122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4" name="Text 60">
            <a:extLst>
              <a:ext uri="{FF2B5EF4-FFF2-40B4-BE49-F238E27FC236}">
                <a16:creationId xmlns:a16="http://schemas.microsoft.com/office/drawing/2014/main" id="{9BF9BF14-8D47-1EE7-6CC9-D511220853F4}"/>
              </a:ext>
            </a:extLst>
          </p:cNvPr>
          <p:cNvSpPr/>
          <p:nvPr/>
        </p:nvSpPr>
        <p:spPr>
          <a:xfrm>
            <a:off x="12664855" y="6761118"/>
            <a:ext cx="3294988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Practice focus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6" name="Text 61">
            <a:extLst>
              <a:ext uri="{FF2B5EF4-FFF2-40B4-BE49-F238E27FC236}">
                <a16:creationId xmlns:a16="http://schemas.microsoft.com/office/drawing/2014/main" id="{BDD13388-1CAF-D6A3-A2FE-80B058B63EB9}"/>
              </a:ext>
            </a:extLst>
          </p:cNvPr>
          <p:cNvSpPr/>
          <p:nvPr/>
        </p:nvSpPr>
        <p:spPr>
          <a:xfrm>
            <a:off x="12566521" y="7192204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Build a portfolio: lab write-ups, basic hardening, log analysis, network fundamentals, and incident notes.</a:t>
            </a:r>
          </a:p>
        </p:txBody>
      </p:sp>
    </p:spTree>
    <p:extLst>
      <p:ext uri="{BB962C8B-B14F-4D97-AF65-F5344CB8AC3E}">
        <p14:creationId xmlns:p14="http://schemas.microsoft.com/office/powerpoint/2010/main" val="74914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900C-266B-7644-037B-8CA635EE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210EA27-846F-76A8-183B-B831DDA4E4C7}"/>
              </a:ext>
            </a:extLst>
          </p:cNvPr>
          <p:cNvSpPr/>
          <p:nvPr/>
        </p:nvSpPr>
        <p:spPr>
          <a:xfrm>
            <a:off x="747727" y="1344658"/>
            <a:ext cx="4536419" cy="58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Key Takeaways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B119C98-7117-2238-0561-C6AD23A5D322}"/>
              </a:ext>
            </a:extLst>
          </p:cNvPr>
          <p:cNvSpPr/>
          <p:nvPr/>
        </p:nvSpPr>
        <p:spPr>
          <a:xfrm>
            <a:off x="5551216" y="2030999"/>
            <a:ext cx="7976189" cy="278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Connects People, Processes, Technology, and Risk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43BCAF-00F7-DCAB-942C-118F969ED627}"/>
              </a:ext>
            </a:extLst>
          </p:cNvPr>
          <p:cNvSpPr/>
          <p:nvPr/>
        </p:nvSpPr>
        <p:spPr>
          <a:xfrm>
            <a:off x="3803996" y="28849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Protect CIA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29DE6E8-9B27-E2BC-EC6A-C78B8840B059}"/>
              </a:ext>
            </a:extLst>
          </p:cNvPr>
          <p:cNvSpPr/>
          <p:nvPr/>
        </p:nvSpPr>
        <p:spPr>
          <a:xfrm>
            <a:off x="7806834" y="29102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Confidentiality, Integrity, and Availability are the foundation for security decisions.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F449E4A-92A4-2D91-4AFA-0FBDA7A7ED1F}"/>
              </a:ext>
            </a:extLst>
          </p:cNvPr>
          <p:cNvSpPr/>
          <p:nvPr/>
        </p:nvSpPr>
        <p:spPr>
          <a:xfrm>
            <a:off x="3803996" y="417542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Understand risk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038238B-5D16-FC23-8B7C-C13DDBA9F71D}"/>
              </a:ext>
            </a:extLst>
          </p:cNvPr>
          <p:cNvSpPr/>
          <p:nvPr/>
        </p:nvSpPr>
        <p:spPr>
          <a:xfrm>
            <a:off x="7806834" y="420072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Threat, vulnerability, and impact determine which controls are prioritized.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22DC759-A458-CCC0-E250-60BDECD5AF0B}"/>
              </a:ext>
            </a:extLst>
          </p:cNvPr>
          <p:cNvSpPr/>
          <p:nvPr/>
        </p:nvSpPr>
        <p:spPr>
          <a:xfrm>
            <a:off x="3803996" y="54658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Identity matters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700E713-7360-1637-1C7A-2A1E99316294}"/>
              </a:ext>
            </a:extLst>
          </p:cNvPr>
          <p:cNvSpPr/>
          <p:nvPr/>
        </p:nvSpPr>
        <p:spPr>
          <a:xfrm>
            <a:off x="7806834" y="54911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IAM, MFA, least privilege, and access reviews reduce unauthorized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B6576335-28B0-A7B1-681B-5AEFC3E274C1}"/>
              </a:ext>
            </a:extLst>
          </p:cNvPr>
          <p:cNvSpPr/>
          <p:nvPr/>
        </p:nvSpPr>
        <p:spPr>
          <a:xfrm>
            <a:off x="3015937" y="6957734"/>
            <a:ext cx="500355" cy="25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2775CDE-A546-E2F0-0CAA-11DC46E59356}"/>
              </a:ext>
            </a:extLst>
          </p:cNvPr>
          <p:cNvSpPr/>
          <p:nvPr/>
        </p:nvSpPr>
        <p:spPr>
          <a:xfrm>
            <a:off x="3803996" y="675632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Design secure network &amp; cloud architecture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AF59090E-BE79-0D32-6B7B-EDB96FFC5263}"/>
              </a:ext>
            </a:extLst>
          </p:cNvPr>
          <p:cNvSpPr/>
          <p:nvPr/>
        </p:nvSpPr>
        <p:spPr>
          <a:xfrm>
            <a:off x="7806834" y="678162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Segmentation, defense in depth, Zero Trust, and shared responsibility are essential.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3AFD937D-4F14-6D1D-83FA-18308143E8EE}"/>
              </a:ext>
            </a:extLst>
          </p:cNvPr>
          <p:cNvSpPr/>
          <p:nvPr/>
        </p:nvSpPr>
        <p:spPr>
          <a:xfrm>
            <a:off x="3803996" y="80467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Make operations measurable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0459BAF7-A4D1-ED35-D931-9217F8EC301C}"/>
              </a:ext>
            </a:extLst>
          </p:cNvPr>
          <p:cNvSpPr/>
          <p:nvPr/>
        </p:nvSpPr>
        <p:spPr>
          <a:xfrm>
            <a:off x="7806834" y="80720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Logging, monitoring, triage, and incident response make security real.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5F94F40C-6D26-7051-31CE-7595ACAA7CCA}"/>
              </a:ext>
            </a:extLst>
          </p:cNvPr>
          <p:cNvSpPr/>
          <p:nvPr/>
        </p:nvSpPr>
        <p:spPr>
          <a:xfrm>
            <a:off x="2327949" y="9052566"/>
            <a:ext cx="13947389" cy="645225"/>
          </a:xfrm>
          <a:prstGeom prst="roundRect">
            <a:avLst>
              <a:gd name="adj" fmla="val 11364"/>
            </a:avLst>
          </a:prstGeom>
          <a:solidFill>
            <a:schemeClr val="bg1">
              <a:lumMod val="95000"/>
              <a:alpha val="95000"/>
            </a:scheme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B0ECA963-1DC3-EB50-6FCC-AA4C7F6B4A2A}"/>
              </a:ext>
            </a:extLst>
          </p:cNvPr>
          <p:cNvSpPr/>
          <p:nvPr/>
        </p:nvSpPr>
        <p:spPr>
          <a:xfrm>
            <a:off x="2478056" y="9204384"/>
            <a:ext cx="437810" cy="30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45B7BEAD-24D9-682D-57B7-85EA6BE052C5}"/>
              </a:ext>
            </a:extLst>
          </p:cNvPr>
          <p:cNvSpPr/>
          <p:nvPr/>
        </p:nvSpPr>
        <p:spPr>
          <a:xfrm>
            <a:off x="3015937" y="9229687"/>
            <a:ext cx="13046750" cy="2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“Cybersecurity is not just tools., it is the discipline of understanding risk and protecting assets continuously.”</a:t>
            </a:r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23AE7208-3148-FD19-D829-8FFB9DEBD69D}"/>
              </a:ext>
            </a:extLst>
          </p:cNvPr>
          <p:cNvSpPr/>
          <p:nvPr/>
        </p:nvSpPr>
        <p:spPr>
          <a:xfrm>
            <a:off x="1765050" y="9697791"/>
            <a:ext cx="15260820" cy="0"/>
          </a:xfrm>
          <a:prstGeom prst="line">
            <a:avLst/>
          </a:prstGeom>
          <a:noFill/>
          <a:ln w="10160">
            <a:solidFill>
              <a:srgbClr val="1739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8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64DC-BBAB-87CD-1156-FD3E9819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B0DD-427F-8435-2707-410EAB9D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Summary and Source Alignment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331D2-2EDD-594B-A3B5-0DBEE6048E4D}"/>
              </a:ext>
            </a:extLst>
          </p:cNvPr>
          <p:cNvSpPr txBox="1"/>
          <p:nvPr/>
        </p:nvSpPr>
        <p:spPr>
          <a:xfrm>
            <a:off x="5509090" y="2489548"/>
            <a:ext cx="793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Key takeaways for an introductory cybersecurity presentation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917425-BC92-7830-1B69-709A2FCA5AEA}"/>
              </a:ext>
            </a:extLst>
          </p:cNvPr>
          <p:cNvSpPr/>
          <p:nvPr/>
        </p:nvSpPr>
        <p:spPr>
          <a:xfrm>
            <a:off x="2577698" y="3624250"/>
            <a:ext cx="1307095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is a continuous process of protecting data, identities, systems, networks, and business operations by reducing risk.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A0A6D44-2DAF-399A-E838-2FA087EDBADA}"/>
              </a:ext>
            </a:extLst>
          </p:cNvPr>
          <p:cNvSpPr/>
          <p:nvPr/>
        </p:nvSpPr>
        <p:spPr>
          <a:xfrm>
            <a:off x="2484334" y="4668319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1DD6E06-3253-546A-EBCB-BF35C3A80E52}"/>
              </a:ext>
            </a:extLst>
          </p:cNvPr>
          <p:cNvSpPr/>
          <p:nvPr/>
        </p:nvSpPr>
        <p:spPr>
          <a:xfrm>
            <a:off x="2741085" y="4862565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Remember the basics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1AC2DCF-1265-079C-4B2D-5E00D67932AB}"/>
              </a:ext>
            </a:extLst>
          </p:cNvPr>
          <p:cNvSpPr/>
          <p:nvPr/>
        </p:nvSpPr>
        <p:spPr>
          <a:xfrm>
            <a:off x="2741085" y="5299617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CIA, AAA, risk, least privilege, segmentation, monitoring, incident response, and ethical authorization.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50253B94-5300-8128-59F0-5BCE011874FC}"/>
              </a:ext>
            </a:extLst>
          </p:cNvPr>
          <p:cNvSpPr/>
          <p:nvPr/>
        </p:nvSpPr>
        <p:spPr>
          <a:xfrm>
            <a:off x="9428280" y="4668319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0DC71AC-8B37-A499-B6F3-24FDD053DB89}"/>
              </a:ext>
            </a:extLst>
          </p:cNvPr>
          <p:cNvSpPr/>
          <p:nvPr/>
        </p:nvSpPr>
        <p:spPr>
          <a:xfrm>
            <a:off x="9685031" y="4862565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Think in systems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940275D-3A00-147C-AB5D-E8EE43007517}"/>
              </a:ext>
            </a:extLst>
          </p:cNvPr>
          <p:cNvSpPr/>
          <p:nvPr/>
        </p:nvSpPr>
        <p:spPr>
          <a:xfrm>
            <a:off x="9685031" y="5299617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People, process, technology, business context, and cloud responsibility must work together.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5FB808B2-9A63-DDF2-05E9-D5F6D6B5F318}"/>
              </a:ext>
            </a:extLst>
          </p:cNvPr>
          <p:cNvSpPr/>
          <p:nvPr/>
        </p:nvSpPr>
        <p:spPr>
          <a:xfrm>
            <a:off x="2484334" y="6367968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CE57E698-CE80-E097-CDB2-D65EAAF7B1AB}"/>
              </a:ext>
            </a:extLst>
          </p:cNvPr>
          <p:cNvSpPr/>
          <p:nvPr/>
        </p:nvSpPr>
        <p:spPr>
          <a:xfrm>
            <a:off x="2741085" y="6562213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Keep improving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B105579F-29D3-00B4-3D2A-1397AE777956}"/>
              </a:ext>
            </a:extLst>
          </p:cNvPr>
          <p:cNvSpPr/>
          <p:nvPr/>
        </p:nvSpPr>
        <p:spPr>
          <a:xfrm>
            <a:off x="2741085" y="6999266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Use incidents, audits, labs, and lessons learned to strengthen controls over time.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3CC6E276-43B1-E79C-C3EE-B2C226CEC8B5}"/>
              </a:ext>
            </a:extLst>
          </p:cNvPr>
          <p:cNvSpPr/>
          <p:nvPr/>
        </p:nvSpPr>
        <p:spPr>
          <a:xfrm>
            <a:off x="9428280" y="6367968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3617504-9C86-83F1-E81C-333259DADD6A}"/>
              </a:ext>
            </a:extLst>
          </p:cNvPr>
          <p:cNvSpPr/>
          <p:nvPr/>
        </p:nvSpPr>
        <p:spPr>
          <a:xfrm>
            <a:off x="9685031" y="6562213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Learning sources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BA7C690-1862-7D4F-E2BB-540385B93D8E}"/>
              </a:ext>
            </a:extLst>
          </p:cNvPr>
          <p:cNvSpPr/>
          <p:nvPr/>
        </p:nvSpPr>
        <p:spPr>
          <a:xfrm>
            <a:off x="9685031" y="6999266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Cisco Networking Academy Introduction to Cybersecurity link provided by the user; ISC2 Certified in Cybersecurity exam outline for domain alignment.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A8B9A9A8-885E-D914-A307-CFDEEF7C2394}"/>
              </a:ext>
            </a:extLst>
          </p:cNvPr>
          <p:cNvSpPr/>
          <p:nvPr/>
        </p:nvSpPr>
        <p:spPr>
          <a:xfrm>
            <a:off x="2717744" y="8553230"/>
            <a:ext cx="12954253" cy="874105"/>
          </a:xfrm>
          <a:prstGeom prst="roundRect">
            <a:avLst>
              <a:gd name="adj" fmla="val 111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D1B35F2A-EB5A-A698-0EC6-6C8D0BAF4958}"/>
              </a:ext>
            </a:extLst>
          </p:cNvPr>
          <p:cNvSpPr/>
          <p:nvPr/>
        </p:nvSpPr>
        <p:spPr>
          <a:xfrm>
            <a:off x="2974495" y="8844598"/>
            <a:ext cx="12429081" cy="21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Final message: security is not a single product; it is a disciplined practice of prevention, detection, response, and continuous improvement.</a:t>
            </a:r>
            <a:endParaRPr lang="en-US" sz="12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053191"/>
      </p:ext>
    </p:extLst>
  </p:cSld>
  <p:clrMapOvr>
    <a:masterClrMapping/>
  </p:clrMapOvr>
</p:sld>
</file>

<file path=ppt/theme/theme1.xml><?xml version="1.0" encoding="utf-8"?>
<a:theme xmlns:a="http://schemas.openxmlformats.org/drawingml/2006/main" name="Public">
  <a:themeElements>
    <a:clrScheme name="Custom 2">
      <a:dk1>
        <a:srgbClr val="000000"/>
      </a:dk1>
      <a:lt1>
        <a:srgbClr val="FFFFFF"/>
      </a:lt1>
      <a:dk2>
        <a:srgbClr val="FEFFFF"/>
      </a:dk2>
      <a:lt2>
        <a:srgbClr val="141414"/>
      </a:lt2>
      <a:accent1>
        <a:srgbClr val="E02F22"/>
      </a:accent1>
      <a:accent2>
        <a:srgbClr val="10101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1531</Words>
  <Application>Microsoft Office PowerPoint</Application>
  <PresentationFormat>Custom</PresentationFormat>
  <Paragraphs>203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Display</vt:lpstr>
      <vt:lpstr>Arial</vt:lpstr>
      <vt:lpstr>Calibri</vt:lpstr>
      <vt:lpstr>Proxima Nova</vt:lpstr>
      <vt:lpstr>Chakra Petch</vt:lpstr>
      <vt:lpstr>Public</vt:lpstr>
      <vt:lpstr>Introduction to Cybersecurity</vt:lpstr>
      <vt:lpstr>Learning Objectives</vt:lpstr>
      <vt:lpstr>Why Cybersecurity Matters</vt:lpstr>
      <vt:lpstr>Core Security Objectives</vt:lpstr>
      <vt:lpstr>Common Attack Patterns</vt:lpstr>
      <vt:lpstr>Risk, Vulnerability, and Controls</vt:lpstr>
      <vt:lpstr>Threat Landscape  ACTOR CATEGORIES</vt:lpstr>
      <vt:lpstr>Governance, Policy, and Ethics</vt:lpstr>
      <vt:lpstr>Identity and Access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and Source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Rizky Ramadhan</cp:lastModifiedBy>
  <cp:revision>7</cp:revision>
  <dcterms:created xsi:type="dcterms:W3CDTF">2026-09-21T07:14:52Z</dcterms:created>
  <dcterms:modified xsi:type="dcterms:W3CDTF">2026-09-27T12:55:14Z</dcterms:modified>
</cp:coreProperties>
</file>