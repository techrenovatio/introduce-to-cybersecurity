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50" r:id="rId2"/>
  </p:sldMasterIdLst>
  <p:notesMasterIdLst>
    <p:notesMasterId r:id="rId23"/>
  </p:notesMasterIdLst>
  <p:sldIdLst>
    <p:sldId id="256" r:id="rId3"/>
    <p:sldId id="260" r:id="rId4"/>
    <p:sldId id="264" r:id="rId5"/>
    <p:sldId id="278" r:id="rId6"/>
    <p:sldId id="262" r:id="rId7"/>
    <p:sldId id="263" r:id="rId8"/>
    <p:sldId id="270" r:id="rId9"/>
    <p:sldId id="271" r:id="rId10"/>
    <p:sldId id="265" r:id="rId11"/>
    <p:sldId id="269" r:id="rId12"/>
    <p:sldId id="268" r:id="rId13"/>
    <p:sldId id="273" r:id="rId14"/>
    <p:sldId id="274" r:id="rId15"/>
    <p:sldId id="275" r:id="rId16"/>
    <p:sldId id="276" r:id="rId17"/>
    <p:sldId id="277" r:id="rId18"/>
    <p:sldId id="272" r:id="rId19"/>
    <p:sldId id="257" r:id="rId20"/>
    <p:sldId id="258" r:id="rId21"/>
    <p:sldId id="259" r:id="rId22"/>
  </p:sldIdLst>
  <p:sldSz cx="18288000" cy="10287000"/>
  <p:notesSz cx="10287000" cy="18288000"/>
  <p:embeddedFontLst>
    <p:embeddedFont>
      <p:font typeface="Chakra Petch" panose="020B0604020202020204" charset="0"/>
      <p:regular r:id="rId24"/>
      <p:bold r:id="rId25"/>
      <p:italic r:id="rId26"/>
      <p:boldItalic r:id="rId27"/>
    </p:embeddedFont>
    <p:embeddedFont>
      <p:font typeface="IBM Plex Mono" panose="020B0509050203000203" pitchFamily="49" charset="0"/>
      <p:regular r:id="rId28"/>
      <p:bold r:id="rId29"/>
      <p:italic r:id="rId30"/>
      <p:boldItalic r:id="rId31"/>
    </p:embeddedFont>
    <p:embeddedFont>
      <p:font typeface="IBM Plex Sans" panose="020B0503050203000203" pitchFamily="34" charset="0"/>
      <p:regular r:id="rId32"/>
      <p:bold r:id="rId33"/>
      <p:italic r:id="rId34"/>
      <p:boldItalic r:id="rId35"/>
    </p:embeddedFont>
    <p:embeddedFont>
      <p:font typeface="Proxima Nova" panose="020B0604020202020204" charset="0"/>
      <p:regular r:id="rId36"/>
      <p:bold r:id="rId37"/>
      <p:italic r:id="rId38"/>
      <p:boldItalic r:id="rId39"/>
    </p:embeddedFont>
    <p:embeddedFont>
      <p:font typeface="Space Grotesk" panose="020B0604020202020204" charset="0"/>
      <p:regular r:id="rId40"/>
      <p:bold r:id="rId4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2" roundtripDataSignature="AMtx7migtAvld4+avjSVjz/FpLWR3DOaq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2" d="100"/>
          <a:sy n="72" d="100"/>
        </p:scale>
        <p:origin x="24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font" Target="fonts/font3.fntdata"/><Relationship Id="rId39" Type="http://schemas.openxmlformats.org/officeDocument/2006/relationships/font" Target="fonts/font16.fntdata"/><Relationship Id="rId21" Type="http://schemas.openxmlformats.org/officeDocument/2006/relationships/slide" Target="slides/slide19.xml"/><Relationship Id="rId34" Type="http://schemas.openxmlformats.org/officeDocument/2006/relationships/font" Target="fonts/font11.fntdata"/><Relationship Id="rId42" Type="http://customschemas.google.com/relationships/presentationmetadata" Target="metadata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1.fntdata"/><Relationship Id="rId32" Type="http://schemas.openxmlformats.org/officeDocument/2006/relationships/font" Target="fonts/font9.fntdata"/><Relationship Id="rId37" Type="http://schemas.openxmlformats.org/officeDocument/2006/relationships/font" Target="fonts/font14.fntdata"/><Relationship Id="rId40" Type="http://schemas.openxmlformats.org/officeDocument/2006/relationships/font" Target="fonts/font17.fntdata"/><Relationship Id="rId45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36" Type="http://schemas.openxmlformats.org/officeDocument/2006/relationships/font" Target="fonts/font13.fntdata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font" Target="fonts/font8.fntdata"/><Relationship Id="rId44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font" Target="fonts/font12.fntdata"/><Relationship Id="rId43" Type="http://schemas.openxmlformats.org/officeDocument/2006/relationships/presProps" Target="presProp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font" Target="fonts/font2.fntdata"/><Relationship Id="rId33" Type="http://schemas.openxmlformats.org/officeDocument/2006/relationships/font" Target="fonts/font10.fntdata"/><Relationship Id="rId38" Type="http://schemas.openxmlformats.org/officeDocument/2006/relationships/font" Target="fonts/font15.fntdata"/><Relationship Id="rId46" Type="http://schemas.openxmlformats.org/officeDocument/2006/relationships/tableStyles" Target="tableStyles.xml"/><Relationship Id="rId20" Type="http://schemas.openxmlformats.org/officeDocument/2006/relationships/slide" Target="slides/slide18.xml"/><Relationship Id="rId41" Type="http://schemas.openxmlformats.org/officeDocument/2006/relationships/font" Target="fonts/font1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8" name="Google Shape;34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8">
          <a:extLst>
            <a:ext uri="{FF2B5EF4-FFF2-40B4-BE49-F238E27FC236}">
              <a16:creationId xmlns:a16="http://schemas.microsoft.com/office/drawing/2014/main" id="{A952C956-07A6-ACEC-41B9-97D3F62C2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3be12095d08_0_0:notes">
            <a:extLst>
              <a:ext uri="{FF2B5EF4-FFF2-40B4-BE49-F238E27FC236}">
                <a16:creationId xmlns:a16="http://schemas.microsoft.com/office/drawing/2014/main" id="{C1FF3749-4DCF-D5F8-949D-28CDF0A94E2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0" name="Google Shape;360;g3be12095d08_0_0:notes">
            <a:extLst>
              <a:ext uri="{FF2B5EF4-FFF2-40B4-BE49-F238E27FC236}">
                <a16:creationId xmlns:a16="http://schemas.microsoft.com/office/drawing/2014/main" id="{291FD50F-7BB3-EBFB-6F6A-B107EC9569D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1" name="Google Shape;361;g3be12095d08_0_0:notes">
            <a:extLst>
              <a:ext uri="{FF2B5EF4-FFF2-40B4-BE49-F238E27FC236}">
                <a16:creationId xmlns:a16="http://schemas.microsoft.com/office/drawing/2014/main" id="{97E6A876-640A-126A-B399-F1C297AD6D1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ID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3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916693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8">
          <a:extLst>
            <a:ext uri="{FF2B5EF4-FFF2-40B4-BE49-F238E27FC236}">
              <a16:creationId xmlns:a16="http://schemas.microsoft.com/office/drawing/2014/main" id="{6F9E99CE-4F1F-E967-B3C1-D242282BDD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3be12095d08_0_0:notes">
            <a:extLst>
              <a:ext uri="{FF2B5EF4-FFF2-40B4-BE49-F238E27FC236}">
                <a16:creationId xmlns:a16="http://schemas.microsoft.com/office/drawing/2014/main" id="{6319F501-F15E-6A0D-C213-1C224AB1107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0" name="Google Shape;360;g3be12095d08_0_0:notes">
            <a:extLst>
              <a:ext uri="{FF2B5EF4-FFF2-40B4-BE49-F238E27FC236}">
                <a16:creationId xmlns:a16="http://schemas.microsoft.com/office/drawing/2014/main" id="{D8FCA3CD-C371-2572-9739-BE583158DC4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1" name="Google Shape;361;g3be12095d08_0_0:notes">
            <a:extLst>
              <a:ext uri="{FF2B5EF4-FFF2-40B4-BE49-F238E27FC236}">
                <a16:creationId xmlns:a16="http://schemas.microsoft.com/office/drawing/2014/main" id="{E2BB3BA7-3D07-2A83-1BC0-09CCD46CFF2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ID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4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49883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3be12095d0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0" name="Google Shape;360;g3be12095d08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1" name="Google Shape;361;g3be12095d08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ID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5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8">
          <a:extLst>
            <a:ext uri="{FF2B5EF4-FFF2-40B4-BE49-F238E27FC236}">
              <a16:creationId xmlns:a16="http://schemas.microsoft.com/office/drawing/2014/main" id="{CCF8F4BC-31F4-5F88-2EE0-F855BA64F4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3be12095d08_0_0:notes">
            <a:extLst>
              <a:ext uri="{FF2B5EF4-FFF2-40B4-BE49-F238E27FC236}">
                <a16:creationId xmlns:a16="http://schemas.microsoft.com/office/drawing/2014/main" id="{29E3E0B5-E7CF-5C9C-6C03-530C1B2DB1C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0" name="Google Shape;360;g3be12095d08_0_0:notes">
            <a:extLst>
              <a:ext uri="{FF2B5EF4-FFF2-40B4-BE49-F238E27FC236}">
                <a16:creationId xmlns:a16="http://schemas.microsoft.com/office/drawing/2014/main" id="{8AAA61C3-50A2-DA68-721E-F0D6098DAB5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1" name="Google Shape;361;g3be12095d08_0_0:notes">
            <a:extLst>
              <a:ext uri="{FF2B5EF4-FFF2-40B4-BE49-F238E27FC236}">
                <a16:creationId xmlns:a16="http://schemas.microsoft.com/office/drawing/2014/main" id="{71545650-BE9C-E917-E557-0179039CD6E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ID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6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105758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433751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" name="Google Shape;28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9" name="Google Shape;29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" name="Google Shape;59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0" name="Google Shape;60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fbbda7ed8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0" name="Google Shape;110;g3fbbda7ed83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1" name="Google Shape;111;g3fbbda7ed83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3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3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3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3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13.jp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3.png"/><Relationship Id="rId5" Type="http://schemas.openxmlformats.org/officeDocument/2006/relationships/image" Target="../media/image5.png"/><Relationship Id="rId4" Type="http://schemas.openxmlformats.org/officeDocument/2006/relationships/image" Target="../media/image14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oogle Shape;17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4391027"/>
            <a:ext cx="18288000" cy="5895974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6"/>
          <p:cNvSpPr txBox="1">
            <a:spLocks noGrp="1"/>
          </p:cNvSpPr>
          <p:nvPr>
            <p:ph type="title"/>
          </p:nvPr>
        </p:nvSpPr>
        <p:spPr>
          <a:xfrm>
            <a:off x="2622550" y="2442418"/>
            <a:ext cx="13042901" cy="31560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roxima Nova"/>
              <a:buNone/>
              <a:defRPr sz="81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6"/>
          <p:cNvSpPr txBox="1">
            <a:spLocks noGrp="1"/>
          </p:cNvSpPr>
          <p:nvPr>
            <p:ph type="subTitle" idx="1"/>
          </p:nvPr>
        </p:nvSpPr>
        <p:spPr>
          <a:xfrm>
            <a:off x="2622549" y="5648435"/>
            <a:ext cx="13042899" cy="1433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accent1"/>
              </a:buClr>
              <a:buSzPts val="3200"/>
              <a:buNone/>
              <a:defRPr sz="4800" b="1" i="0">
                <a:solidFill>
                  <a:schemeClr val="accent1"/>
                </a:solidFill>
                <a:latin typeface="Chakra Petch"/>
                <a:ea typeface="Chakra Petch"/>
                <a:cs typeface="Chakra Petch"/>
                <a:sym typeface="Chakra Petch"/>
              </a:defRPr>
            </a:lvl1pPr>
            <a:lvl2pPr lvl="1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3000"/>
            </a:lvl2pPr>
            <a:lvl3pPr lvl="2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700"/>
            </a:lvl3pPr>
            <a:lvl4pPr lvl="3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2400"/>
            </a:lvl4pPr>
            <a:lvl5pPr lvl="4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2400"/>
            </a:lvl5pPr>
            <a:lvl6pPr lvl="5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400"/>
            </a:lvl6pPr>
            <a:lvl7pPr lvl="6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400"/>
            </a:lvl7pPr>
            <a:lvl8pPr lvl="7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400"/>
            </a:lvl8pPr>
            <a:lvl9pPr lvl="8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400"/>
            </a:lvl9pPr>
          </a:lstStyle>
          <a:p>
            <a:endParaRPr/>
          </a:p>
        </p:txBody>
      </p:sp>
      <p:pic>
        <p:nvPicPr>
          <p:cNvPr id="20" name="Google Shape;20;p6" descr="A white and red logo on a black background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28105" y="554954"/>
            <a:ext cx="2431791" cy="91316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" name="Google Shape;21;p6"/>
          <p:cNvGrpSpPr/>
          <p:nvPr/>
        </p:nvGrpSpPr>
        <p:grpSpPr>
          <a:xfrm>
            <a:off x="0" y="9819472"/>
            <a:ext cx="18288000" cy="547688"/>
            <a:chOff x="0" y="6546314"/>
            <a:chExt cx="12192000" cy="365125"/>
          </a:xfrm>
        </p:grpSpPr>
        <p:sp>
          <p:nvSpPr>
            <p:cNvPr id="22" name="Google Shape;22;p6"/>
            <p:cNvSpPr/>
            <p:nvPr/>
          </p:nvSpPr>
          <p:spPr>
            <a:xfrm>
              <a:off x="0" y="6584870"/>
              <a:ext cx="12192000" cy="27907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23;p6"/>
            <p:cNvSpPr txBox="1"/>
            <p:nvPr/>
          </p:nvSpPr>
          <p:spPr>
            <a:xfrm>
              <a:off x="6906598" y="6546314"/>
              <a:ext cx="4633362" cy="3651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D" sz="1350" b="0" i="0" u="none" strike="noStrike" cap="none">
                  <a:solidFill>
                    <a:schemeClr val="lt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Copyright © 2026 ITSEC Asia. All rights reserved.   </a:t>
              </a:r>
              <a:r>
                <a:rPr lang="en-ID" sz="1350" b="0" i="0" u="none" strike="noStrike" cap="none">
                  <a:solidFill>
                    <a:schemeClr val="accent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|</a:t>
              </a:r>
              <a:r>
                <a:rPr lang="en-ID" sz="1350" b="0" i="0" u="none" strike="noStrike" cap="none">
                  <a:solidFill>
                    <a:schemeClr val="lt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 </a:t>
              </a:r>
              <a:endParaRPr sz="135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  <p:sp>
        <p:nvSpPr>
          <p:cNvPr id="24" name="Google Shape;24;p6"/>
          <p:cNvSpPr txBox="1"/>
          <p:nvPr/>
        </p:nvSpPr>
        <p:spPr>
          <a:xfrm>
            <a:off x="17309940" y="9877306"/>
            <a:ext cx="730410" cy="415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38" tIns="68550" rIns="137138" bIns="6855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 sz="1800" b="1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1800" b="1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25" name="Google Shape;25;p6" descr="A red and black logo&#10;&#10;AI-generated content may be incorrect."/>
          <p:cNvPicPr preferRelativeResize="0"/>
          <p:nvPr/>
        </p:nvPicPr>
        <p:blipFill rotWithShape="1">
          <a:blip r:embed="rId4">
            <a:alphaModFix/>
          </a:blip>
          <a:srcRect l="10495" t="40170" r="6599" b="40170"/>
          <a:stretch/>
        </p:blipFill>
        <p:spPr>
          <a:xfrm>
            <a:off x="8644506" y="7191980"/>
            <a:ext cx="1017159" cy="24121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" name="Google Shape;26;p6"/>
          <p:cNvGrpSpPr/>
          <p:nvPr/>
        </p:nvGrpSpPr>
        <p:grpSpPr>
          <a:xfrm>
            <a:off x="-424781" y="9840460"/>
            <a:ext cx="1808181" cy="304617"/>
            <a:chOff x="-283187" y="6560310"/>
            <a:chExt cx="1205454" cy="203078"/>
          </a:xfrm>
        </p:grpSpPr>
        <p:pic>
          <p:nvPicPr>
            <p:cNvPr id="27" name="Google Shape;27;p6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-283187" y="6583388"/>
              <a:ext cx="1205454" cy="18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" name="Google Shape;28;p6"/>
            <p:cNvSpPr txBox="1"/>
            <p:nvPr/>
          </p:nvSpPr>
          <p:spPr>
            <a:xfrm>
              <a:off x="96903" y="6560310"/>
              <a:ext cx="714375" cy="20002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D" sz="1350" b="1">
                  <a:solidFill>
                    <a:schemeClr val="accent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PUBLIC</a:t>
              </a:r>
              <a:endParaRPr sz="2100"/>
            </a:p>
          </p:txBody>
        </p:sp>
      </p:grpSp>
    </p:spTree>
    <p:extLst>
      <p:ext uri="{BB962C8B-B14F-4D97-AF65-F5344CB8AC3E}">
        <p14:creationId xmlns:p14="http://schemas.microsoft.com/office/powerpoint/2010/main" val="31906800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Title and Conten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>
            <a:spLocks noGrp="1"/>
          </p:cNvSpPr>
          <p:nvPr>
            <p:ph type="title"/>
          </p:nvPr>
        </p:nvSpPr>
        <p:spPr>
          <a:xfrm>
            <a:off x="1257299" y="1859857"/>
            <a:ext cx="15773403" cy="12858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Proxima Nova"/>
              <a:buNone/>
              <a:defRPr sz="4800" b="1" i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body" idx="1"/>
          </p:nvPr>
        </p:nvSpPr>
        <p:spPr>
          <a:xfrm>
            <a:off x="1257299" y="3431667"/>
            <a:ext cx="15773403" cy="5884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685800" lvl="0" indent="-5334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3000" b="1" i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1371600" lvl="1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2700" b="1" i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2057400" lvl="2" indent="-4953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2400" b="1" i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2743200" lvl="3" indent="-4762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2100" b="1" i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3429000" lvl="4" indent="-4762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2100" b="1" i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4114800" lvl="5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800600" lvl="6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5486400" lvl="7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6172200" lvl="8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32" name="Google Shape;32;p7"/>
          <p:cNvPicPr preferRelativeResize="0"/>
          <p:nvPr/>
        </p:nvPicPr>
        <p:blipFill rotWithShape="1">
          <a:blip r:embed="rId2">
            <a:alphaModFix/>
          </a:blip>
          <a:srcRect t="7825" b="18454"/>
          <a:stretch/>
        </p:blipFill>
        <p:spPr>
          <a:xfrm rot="10800000">
            <a:off x="0" y="-27619"/>
            <a:ext cx="18288000" cy="314260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3" name="Google Shape;33;p7"/>
          <p:cNvGrpSpPr/>
          <p:nvPr/>
        </p:nvGrpSpPr>
        <p:grpSpPr>
          <a:xfrm>
            <a:off x="0" y="9819472"/>
            <a:ext cx="18288000" cy="547688"/>
            <a:chOff x="0" y="6546314"/>
            <a:chExt cx="12192000" cy="365125"/>
          </a:xfrm>
        </p:grpSpPr>
        <p:sp>
          <p:nvSpPr>
            <p:cNvPr id="34" name="Google Shape;34;p7"/>
            <p:cNvSpPr/>
            <p:nvPr/>
          </p:nvSpPr>
          <p:spPr>
            <a:xfrm>
              <a:off x="0" y="6584870"/>
              <a:ext cx="12192000" cy="27907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" name="Google Shape;35;p7"/>
            <p:cNvSpPr txBox="1"/>
            <p:nvPr/>
          </p:nvSpPr>
          <p:spPr>
            <a:xfrm>
              <a:off x="6906598" y="6546314"/>
              <a:ext cx="4633362" cy="3651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D" sz="1350" b="0" i="0">
                  <a:solidFill>
                    <a:schemeClr val="lt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Copyright © 2026 ITSEC Asia. All rights reserved.   </a:t>
              </a:r>
              <a:r>
                <a:rPr lang="en-ID" sz="1350" b="0" i="0">
                  <a:solidFill>
                    <a:schemeClr val="accent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|</a:t>
              </a:r>
              <a:r>
                <a:rPr lang="en-ID" sz="1350" b="0" i="0">
                  <a:solidFill>
                    <a:schemeClr val="lt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 </a:t>
              </a:r>
              <a:endParaRPr sz="1350" b="0" i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  <p:sp>
        <p:nvSpPr>
          <p:cNvPr id="36" name="Google Shape;36;p7"/>
          <p:cNvSpPr txBox="1"/>
          <p:nvPr/>
        </p:nvSpPr>
        <p:spPr>
          <a:xfrm>
            <a:off x="17309940" y="9877306"/>
            <a:ext cx="730410" cy="415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38" tIns="68550" rIns="137138" bIns="6855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 sz="1800" b="1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1800" b="1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7" name="Google Shape;37;p7" descr="A red and black logo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 l="10495" t="40170" r="6599" b="40170"/>
          <a:stretch/>
        </p:blipFill>
        <p:spPr>
          <a:xfrm>
            <a:off x="8635418" y="3152712"/>
            <a:ext cx="1017159" cy="24121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8" name="Google Shape;38;p7"/>
          <p:cNvGrpSpPr/>
          <p:nvPr/>
        </p:nvGrpSpPr>
        <p:grpSpPr>
          <a:xfrm>
            <a:off x="-424781" y="9840460"/>
            <a:ext cx="1808181" cy="304617"/>
            <a:chOff x="-283187" y="6560310"/>
            <a:chExt cx="1205454" cy="203078"/>
          </a:xfrm>
        </p:grpSpPr>
        <p:pic>
          <p:nvPicPr>
            <p:cNvPr id="39" name="Google Shape;39;p7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-283187" y="6583388"/>
              <a:ext cx="1205454" cy="18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" name="Google Shape;40;p7"/>
            <p:cNvSpPr txBox="1"/>
            <p:nvPr/>
          </p:nvSpPr>
          <p:spPr>
            <a:xfrm>
              <a:off x="96903" y="6560310"/>
              <a:ext cx="714375" cy="20002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D" sz="1350" b="1">
                  <a:solidFill>
                    <a:schemeClr val="accent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PUBLIC</a:t>
              </a:r>
              <a:endParaRPr sz="2100"/>
            </a:p>
          </p:txBody>
        </p:sp>
      </p:grpSp>
      <p:pic>
        <p:nvPicPr>
          <p:cNvPr id="41" name="Google Shape;41;p7" descr="A white and red logo on a black background&#10;&#10;AI-generated content may be incorrect.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58236" y="554961"/>
            <a:ext cx="1971525" cy="7403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64579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Google Shape;43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4391027"/>
            <a:ext cx="18288000" cy="5895974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8"/>
          <p:cNvSpPr txBox="1">
            <a:spLocks noGrp="1"/>
          </p:cNvSpPr>
          <p:nvPr>
            <p:ph type="title"/>
          </p:nvPr>
        </p:nvSpPr>
        <p:spPr>
          <a:xfrm>
            <a:off x="3066520" y="3016878"/>
            <a:ext cx="12187895" cy="13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Proxima Nova"/>
              <a:buNone/>
              <a:defRPr sz="9900" b="1" i="0"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8"/>
          <p:cNvSpPr txBox="1">
            <a:spLocks noGrp="1"/>
          </p:cNvSpPr>
          <p:nvPr>
            <p:ph type="subTitle" idx="1"/>
          </p:nvPr>
        </p:nvSpPr>
        <p:spPr>
          <a:xfrm>
            <a:off x="3066519" y="4382117"/>
            <a:ext cx="12154962" cy="909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4200" b="1" i="0">
                <a:solidFill>
                  <a:schemeClr val="accent1"/>
                </a:solidFill>
                <a:latin typeface="Chakra Petch"/>
                <a:ea typeface="Chakra Petch"/>
                <a:cs typeface="Chakra Petch"/>
                <a:sym typeface="Chakra Petch"/>
              </a:defRPr>
            </a:lvl1pPr>
            <a:lvl2pPr lvl="1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3000"/>
            </a:lvl2pPr>
            <a:lvl3pPr lvl="2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700"/>
            </a:lvl3pPr>
            <a:lvl4pPr lvl="3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2400"/>
            </a:lvl4pPr>
            <a:lvl5pPr lvl="4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2400"/>
            </a:lvl5pPr>
            <a:lvl6pPr lvl="5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400"/>
            </a:lvl6pPr>
            <a:lvl7pPr lvl="6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400"/>
            </a:lvl7pPr>
            <a:lvl8pPr lvl="7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400"/>
            </a:lvl8pPr>
            <a:lvl9pPr lvl="8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400"/>
            </a:lvl9pPr>
          </a:lstStyle>
          <a:p>
            <a:endParaRPr/>
          </a:p>
        </p:txBody>
      </p:sp>
      <p:sp>
        <p:nvSpPr>
          <p:cNvPr id="46" name="Google Shape;46;p8"/>
          <p:cNvSpPr txBox="1"/>
          <p:nvPr/>
        </p:nvSpPr>
        <p:spPr>
          <a:xfrm>
            <a:off x="4105289" y="6200124"/>
            <a:ext cx="5241473" cy="7501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38" tIns="68550" rIns="137138" bIns="6855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575" b="1" i="0" u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INDONESIA</a:t>
            </a:r>
            <a:endParaRPr sz="1575" b="1" i="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 b="0" i="0" u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Noble House, Level 11.  Jakarta 12950, Indonesia</a:t>
            </a:r>
            <a:endParaRPr sz="1200" b="0" i="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 b="0" i="0" u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contact@itsec.asia   </a:t>
            </a:r>
            <a:r>
              <a:rPr lang="en-ID" sz="1200" b="0" i="0" u="none" strike="noStrike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t>|</a:t>
            </a:r>
            <a:r>
              <a:rPr lang="en-ID" sz="1200" b="0" i="0" u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   +62 (21) 29783050</a:t>
            </a:r>
            <a:endParaRPr sz="1200" b="0" i="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7" name="Google Shape;47;p8"/>
          <p:cNvSpPr txBox="1"/>
          <p:nvPr/>
        </p:nvSpPr>
        <p:spPr>
          <a:xfrm>
            <a:off x="8941240" y="6200124"/>
            <a:ext cx="5241473" cy="7501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38" tIns="68550" rIns="137138" bIns="6855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575" b="1" i="0" u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AUSTRALIA</a:t>
            </a:r>
            <a:endParaRPr sz="1575" b="1" i="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 b="0" i="0" u="none" strike="noStrike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Level 22, 120 Spencer St Melbourne, Victoria, 3004</a:t>
            </a:r>
            <a:endParaRPr sz="210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 b="0" i="0" u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info@itsec.com.au   </a:t>
            </a:r>
            <a:r>
              <a:rPr lang="en-ID" sz="1200" b="0" i="0" u="none" strike="noStrike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t>|</a:t>
            </a:r>
            <a:r>
              <a:rPr lang="en-ID" sz="1200" b="0" i="0" u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   </a:t>
            </a:r>
            <a:r>
              <a:rPr lang="en-ID" sz="1200" b="0" i="0" u="none" strike="noStrike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+61 499 091 916</a:t>
            </a:r>
            <a:endParaRPr sz="1200" b="0" i="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8" name="Google Shape;48;p8"/>
          <p:cNvSpPr txBox="1"/>
          <p:nvPr/>
        </p:nvSpPr>
        <p:spPr>
          <a:xfrm>
            <a:off x="8941240" y="7133337"/>
            <a:ext cx="5241473" cy="9348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38" tIns="68550" rIns="137138" bIns="6855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575" b="1" i="0" u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DUBAI</a:t>
            </a:r>
            <a:endParaRPr sz="1575" b="1" i="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 b="0" i="0" u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Office 13, Floor M, Palm Jumeirah Golden Mile Building 4,</a:t>
            </a:r>
            <a:endParaRPr sz="210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 b="0" i="0" u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Dubai, UAE</a:t>
            </a:r>
            <a:br>
              <a:rPr lang="en-ID" sz="1200" b="0" i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</a:br>
            <a:r>
              <a:rPr lang="en-ID" sz="1200" b="0" i="0" u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info@itsec-cyber.ae   </a:t>
            </a:r>
            <a:r>
              <a:rPr lang="en-ID" sz="1200" b="0" i="0" u="none" strike="noStrike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t>|</a:t>
            </a:r>
            <a:r>
              <a:rPr lang="en-ID" sz="1200" b="0" i="0" u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   +971 4 558 7217</a:t>
            </a:r>
            <a:endParaRPr sz="1200" b="0" i="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9" name="Google Shape;49;p8"/>
          <p:cNvSpPr txBox="1"/>
          <p:nvPr/>
        </p:nvSpPr>
        <p:spPr>
          <a:xfrm>
            <a:off x="4105289" y="7240194"/>
            <a:ext cx="5241473" cy="7501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38" tIns="68550" rIns="137138" bIns="6855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575" b="1" i="0" u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SINGAPORE</a:t>
            </a:r>
            <a:endParaRPr sz="1575" b="1" i="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 b="0" i="0" u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112 Robinson Road, #11-04 Singapore 068902</a:t>
            </a:r>
            <a:br>
              <a:rPr lang="en-ID" sz="1200" b="0" i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</a:br>
            <a:r>
              <a:rPr lang="en-ID" sz="1200" b="0" i="0" u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contact@itsec.sg   </a:t>
            </a:r>
            <a:r>
              <a:rPr lang="en-ID" sz="1200" b="0" i="0" u="none" strike="noStrike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t>|</a:t>
            </a:r>
            <a:r>
              <a:rPr lang="en-ID" sz="1200" b="0" i="0" u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   +65 3159 1145</a:t>
            </a:r>
            <a:endParaRPr sz="1200" b="0" i="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50" name="Google Shape;50;p8"/>
          <p:cNvSpPr txBox="1"/>
          <p:nvPr/>
        </p:nvSpPr>
        <p:spPr>
          <a:xfrm>
            <a:off x="6518080" y="8219429"/>
            <a:ext cx="5241473" cy="9348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38" tIns="68550" rIns="137138" bIns="6855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575" b="1" i="0" u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MAURITIUS</a:t>
            </a:r>
            <a:endParaRPr sz="1575" b="1" i="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 b="0" i="0" u="none" strike="noStrike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The Catalyst Building, Ground Floor, Lot 40,</a:t>
            </a:r>
            <a:endParaRPr sz="210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 b="0" i="0" u="none" strike="noStrike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Silicon Avenue Ebene, Mauritius</a:t>
            </a:r>
            <a:br>
              <a:rPr lang="en-ID" sz="1200" b="0" i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</a:br>
            <a:r>
              <a:rPr lang="en-ID" sz="1200" b="0" i="0" u="none" strike="noStrike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contact@itsecasia.com</a:t>
            </a:r>
            <a:endParaRPr sz="1200" b="0" i="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grpSp>
        <p:nvGrpSpPr>
          <p:cNvPr id="51" name="Google Shape;51;p8"/>
          <p:cNvGrpSpPr/>
          <p:nvPr/>
        </p:nvGrpSpPr>
        <p:grpSpPr>
          <a:xfrm>
            <a:off x="0" y="9819472"/>
            <a:ext cx="18288000" cy="547688"/>
            <a:chOff x="0" y="6546314"/>
            <a:chExt cx="12192000" cy="365125"/>
          </a:xfrm>
        </p:grpSpPr>
        <p:sp>
          <p:nvSpPr>
            <p:cNvPr id="52" name="Google Shape;52;p8"/>
            <p:cNvSpPr/>
            <p:nvPr/>
          </p:nvSpPr>
          <p:spPr>
            <a:xfrm>
              <a:off x="0" y="6584870"/>
              <a:ext cx="12192000" cy="27907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" name="Google Shape;53;p8"/>
            <p:cNvSpPr txBox="1"/>
            <p:nvPr/>
          </p:nvSpPr>
          <p:spPr>
            <a:xfrm>
              <a:off x="6906598" y="6546314"/>
              <a:ext cx="4633362" cy="3651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D" sz="1350" b="0" i="0">
                  <a:solidFill>
                    <a:schemeClr val="lt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Copyright © 2026 ITSEC Asia. All rights reserved.   </a:t>
              </a:r>
              <a:r>
                <a:rPr lang="en-ID" sz="1350" b="0" i="0">
                  <a:solidFill>
                    <a:schemeClr val="accent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|</a:t>
              </a:r>
              <a:r>
                <a:rPr lang="en-ID" sz="1350" b="0" i="0">
                  <a:solidFill>
                    <a:schemeClr val="lt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 </a:t>
              </a:r>
              <a:endParaRPr sz="1350" b="0" i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  <p:sp>
        <p:nvSpPr>
          <p:cNvPr id="54" name="Google Shape;54;p8"/>
          <p:cNvSpPr txBox="1"/>
          <p:nvPr/>
        </p:nvSpPr>
        <p:spPr>
          <a:xfrm>
            <a:off x="17309940" y="9877306"/>
            <a:ext cx="730410" cy="415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38" tIns="68550" rIns="137138" bIns="6855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 sz="1800" b="1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1800" b="1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grpSp>
        <p:nvGrpSpPr>
          <p:cNvPr id="55" name="Google Shape;55;p8"/>
          <p:cNvGrpSpPr/>
          <p:nvPr/>
        </p:nvGrpSpPr>
        <p:grpSpPr>
          <a:xfrm>
            <a:off x="-424781" y="9840460"/>
            <a:ext cx="1808181" cy="304617"/>
            <a:chOff x="-283187" y="6560310"/>
            <a:chExt cx="1205454" cy="203078"/>
          </a:xfrm>
        </p:grpSpPr>
        <p:pic>
          <p:nvPicPr>
            <p:cNvPr id="56" name="Google Shape;56;p8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-283187" y="6583388"/>
              <a:ext cx="1205454" cy="18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" name="Google Shape;57;p8"/>
            <p:cNvSpPr txBox="1"/>
            <p:nvPr/>
          </p:nvSpPr>
          <p:spPr>
            <a:xfrm>
              <a:off x="96903" y="6560310"/>
              <a:ext cx="714375" cy="20002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D" sz="1350" b="1">
                  <a:solidFill>
                    <a:schemeClr val="accent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PUBLIC</a:t>
              </a:r>
              <a:endParaRPr sz="2100"/>
            </a:p>
          </p:txBody>
        </p:sp>
      </p:grpSp>
      <p:pic>
        <p:nvPicPr>
          <p:cNvPr id="58" name="Google Shape;58;p8" descr="A white and red logo on a black background&#10;&#10;AI-generated content may be incorrect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58236" y="554961"/>
            <a:ext cx="1971525" cy="7403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119222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 Header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4391027"/>
            <a:ext cx="18288000" cy="5895974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9"/>
          <p:cNvSpPr txBox="1">
            <a:spLocks noGrp="1"/>
          </p:cNvSpPr>
          <p:nvPr>
            <p:ph type="title"/>
          </p:nvPr>
        </p:nvSpPr>
        <p:spPr>
          <a:xfrm>
            <a:off x="2396471" y="5885471"/>
            <a:ext cx="13495052" cy="2521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roxima Nova"/>
              <a:buNone/>
              <a:defRPr sz="5400" b="1" i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62" name="Google Shape;62;p9"/>
          <p:cNvGrpSpPr/>
          <p:nvPr/>
        </p:nvGrpSpPr>
        <p:grpSpPr>
          <a:xfrm>
            <a:off x="0" y="9819472"/>
            <a:ext cx="18288000" cy="547688"/>
            <a:chOff x="0" y="6546314"/>
            <a:chExt cx="12192000" cy="365125"/>
          </a:xfrm>
        </p:grpSpPr>
        <p:sp>
          <p:nvSpPr>
            <p:cNvPr id="63" name="Google Shape;63;p9"/>
            <p:cNvSpPr/>
            <p:nvPr/>
          </p:nvSpPr>
          <p:spPr>
            <a:xfrm>
              <a:off x="0" y="6584870"/>
              <a:ext cx="12192000" cy="27907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" name="Google Shape;64;p9"/>
            <p:cNvSpPr txBox="1"/>
            <p:nvPr/>
          </p:nvSpPr>
          <p:spPr>
            <a:xfrm>
              <a:off x="6906598" y="6546314"/>
              <a:ext cx="4633362" cy="3651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D" sz="1350" b="0" i="0">
                  <a:solidFill>
                    <a:schemeClr val="lt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Copyright © 2026 ITSEC Asia. All rights reserved.   </a:t>
              </a:r>
              <a:r>
                <a:rPr lang="en-ID" sz="1350" b="0" i="0">
                  <a:solidFill>
                    <a:schemeClr val="accent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|</a:t>
              </a:r>
              <a:r>
                <a:rPr lang="en-ID" sz="1350" b="0" i="0">
                  <a:solidFill>
                    <a:schemeClr val="lt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 </a:t>
              </a:r>
              <a:endParaRPr sz="1350" b="0" i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  <p:sp>
        <p:nvSpPr>
          <p:cNvPr id="65" name="Google Shape;65;p9"/>
          <p:cNvSpPr txBox="1"/>
          <p:nvPr/>
        </p:nvSpPr>
        <p:spPr>
          <a:xfrm>
            <a:off x="17309940" y="9877306"/>
            <a:ext cx="730410" cy="415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38" tIns="68550" rIns="137138" bIns="6855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 sz="1800" b="1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1800" b="1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66" name="Google Shape;66;p9" descr="A red and black logo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 l="10495" t="40170" r="6599" b="40170"/>
          <a:stretch/>
        </p:blipFill>
        <p:spPr>
          <a:xfrm>
            <a:off x="8635418" y="4908903"/>
            <a:ext cx="1017159" cy="24121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7" name="Google Shape;67;p9"/>
          <p:cNvGrpSpPr/>
          <p:nvPr/>
        </p:nvGrpSpPr>
        <p:grpSpPr>
          <a:xfrm>
            <a:off x="-424781" y="9840460"/>
            <a:ext cx="1808181" cy="304617"/>
            <a:chOff x="-283187" y="6560310"/>
            <a:chExt cx="1205454" cy="203078"/>
          </a:xfrm>
        </p:grpSpPr>
        <p:pic>
          <p:nvPicPr>
            <p:cNvPr id="68" name="Google Shape;68;p9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-283187" y="6583388"/>
              <a:ext cx="1205454" cy="18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9" name="Google Shape;69;p9"/>
            <p:cNvSpPr txBox="1"/>
            <p:nvPr/>
          </p:nvSpPr>
          <p:spPr>
            <a:xfrm>
              <a:off x="96903" y="6560310"/>
              <a:ext cx="714375" cy="20002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D" sz="1350" b="1">
                  <a:solidFill>
                    <a:schemeClr val="accent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PUBLIC</a:t>
              </a:r>
              <a:endParaRPr sz="2100"/>
            </a:p>
          </p:txBody>
        </p:sp>
      </p:grpSp>
      <p:pic>
        <p:nvPicPr>
          <p:cNvPr id="70" name="Google Shape;70;p9" descr="A white and red logo on a black background&#10;&#10;AI-generated content may be incorrect.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58236" y="554961"/>
            <a:ext cx="1971525" cy="7403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957359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3628078" y="6034502"/>
            <a:ext cx="4659923" cy="4052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756138" y="-491419"/>
            <a:ext cx="3039072" cy="374552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4" name="Google Shape;74;p10"/>
          <p:cNvGrpSpPr/>
          <p:nvPr/>
        </p:nvGrpSpPr>
        <p:grpSpPr>
          <a:xfrm>
            <a:off x="0" y="9819472"/>
            <a:ext cx="18288000" cy="547688"/>
            <a:chOff x="0" y="6546314"/>
            <a:chExt cx="12192000" cy="365125"/>
          </a:xfrm>
        </p:grpSpPr>
        <p:sp>
          <p:nvSpPr>
            <p:cNvPr id="75" name="Google Shape;75;p10"/>
            <p:cNvSpPr/>
            <p:nvPr/>
          </p:nvSpPr>
          <p:spPr>
            <a:xfrm>
              <a:off x="0" y="6584870"/>
              <a:ext cx="12192000" cy="27907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" name="Google Shape;76;p10"/>
            <p:cNvSpPr txBox="1"/>
            <p:nvPr/>
          </p:nvSpPr>
          <p:spPr>
            <a:xfrm>
              <a:off x="6906598" y="6546314"/>
              <a:ext cx="4633362" cy="3651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D" sz="1350" b="0" i="0">
                  <a:solidFill>
                    <a:schemeClr val="lt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Copyright © 2026 ITSEC Asia. All rights reserved.   </a:t>
              </a:r>
              <a:r>
                <a:rPr lang="en-ID" sz="1350" b="0" i="0">
                  <a:solidFill>
                    <a:schemeClr val="accent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|</a:t>
              </a:r>
              <a:r>
                <a:rPr lang="en-ID" sz="1350" b="0" i="0">
                  <a:solidFill>
                    <a:schemeClr val="lt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 </a:t>
              </a:r>
              <a:endParaRPr sz="1350" b="0" i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  <p:sp>
        <p:nvSpPr>
          <p:cNvPr id="77" name="Google Shape;77;p10"/>
          <p:cNvSpPr txBox="1"/>
          <p:nvPr/>
        </p:nvSpPr>
        <p:spPr>
          <a:xfrm>
            <a:off x="17309940" y="9877306"/>
            <a:ext cx="730410" cy="415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38" tIns="68550" rIns="137138" bIns="6855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 sz="1800" b="1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1800" b="1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grpSp>
        <p:nvGrpSpPr>
          <p:cNvPr id="78" name="Google Shape;78;p10"/>
          <p:cNvGrpSpPr/>
          <p:nvPr/>
        </p:nvGrpSpPr>
        <p:grpSpPr>
          <a:xfrm>
            <a:off x="-424781" y="9840460"/>
            <a:ext cx="1808181" cy="304617"/>
            <a:chOff x="-283187" y="6560310"/>
            <a:chExt cx="1205454" cy="203078"/>
          </a:xfrm>
        </p:grpSpPr>
        <p:pic>
          <p:nvPicPr>
            <p:cNvPr id="79" name="Google Shape;79;p10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-283187" y="6583388"/>
              <a:ext cx="1205454" cy="18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10"/>
            <p:cNvSpPr txBox="1"/>
            <p:nvPr/>
          </p:nvSpPr>
          <p:spPr>
            <a:xfrm>
              <a:off x="96903" y="6560310"/>
              <a:ext cx="714375" cy="20002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D" sz="1350" b="1">
                  <a:solidFill>
                    <a:schemeClr val="accent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PUBLIC</a:t>
              </a:r>
              <a:endParaRPr sz="2100"/>
            </a:p>
          </p:txBody>
        </p:sp>
      </p:grpSp>
      <p:pic>
        <p:nvPicPr>
          <p:cNvPr id="81" name="Google Shape;81;p10" descr="A white and red logo on a black background&#10;&#10;AI-generated content may be incorrect.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5581249" y="554961"/>
            <a:ext cx="1971525" cy="7403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202196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1">
  <p:cSld name="Blank 1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g3be12095d08_0_5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3628078" y="6034502"/>
            <a:ext cx="4659923" cy="4052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g3be12095d08_0_5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756138" y="-491419"/>
            <a:ext cx="3039072" cy="374552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5" name="Google Shape;85;g3be12095d08_0_50"/>
          <p:cNvGrpSpPr/>
          <p:nvPr/>
        </p:nvGrpSpPr>
        <p:grpSpPr>
          <a:xfrm>
            <a:off x="0" y="9819471"/>
            <a:ext cx="18288000" cy="547650"/>
            <a:chOff x="0" y="6546314"/>
            <a:chExt cx="12192000" cy="365100"/>
          </a:xfrm>
        </p:grpSpPr>
        <p:sp>
          <p:nvSpPr>
            <p:cNvPr id="86" name="Google Shape;86;g3be12095d08_0_50"/>
            <p:cNvSpPr/>
            <p:nvPr/>
          </p:nvSpPr>
          <p:spPr>
            <a:xfrm>
              <a:off x="0" y="6584870"/>
              <a:ext cx="12192000" cy="279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" name="Google Shape;87;g3be12095d08_0_50"/>
            <p:cNvSpPr txBox="1"/>
            <p:nvPr/>
          </p:nvSpPr>
          <p:spPr>
            <a:xfrm>
              <a:off x="6906598" y="6546314"/>
              <a:ext cx="4633500" cy="36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D" sz="1350" b="0" i="0">
                  <a:solidFill>
                    <a:schemeClr val="lt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Copyright © 2026 ITSEC Asia. All rights reserved.   </a:t>
              </a:r>
              <a:r>
                <a:rPr lang="en-ID" sz="1350" b="0" i="0">
                  <a:solidFill>
                    <a:schemeClr val="accent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|</a:t>
              </a:r>
              <a:r>
                <a:rPr lang="en-ID" sz="1350" b="0" i="0">
                  <a:solidFill>
                    <a:schemeClr val="lt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 </a:t>
              </a:r>
              <a:endParaRPr sz="1350" b="0" i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  <p:sp>
        <p:nvSpPr>
          <p:cNvPr id="88" name="Google Shape;88;g3be12095d08_0_50"/>
          <p:cNvSpPr txBox="1"/>
          <p:nvPr/>
        </p:nvSpPr>
        <p:spPr>
          <a:xfrm>
            <a:off x="17309940" y="9877306"/>
            <a:ext cx="730350" cy="415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38" tIns="68550" rIns="137138" bIns="6855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 sz="1800" b="1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1800" b="1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grpSp>
        <p:nvGrpSpPr>
          <p:cNvPr id="89" name="Google Shape;89;g3be12095d08_0_50"/>
          <p:cNvGrpSpPr/>
          <p:nvPr/>
        </p:nvGrpSpPr>
        <p:grpSpPr>
          <a:xfrm>
            <a:off x="-424780" y="9840460"/>
            <a:ext cx="1808183" cy="304617"/>
            <a:chOff x="-283187" y="6560310"/>
            <a:chExt cx="1205455" cy="203078"/>
          </a:xfrm>
        </p:grpSpPr>
        <p:pic>
          <p:nvPicPr>
            <p:cNvPr id="90" name="Google Shape;90;g3be12095d08_0_50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-283187" y="6583388"/>
              <a:ext cx="1205455" cy="18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1" name="Google Shape;91;g3be12095d08_0_50"/>
            <p:cNvSpPr txBox="1"/>
            <p:nvPr/>
          </p:nvSpPr>
          <p:spPr>
            <a:xfrm>
              <a:off x="96903" y="6560310"/>
              <a:ext cx="714300" cy="20002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D" sz="1350" b="1">
                  <a:solidFill>
                    <a:schemeClr val="accent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PUBLIC</a:t>
              </a:r>
              <a:endParaRPr sz="2100"/>
            </a:p>
          </p:txBody>
        </p:sp>
      </p:grpSp>
      <p:pic>
        <p:nvPicPr>
          <p:cNvPr id="92" name="Google Shape;92;g3be12095d08_0_50" descr="A white and red logo on a black background&#10;&#10;AI-generated content may be incorrect.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5581249" y="554961"/>
            <a:ext cx="1971525" cy="7403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891968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Blank">
  <p:cSld name="2_Blank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1"/>
          <p:cNvPicPr preferRelativeResize="0"/>
          <p:nvPr/>
        </p:nvPicPr>
        <p:blipFill rotWithShape="1">
          <a:blip r:embed="rId2">
            <a:alphaModFix amt="50000"/>
          </a:blip>
          <a:srcRect/>
          <a:stretch/>
        </p:blipFill>
        <p:spPr>
          <a:xfrm>
            <a:off x="9900622" y="3817855"/>
            <a:ext cx="10192553" cy="64449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1"/>
          <p:cNvPicPr preferRelativeResize="0"/>
          <p:nvPr/>
        </p:nvPicPr>
        <p:blipFill rotWithShape="1">
          <a:blip r:embed="rId3">
            <a:alphaModFix amt="50000"/>
          </a:blip>
          <a:srcRect/>
          <a:stretch/>
        </p:blipFill>
        <p:spPr>
          <a:xfrm rot="10800000">
            <a:off x="22322" y="0"/>
            <a:ext cx="5154945" cy="449658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6" name="Google Shape;96;p11"/>
          <p:cNvGrpSpPr/>
          <p:nvPr/>
        </p:nvGrpSpPr>
        <p:grpSpPr>
          <a:xfrm>
            <a:off x="0" y="9819472"/>
            <a:ext cx="18288000" cy="547688"/>
            <a:chOff x="0" y="6546314"/>
            <a:chExt cx="12192000" cy="365125"/>
          </a:xfrm>
        </p:grpSpPr>
        <p:sp>
          <p:nvSpPr>
            <p:cNvPr id="97" name="Google Shape;97;p11"/>
            <p:cNvSpPr/>
            <p:nvPr/>
          </p:nvSpPr>
          <p:spPr>
            <a:xfrm>
              <a:off x="0" y="6584870"/>
              <a:ext cx="12192000" cy="27907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" name="Google Shape;98;p11"/>
            <p:cNvSpPr txBox="1"/>
            <p:nvPr/>
          </p:nvSpPr>
          <p:spPr>
            <a:xfrm>
              <a:off x="6906598" y="6546314"/>
              <a:ext cx="4633362" cy="3651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D" sz="1350" b="0" i="0">
                  <a:solidFill>
                    <a:schemeClr val="lt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Copyright © 2026 ITSEC Asia. All rights reserved.   </a:t>
              </a:r>
              <a:r>
                <a:rPr lang="en-ID" sz="1350" b="0" i="0">
                  <a:solidFill>
                    <a:schemeClr val="accent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|</a:t>
              </a:r>
              <a:r>
                <a:rPr lang="en-ID" sz="1350" b="0" i="0">
                  <a:solidFill>
                    <a:schemeClr val="lt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 </a:t>
              </a:r>
              <a:endParaRPr sz="1350" b="0" i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  <p:sp>
        <p:nvSpPr>
          <p:cNvPr id="99" name="Google Shape;99;p11"/>
          <p:cNvSpPr txBox="1"/>
          <p:nvPr/>
        </p:nvSpPr>
        <p:spPr>
          <a:xfrm>
            <a:off x="17309940" y="9877306"/>
            <a:ext cx="730410" cy="415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38" tIns="68550" rIns="137138" bIns="6855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 sz="1800" b="1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1800" b="1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grpSp>
        <p:nvGrpSpPr>
          <p:cNvPr id="100" name="Google Shape;100;p11"/>
          <p:cNvGrpSpPr/>
          <p:nvPr/>
        </p:nvGrpSpPr>
        <p:grpSpPr>
          <a:xfrm>
            <a:off x="-424781" y="9840460"/>
            <a:ext cx="1808181" cy="304617"/>
            <a:chOff x="-283187" y="6560310"/>
            <a:chExt cx="1205454" cy="203078"/>
          </a:xfrm>
        </p:grpSpPr>
        <p:pic>
          <p:nvPicPr>
            <p:cNvPr id="101" name="Google Shape;101;p11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-283187" y="6583388"/>
              <a:ext cx="1205454" cy="18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2" name="Google Shape;102;p11"/>
            <p:cNvSpPr txBox="1"/>
            <p:nvPr/>
          </p:nvSpPr>
          <p:spPr>
            <a:xfrm>
              <a:off x="96903" y="6560310"/>
              <a:ext cx="714375" cy="20002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D" sz="1350" b="1">
                  <a:solidFill>
                    <a:schemeClr val="accent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PUBLIC</a:t>
              </a:r>
              <a:endParaRPr sz="2100"/>
            </a:p>
          </p:txBody>
        </p:sp>
      </p:grpSp>
      <p:pic>
        <p:nvPicPr>
          <p:cNvPr id="103" name="Google Shape;103;p11" descr="A white and red logo on a black background&#10;&#10;AI-generated content may be incorrect.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58236" y="554961"/>
            <a:ext cx="1971525" cy="7403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223353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Blank 1">
  <p:cSld name="2_Blank 1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g3be12095d08_0_22"/>
          <p:cNvPicPr preferRelativeResize="0"/>
          <p:nvPr/>
        </p:nvPicPr>
        <p:blipFill rotWithShape="1">
          <a:blip r:embed="rId2">
            <a:alphaModFix amt="50000"/>
          </a:blip>
          <a:srcRect/>
          <a:stretch/>
        </p:blipFill>
        <p:spPr>
          <a:xfrm>
            <a:off x="9900621" y="3817855"/>
            <a:ext cx="10192554" cy="64449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g3be12095d08_0_22"/>
          <p:cNvPicPr preferRelativeResize="0"/>
          <p:nvPr/>
        </p:nvPicPr>
        <p:blipFill rotWithShape="1">
          <a:blip r:embed="rId3">
            <a:alphaModFix amt="50000"/>
          </a:blip>
          <a:srcRect/>
          <a:stretch/>
        </p:blipFill>
        <p:spPr>
          <a:xfrm rot="10800000">
            <a:off x="22322" y="-1"/>
            <a:ext cx="5154945" cy="449658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7" name="Google Shape;107;g3be12095d08_0_22"/>
          <p:cNvGrpSpPr/>
          <p:nvPr/>
        </p:nvGrpSpPr>
        <p:grpSpPr>
          <a:xfrm>
            <a:off x="0" y="9819471"/>
            <a:ext cx="18288000" cy="547650"/>
            <a:chOff x="0" y="6546314"/>
            <a:chExt cx="12192000" cy="365100"/>
          </a:xfrm>
        </p:grpSpPr>
        <p:sp>
          <p:nvSpPr>
            <p:cNvPr id="108" name="Google Shape;108;g3be12095d08_0_22"/>
            <p:cNvSpPr/>
            <p:nvPr/>
          </p:nvSpPr>
          <p:spPr>
            <a:xfrm>
              <a:off x="0" y="6584870"/>
              <a:ext cx="12192000" cy="279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109;g3be12095d08_0_22"/>
            <p:cNvSpPr txBox="1"/>
            <p:nvPr/>
          </p:nvSpPr>
          <p:spPr>
            <a:xfrm>
              <a:off x="6906598" y="6546314"/>
              <a:ext cx="4633500" cy="36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D" sz="1350" b="0" i="0">
                  <a:solidFill>
                    <a:schemeClr val="lt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Copyright © 2026 ITSEC Asia. All rights reserved.   </a:t>
              </a:r>
              <a:r>
                <a:rPr lang="en-ID" sz="1350" b="0" i="0">
                  <a:solidFill>
                    <a:schemeClr val="accent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|</a:t>
              </a:r>
              <a:r>
                <a:rPr lang="en-ID" sz="1350" b="0" i="0">
                  <a:solidFill>
                    <a:schemeClr val="lt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 </a:t>
              </a:r>
              <a:endParaRPr sz="1350" b="0" i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  <p:sp>
        <p:nvSpPr>
          <p:cNvPr id="110" name="Google Shape;110;g3be12095d08_0_22"/>
          <p:cNvSpPr txBox="1"/>
          <p:nvPr/>
        </p:nvSpPr>
        <p:spPr>
          <a:xfrm>
            <a:off x="17309940" y="9877306"/>
            <a:ext cx="730350" cy="415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38" tIns="68550" rIns="137138" bIns="6855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 sz="1800" b="1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1800" b="1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grpSp>
        <p:nvGrpSpPr>
          <p:cNvPr id="111" name="Google Shape;111;g3be12095d08_0_22"/>
          <p:cNvGrpSpPr/>
          <p:nvPr/>
        </p:nvGrpSpPr>
        <p:grpSpPr>
          <a:xfrm>
            <a:off x="-424780" y="9840460"/>
            <a:ext cx="1808183" cy="304617"/>
            <a:chOff x="-283187" y="6560310"/>
            <a:chExt cx="1205455" cy="203078"/>
          </a:xfrm>
        </p:grpSpPr>
        <p:pic>
          <p:nvPicPr>
            <p:cNvPr id="112" name="Google Shape;112;g3be12095d08_0_22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-283187" y="6583388"/>
              <a:ext cx="1205455" cy="18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3" name="Google Shape;113;g3be12095d08_0_22"/>
            <p:cNvSpPr txBox="1"/>
            <p:nvPr/>
          </p:nvSpPr>
          <p:spPr>
            <a:xfrm>
              <a:off x="96903" y="6560310"/>
              <a:ext cx="714300" cy="20002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D" sz="1350" b="1">
                  <a:solidFill>
                    <a:schemeClr val="accent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PUBLIC</a:t>
              </a:r>
              <a:endParaRPr sz="2100"/>
            </a:p>
          </p:txBody>
        </p:sp>
      </p:grpSp>
      <p:pic>
        <p:nvPicPr>
          <p:cNvPr id="114" name="Google Shape;114;g3be12095d08_0_22" descr="A white and red logo on a black background&#10;&#10;AI-generated content may be incorrect.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58236" y="554961"/>
            <a:ext cx="1971525" cy="7403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194455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13"/>
          <p:cNvPicPr preferRelativeResize="0"/>
          <p:nvPr/>
        </p:nvPicPr>
        <p:blipFill rotWithShape="1">
          <a:blip r:embed="rId2">
            <a:alphaModFix amt="50000"/>
          </a:blip>
          <a:srcRect/>
          <a:stretch/>
        </p:blipFill>
        <p:spPr>
          <a:xfrm>
            <a:off x="10621108" y="4273433"/>
            <a:ext cx="9472067" cy="59893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3"/>
          <p:cNvPicPr preferRelativeResize="0"/>
          <p:nvPr/>
        </p:nvPicPr>
        <p:blipFill rotWithShape="1">
          <a:blip r:embed="rId3">
            <a:alphaModFix amt="50000"/>
          </a:blip>
          <a:srcRect/>
          <a:stretch/>
        </p:blipFill>
        <p:spPr>
          <a:xfrm rot="10800000">
            <a:off x="22322" y="0"/>
            <a:ext cx="4426586" cy="3861249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3"/>
          <p:cNvSpPr txBox="1">
            <a:spLocks noGrp="1"/>
          </p:cNvSpPr>
          <p:nvPr>
            <p:ph type="body" idx="1"/>
          </p:nvPr>
        </p:nvSpPr>
        <p:spPr>
          <a:xfrm>
            <a:off x="1473219" y="3492779"/>
            <a:ext cx="7524669" cy="5868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685800" lvl="0" indent="-5334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3000" b="0" i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1371600" lvl="1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2700" b="0" i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2057400" lvl="2" indent="-4953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2400" b="0" i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2743200" lvl="3" indent="-4762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2100" b="0" i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3429000" lvl="4" indent="-4762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2100" b="0" i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4114800" lvl="5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800600" lvl="6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5486400" lvl="7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6172200" lvl="8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9" name="Google Shape;119;p13"/>
          <p:cNvSpPr txBox="1">
            <a:spLocks noGrp="1"/>
          </p:cNvSpPr>
          <p:nvPr>
            <p:ph type="body" idx="2"/>
          </p:nvPr>
        </p:nvSpPr>
        <p:spPr>
          <a:xfrm>
            <a:off x="9290116" y="3492779"/>
            <a:ext cx="7539788" cy="5868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685800" lvl="0" indent="-5334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3000" b="0" i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1371600" lvl="1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2700" b="0" i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2057400" lvl="2" indent="-4953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2400" b="0" i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2743200" lvl="3" indent="-4762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2100" b="0" i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3429000" lvl="4" indent="-4762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2100" b="0" i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4114800" lvl="5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800600" lvl="6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5486400" lvl="7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6172200" lvl="8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0" name="Google Shape;120;p13"/>
          <p:cNvSpPr txBox="1">
            <a:spLocks noGrp="1"/>
          </p:cNvSpPr>
          <p:nvPr>
            <p:ph type="title"/>
          </p:nvPr>
        </p:nvSpPr>
        <p:spPr>
          <a:xfrm>
            <a:off x="1467493" y="1752608"/>
            <a:ext cx="15353009" cy="1346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Proxima Nova"/>
              <a:buNone/>
              <a:defRPr sz="4800" b="1" i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21" name="Google Shape;121;p13"/>
          <p:cNvGrpSpPr/>
          <p:nvPr/>
        </p:nvGrpSpPr>
        <p:grpSpPr>
          <a:xfrm>
            <a:off x="0" y="9819472"/>
            <a:ext cx="18288000" cy="547688"/>
            <a:chOff x="0" y="6546314"/>
            <a:chExt cx="12192000" cy="365125"/>
          </a:xfrm>
        </p:grpSpPr>
        <p:sp>
          <p:nvSpPr>
            <p:cNvPr id="122" name="Google Shape;122;p13"/>
            <p:cNvSpPr/>
            <p:nvPr/>
          </p:nvSpPr>
          <p:spPr>
            <a:xfrm>
              <a:off x="0" y="6584870"/>
              <a:ext cx="12192000" cy="27907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" name="Google Shape;123;p13"/>
            <p:cNvSpPr txBox="1"/>
            <p:nvPr/>
          </p:nvSpPr>
          <p:spPr>
            <a:xfrm>
              <a:off x="6906598" y="6546314"/>
              <a:ext cx="4633362" cy="3651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D" sz="1350" b="0" i="0">
                  <a:solidFill>
                    <a:schemeClr val="lt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Copyright © 2026 ITSEC Asia. All rights reserved.   </a:t>
              </a:r>
              <a:r>
                <a:rPr lang="en-ID" sz="1350" b="0" i="0">
                  <a:solidFill>
                    <a:schemeClr val="accent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|</a:t>
              </a:r>
              <a:r>
                <a:rPr lang="en-ID" sz="1350" b="0" i="0">
                  <a:solidFill>
                    <a:schemeClr val="lt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 </a:t>
              </a:r>
              <a:endParaRPr sz="1350" b="0" i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  <p:sp>
        <p:nvSpPr>
          <p:cNvPr id="124" name="Google Shape;124;p13"/>
          <p:cNvSpPr txBox="1"/>
          <p:nvPr/>
        </p:nvSpPr>
        <p:spPr>
          <a:xfrm>
            <a:off x="17309940" y="9877306"/>
            <a:ext cx="730410" cy="415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38" tIns="68550" rIns="137138" bIns="6855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 sz="1800" b="1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1800" b="1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25" name="Google Shape;125;p13" descr="A red and black logo&#10;&#10;AI-generated content may be incorrect."/>
          <p:cNvPicPr preferRelativeResize="0"/>
          <p:nvPr/>
        </p:nvPicPr>
        <p:blipFill rotWithShape="1">
          <a:blip r:embed="rId4">
            <a:alphaModFix/>
          </a:blip>
          <a:srcRect l="10495" t="40170" r="6599" b="40170"/>
          <a:stretch/>
        </p:blipFill>
        <p:spPr>
          <a:xfrm>
            <a:off x="8635418" y="3118552"/>
            <a:ext cx="1017159" cy="24121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6" name="Google Shape;126;p13"/>
          <p:cNvGrpSpPr/>
          <p:nvPr/>
        </p:nvGrpSpPr>
        <p:grpSpPr>
          <a:xfrm>
            <a:off x="-424781" y="9840460"/>
            <a:ext cx="1808181" cy="304617"/>
            <a:chOff x="-283187" y="6560310"/>
            <a:chExt cx="1205454" cy="203078"/>
          </a:xfrm>
        </p:grpSpPr>
        <p:pic>
          <p:nvPicPr>
            <p:cNvPr id="127" name="Google Shape;127;p13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-283187" y="6583388"/>
              <a:ext cx="1205454" cy="18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8" name="Google Shape;128;p13"/>
            <p:cNvSpPr txBox="1"/>
            <p:nvPr/>
          </p:nvSpPr>
          <p:spPr>
            <a:xfrm>
              <a:off x="96903" y="6560310"/>
              <a:ext cx="714375" cy="20002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D" sz="1350" b="1">
                  <a:solidFill>
                    <a:schemeClr val="accent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PUBLIC</a:t>
              </a:r>
              <a:endParaRPr sz="2100"/>
            </a:p>
          </p:txBody>
        </p:sp>
      </p:grpSp>
      <p:pic>
        <p:nvPicPr>
          <p:cNvPr id="129" name="Google Shape;129;p13" descr="A white and red logo on a black background&#10;&#10;AI-generated content may be incorrect.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58236" y="554961"/>
            <a:ext cx="1971525" cy="7403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152973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Section Header">
  <p:cSld name="1_Section Header"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-5400000">
            <a:off x="14458883" y="267146"/>
            <a:ext cx="4096265" cy="356196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4"/>
          <p:cNvPicPr preferRelativeResize="0"/>
          <p:nvPr/>
        </p:nvPicPr>
        <p:blipFill rotWithShape="1">
          <a:blip r:embed="rId3">
            <a:alphaModFix/>
          </a:blip>
          <a:srcRect t="26464"/>
          <a:stretch/>
        </p:blipFill>
        <p:spPr>
          <a:xfrm rot="-5400000">
            <a:off x="-142689" y="7464069"/>
            <a:ext cx="3045780" cy="2760402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4"/>
          <p:cNvSpPr txBox="1">
            <a:spLocks noGrp="1"/>
          </p:cNvSpPr>
          <p:nvPr>
            <p:ph type="title"/>
          </p:nvPr>
        </p:nvSpPr>
        <p:spPr>
          <a:xfrm>
            <a:off x="1257299" y="2150076"/>
            <a:ext cx="16073054" cy="11775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Proxima Nova"/>
              <a:buNone/>
              <a:defRPr sz="4800" b="1" i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4" name="Google Shape;134;p14"/>
          <p:cNvSpPr txBox="1">
            <a:spLocks noGrp="1"/>
          </p:cNvSpPr>
          <p:nvPr>
            <p:ph type="body" idx="1"/>
          </p:nvPr>
        </p:nvSpPr>
        <p:spPr>
          <a:xfrm>
            <a:off x="1257299" y="3818237"/>
            <a:ext cx="16073054" cy="54472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685800" lvl="0" indent="-5334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3000" b="1" i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1371600" lvl="1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2700" b="1" i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2057400" lvl="2" indent="-4953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2400" b="1" i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2743200" lvl="3" indent="-4762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2100" b="1" i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3429000" lvl="4" indent="-4762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2100" b="1" i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4114800" lvl="5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800600" lvl="6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5486400" lvl="7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6172200" lvl="8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grpSp>
        <p:nvGrpSpPr>
          <p:cNvPr id="135" name="Google Shape;135;p14"/>
          <p:cNvGrpSpPr/>
          <p:nvPr/>
        </p:nvGrpSpPr>
        <p:grpSpPr>
          <a:xfrm>
            <a:off x="0" y="9819472"/>
            <a:ext cx="18288000" cy="547688"/>
            <a:chOff x="0" y="6546314"/>
            <a:chExt cx="12192000" cy="365125"/>
          </a:xfrm>
        </p:grpSpPr>
        <p:sp>
          <p:nvSpPr>
            <p:cNvPr id="136" name="Google Shape;136;p14"/>
            <p:cNvSpPr/>
            <p:nvPr/>
          </p:nvSpPr>
          <p:spPr>
            <a:xfrm>
              <a:off x="0" y="6584870"/>
              <a:ext cx="12192000" cy="27907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" name="Google Shape;137;p14"/>
            <p:cNvSpPr txBox="1"/>
            <p:nvPr/>
          </p:nvSpPr>
          <p:spPr>
            <a:xfrm>
              <a:off x="6906598" y="6546314"/>
              <a:ext cx="4633362" cy="3651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D" sz="1350" b="0" i="0">
                  <a:solidFill>
                    <a:schemeClr val="lt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Copyright © 2026 ITSEC Asia. All rights reserved.   </a:t>
              </a:r>
              <a:r>
                <a:rPr lang="en-ID" sz="1350" b="0" i="0">
                  <a:solidFill>
                    <a:schemeClr val="accent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|</a:t>
              </a:r>
              <a:r>
                <a:rPr lang="en-ID" sz="1350" b="0" i="0">
                  <a:solidFill>
                    <a:schemeClr val="lt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 </a:t>
              </a:r>
              <a:endParaRPr sz="1350" b="0" i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  <p:sp>
        <p:nvSpPr>
          <p:cNvPr id="138" name="Google Shape;138;p14"/>
          <p:cNvSpPr txBox="1"/>
          <p:nvPr/>
        </p:nvSpPr>
        <p:spPr>
          <a:xfrm>
            <a:off x="17309940" y="9877306"/>
            <a:ext cx="730410" cy="415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38" tIns="68550" rIns="137138" bIns="6855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 sz="1800" b="1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1800" b="1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39" name="Google Shape;139;p14" descr="A red and black logo&#10;&#10;AI-generated content may be incorrect."/>
          <p:cNvPicPr preferRelativeResize="0"/>
          <p:nvPr/>
        </p:nvPicPr>
        <p:blipFill rotWithShape="1">
          <a:blip r:embed="rId4">
            <a:alphaModFix/>
          </a:blip>
          <a:srcRect l="10495" t="40170" r="6599" b="40170"/>
          <a:stretch/>
        </p:blipFill>
        <p:spPr>
          <a:xfrm>
            <a:off x="8635418" y="3385469"/>
            <a:ext cx="1017159" cy="24121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0" name="Google Shape;140;p14"/>
          <p:cNvGrpSpPr/>
          <p:nvPr/>
        </p:nvGrpSpPr>
        <p:grpSpPr>
          <a:xfrm>
            <a:off x="-424781" y="9840460"/>
            <a:ext cx="1808181" cy="304617"/>
            <a:chOff x="-283187" y="6560310"/>
            <a:chExt cx="1205454" cy="203078"/>
          </a:xfrm>
        </p:grpSpPr>
        <p:pic>
          <p:nvPicPr>
            <p:cNvPr id="141" name="Google Shape;141;p14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-283187" y="6583388"/>
              <a:ext cx="1205454" cy="18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2" name="Google Shape;142;p14"/>
            <p:cNvSpPr txBox="1"/>
            <p:nvPr/>
          </p:nvSpPr>
          <p:spPr>
            <a:xfrm>
              <a:off x="96903" y="6560310"/>
              <a:ext cx="714375" cy="20002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D" sz="1350" b="1">
                  <a:solidFill>
                    <a:schemeClr val="accent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PUBLIC</a:t>
              </a:r>
              <a:endParaRPr sz="2100"/>
            </a:p>
          </p:txBody>
        </p:sp>
      </p:grpSp>
      <p:pic>
        <p:nvPicPr>
          <p:cNvPr id="143" name="Google Shape;143;p14" descr="A white and red logo on a black background&#10;&#10;AI-generated content may be incorrect.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58236" y="554961"/>
            <a:ext cx="1971525" cy="7403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913654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Section Header">
  <p:cSld name="4_Section Header"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15"/>
          <p:cNvPicPr preferRelativeResize="0"/>
          <p:nvPr/>
        </p:nvPicPr>
        <p:blipFill rotWithShape="1">
          <a:blip r:embed="rId2">
            <a:alphaModFix amt="50000"/>
          </a:blip>
          <a:srcRect/>
          <a:stretch/>
        </p:blipFill>
        <p:spPr>
          <a:xfrm>
            <a:off x="-1790416" y="5597612"/>
            <a:ext cx="9094181" cy="6410349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5"/>
          <p:cNvSpPr txBox="1">
            <a:spLocks noGrp="1"/>
          </p:cNvSpPr>
          <p:nvPr>
            <p:ph type="title"/>
          </p:nvPr>
        </p:nvSpPr>
        <p:spPr>
          <a:xfrm>
            <a:off x="1257299" y="2150076"/>
            <a:ext cx="16073054" cy="11775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Proxima Nova"/>
              <a:buNone/>
              <a:defRPr sz="4800" b="1" i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p15"/>
          <p:cNvSpPr txBox="1">
            <a:spLocks noGrp="1"/>
          </p:cNvSpPr>
          <p:nvPr>
            <p:ph type="body" idx="1"/>
          </p:nvPr>
        </p:nvSpPr>
        <p:spPr>
          <a:xfrm>
            <a:off x="1257299" y="3818237"/>
            <a:ext cx="16073054" cy="54472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685800" lvl="0" indent="-5334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3000" b="1" i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1371600" lvl="1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2700" b="1" i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2057400" lvl="2" indent="-4953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2400" b="1" i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2743200" lvl="3" indent="-4762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2100" b="1" i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3429000" lvl="4" indent="-4762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2100" b="1" i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4114800" lvl="5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800600" lvl="6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5486400" lvl="7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6172200" lvl="8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148" name="Google Shape;148;p15" descr="A black and white logo with red stripes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28104" y="383068"/>
            <a:ext cx="2431793" cy="82073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9" name="Google Shape;149;p15"/>
          <p:cNvGrpSpPr/>
          <p:nvPr/>
        </p:nvGrpSpPr>
        <p:grpSpPr>
          <a:xfrm>
            <a:off x="0" y="9819472"/>
            <a:ext cx="18288000" cy="547688"/>
            <a:chOff x="0" y="6546314"/>
            <a:chExt cx="12192000" cy="365125"/>
          </a:xfrm>
        </p:grpSpPr>
        <p:sp>
          <p:nvSpPr>
            <p:cNvPr id="150" name="Google Shape;150;p15"/>
            <p:cNvSpPr/>
            <p:nvPr/>
          </p:nvSpPr>
          <p:spPr>
            <a:xfrm>
              <a:off x="0" y="6584870"/>
              <a:ext cx="12192000" cy="27907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" name="Google Shape;151;p15"/>
            <p:cNvSpPr txBox="1"/>
            <p:nvPr/>
          </p:nvSpPr>
          <p:spPr>
            <a:xfrm>
              <a:off x="6906598" y="6546314"/>
              <a:ext cx="4633362" cy="3651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D" sz="1350" b="0" i="0">
                  <a:solidFill>
                    <a:schemeClr val="lt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Copyright © 2026 ITSEC Asia. All rights reserved.   </a:t>
              </a:r>
              <a:r>
                <a:rPr lang="en-ID" sz="1350" b="0" i="0">
                  <a:solidFill>
                    <a:schemeClr val="accent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|</a:t>
              </a:r>
              <a:r>
                <a:rPr lang="en-ID" sz="1350" b="0" i="0">
                  <a:solidFill>
                    <a:schemeClr val="lt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 </a:t>
              </a:r>
              <a:endParaRPr sz="1350" b="0" i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  <p:sp>
        <p:nvSpPr>
          <p:cNvPr id="152" name="Google Shape;152;p15"/>
          <p:cNvSpPr txBox="1"/>
          <p:nvPr/>
        </p:nvSpPr>
        <p:spPr>
          <a:xfrm>
            <a:off x="17309940" y="9877306"/>
            <a:ext cx="730410" cy="415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38" tIns="68550" rIns="137138" bIns="6855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 sz="1800" b="1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1800" b="1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53" name="Google Shape;153;p15" descr="A red and black logo&#10;&#10;AI-generated content may be incorrect."/>
          <p:cNvPicPr preferRelativeResize="0"/>
          <p:nvPr/>
        </p:nvPicPr>
        <p:blipFill rotWithShape="1">
          <a:blip r:embed="rId4">
            <a:alphaModFix/>
          </a:blip>
          <a:srcRect l="10495" t="40170" r="6599" b="40170"/>
          <a:stretch/>
        </p:blipFill>
        <p:spPr>
          <a:xfrm>
            <a:off x="8635418" y="3427493"/>
            <a:ext cx="1017159" cy="24121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4" name="Google Shape;154;p15"/>
          <p:cNvGrpSpPr/>
          <p:nvPr/>
        </p:nvGrpSpPr>
        <p:grpSpPr>
          <a:xfrm>
            <a:off x="-424781" y="9840460"/>
            <a:ext cx="1808181" cy="304617"/>
            <a:chOff x="-283187" y="6560310"/>
            <a:chExt cx="1205454" cy="203078"/>
          </a:xfrm>
        </p:grpSpPr>
        <p:pic>
          <p:nvPicPr>
            <p:cNvPr id="155" name="Google Shape;155;p15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-283187" y="6583388"/>
              <a:ext cx="1205454" cy="18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6" name="Google Shape;156;p15"/>
            <p:cNvSpPr txBox="1"/>
            <p:nvPr/>
          </p:nvSpPr>
          <p:spPr>
            <a:xfrm>
              <a:off x="96903" y="6560310"/>
              <a:ext cx="714375" cy="20002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D" sz="1350" b="1">
                  <a:solidFill>
                    <a:schemeClr val="accent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PUBLIC</a:t>
              </a:r>
              <a:endParaRPr sz="2100"/>
            </a:p>
          </p:txBody>
        </p:sp>
      </p:grpSp>
    </p:spTree>
    <p:extLst>
      <p:ext uri="{BB962C8B-B14F-4D97-AF65-F5344CB8AC3E}">
        <p14:creationId xmlns:p14="http://schemas.microsoft.com/office/powerpoint/2010/main" val="27087920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omparison">
  <p:cSld name="1_Comparison"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3628078" y="6034502"/>
            <a:ext cx="4659923" cy="4052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6"/>
          <p:cNvPicPr preferRelativeResize="0"/>
          <p:nvPr/>
        </p:nvPicPr>
        <p:blipFill rotWithShape="1">
          <a:blip r:embed="rId3">
            <a:alphaModFix/>
          </a:blip>
          <a:srcRect l="24881" t="13615"/>
          <a:stretch/>
        </p:blipFill>
        <p:spPr>
          <a:xfrm>
            <a:off x="0" y="0"/>
            <a:ext cx="2282934" cy="3235569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6"/>
          <p:cNvSpPr txBox="1">
            <a:spLocks noGrp="1"/>
          </p:cNvSpPr>
          <p:nvPr>
            <p:ph type="title"/>
          </p:nvPr>
        </p:nvSpPr>
        <p:spPr>
          <a:xfrm>
            <a:off x="953523" y="1812243"/>
            <a:ext cx="7627968" cy="1644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roxima Nova"/>
              <a:buNone/>
              <a:defRPr sz="4200" b="1" i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1" name="Google Shape;161;p16"/>
          <p:cNvSpPr txBox="1">
            <a:spLocks noGrp="1"/>
          </p:cNvSpPr>
          <p:nvPr>
            <p:ph type="body" idx="1"/>
          </p:nvPr>
        </p:nvSpPr>
        <p:spPr>
          <a:xfrm>
            <a:off x="953523" y="4009295"/>
            <a:ext cx="7627968" cy="5257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685800" lvl="0" indent="-5334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3000" b="1" i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1371600" lvl="1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2700" b="1" i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2057400" lvl="2" indent="-4953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2400" b="1" i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2743200" lvl="3" indent="-4762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2100" b="1" i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3429000" lvl="4" indent="-4762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2100" b="1" i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4114800" lvl="5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800600" lvl="6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5486400" lvl="7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6172200" lvl="8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2" name="Google Shape;162;p16"/>
          <p:cNvSpPr txBox="1"/>
          <p:nvPr/>
        </p:nvSpPr>
        <p:spPr>
          <a:xfrm>
            <a:off x="9517034" y="1812243"/>
            <a:ext cx="7627968" cy="1644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38" tIns="68550" rIns="137138" bIns="6855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roxima Nova"/>
              <a:buNone/>
            </a:pPr>
            <a:r>
              <a:rPr lang="en-ID" sz="4200" b="1" i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CLICK TO EDIT MASTER TITLE STYLE</a:t>
            </a:r>
            <a:endParaRPr sz="2100"/>
          </a:p>
        </p:txBody>
      </p:sp>
      <p:sp>
        <p:nvSpPr>
          <p:cNvPr id="163" name="Google Shape;163;p16"/>
          <p:cNvSpPr txBox="1">
            <a:spLocks noGrp="1"/>
          </p:cNvSpPr>
          <p:nvPr>
            <p:ph type="body" idx="2"/>
          </p:nvPr>
        </p:nvSpPr>
        <p:spPr>
          <a:xfrm>
            <a:off x="9517034" y="4009295"/>
            <a:ext cx="7627968" cy="5257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685800" lvl="0" indent="-5334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3000" b="1" i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1371600" lvl="1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2700" b="1" i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2057400" lvl="2" indent="-4953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2400" b="1" i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2743200" lvl="3" indent="-4762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2100" b="1" i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3429000" lvl="4" indent="-4762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2100" b="1" i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4114800" lvl="5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800600" lvl="6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5486400" lvl="7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6172200" lvl="8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grpSp>
        <p:nvGrpSpPr>
          <p:cNvPr id="164" name="Google Shape;164;p16"/>
          <p:cNvGrpSpPr/>
          <p:nvPr/>
        </p:nvGrpSpPr>
        <p:grpSpPr>
          <a:xfrm>
            <a:off x="0" y="9819472"/>
            <a:ext cx="18288000" cy="547688"/>
            <a:chOff x="0" y="6546314"/>
            <a:chExt cx="12192000" cy="365125"/>
          </a:xfrm>
        </p:grpSpPr>
        <p:sp>
          <p:nvSpPr>
            <p:cNvPr id="165" name="Google Shape;165;p16"/>
            <p:cNvSpPr/>
            <p:nvPr/>
          </p:nvSpPr>
          <p:spPr>
            <a:xfrm>
              <a:off x="0" y="6584870"/>
              <a:ext cx="12192000" cy="27907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" name="Google Shape;166;p16"/>
            <p:cNvSpPr txBox="1"/>
            <p:nvPr/>
          </p:nvSpPr>
          <p:spPr>
            <a:xfrm>
              <a:off x="6906598" y="6546314"/>
              <a:ext cx="4633362" cy="3651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D" sz="1350" b="0" i="0">
                  <a:solidFill>
                    <a:schemeClr val="lt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Copyright © 2026 ITSEC Asia. All rights reserved.   </a:t>
              </a:r>
              <a:r>
                <a:rPr lang="en-ID" sz="1350" b="0" i="0">
                  <a:solidFill>
                    <a:schemeClr val="accent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|</a:t>
              </a:r>
              <a:r>
                <a:rPr lang="en-ID" sz="1350" b="0" i="0">
                  <a:solidFill>
                    <a:schemeClr val="lt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 </a:t>
              </a:r>
              <a:endParaRPr sz="1350" b="0" i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  <p:sp>
        <p:nvSpPr>
          <p:cNvPr id="167" name="Google Shape;167;p16"/>
          <p:cNvSpPr txBox="1"/>
          <p:nvPr/>
        </p:nvSpPr>
        <p:spPr>
          <a:xfrm>
            <a:off x="17309940" y="9877306"/>
            <a:ext cx="730410" cy="415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38" tIns="68550" rIns="137138" bIns="6855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 sz="1800" b="1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1800" b="1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68" name="Google Shape;168;p16" descr="A red and black logo&#10;&#10;AI-generated content may be incorrect."/>
          <p:cNvPicPr preferRelativeResize="0"/>
          <p:nvPr/>
        </p:nvPicPr>
        <p:blipFill rotWithShape="1">
          <a:blip r:embed="rId4">
            <a:alphaModFix/>
          </a:blip>
          <a:srcRect l="10495" t="40170" r="6599" b="40170"/>
          <a:stretch/>
        </p:blipFill>
        <p:spPr>
          <a:xfrm>
            <a:off x="4258928" y="3577034"/>
            <a:ext cx="1017159" cy="241218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6" descr="A red and black logo&#10;&#10;AI-generated content may be incorrect."/>
          <p:cNvPicPr preferRelativeResize="0"/>
          <p:nvPr/>
        </p:nvPicPr>
        <p:blipFill rotWithShape="1">
          <a:blip r:embed="rId4">
            <a:alphaModFix/>
          </a:blip>
          <a:srcRect l="10495" t="40170" r="6599" b="40170"/>
          <a:stretch/>
        </p:blipFill>
        <p:spPr>
          <a:xfrm>
            <a:off x="13011917" y="3577034"/>
            <a:ext cx="1017159" cy="24121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0" name="Google Shape;170;p16"/>
          <p:cNvGrpSpPr/>
          <p:nvPr/>
        </p:nvGrpSpPr>
        <p:grpSpPr>
          <a:xfrm>
            <a:off x="-424781" y="9840460"/>
            <a:ext cx="1808181" cy="304617"/>
            <a:chOff x="-283187" y="6560310"/>
            <a:chExt cx="1205454" cy="203078"/>
          </a:xfrm>
        </p:grpSpPr>
        <p:pic>
          <p:nvPicPr>
            <p:cNvPr id="171" name="Google Shape;171;p16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-283187" y="6583388"/>
              <a:ext cx="1205454" cy="18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2" name="Google Shape;172;p16"/>
            <p:cNvSpPr txBox="1"/>
            <p:nvPr/>
          </p:nvSpPr>
          <p:spPr>
            <a:xfrm>
              <a:off x="96903" y="6560310"/>
              <a:ext cx="714375" cy="20002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D" sz="1350" b="1">
                  <a:solidFill>
                    <a:schemeClr val="accent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PUBLIC</a:t>
              </a:r>
              <a:endParaRPr sz="2100"/>
            </a:p>
          </p:txBody>
        </p:sp>
      </p:grpSp>
      <p:pic>
        <p:nvPicPr>
          <p:cNvPr id="173" name="Google Shape;173;p16" descr="A white and red logo on a black background&#10;&#10;AI-generated content may be incorrect.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58236" y="554961"/>
            <a:ext cx="1971525" cy="7403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872302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p17"/>
          <p:cNvPicPr preferRelativeResize="0"/>
          <p:nvPr/>
        </p:nvPicPr>
        <p:blipFill rotWithShape="1">
          <a:blip r:embed="rId2">
            <a:alphaModFix amt="50000"/>
          </a:blip>
          <a:srcRect/>
          <a:stretch/>
        </p:blipFill>
        <p:spPr>
          <a:xfrm>
            <a:off x="14165898" y="6691349"/>
            <a:ext cx="4122102" cy="35956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17"/>
          <p:cNvPicPr preferRelativeResize="0"/>
          <p:nvPr/>
        </p:nvPicPr>
        <p:blipFill rotWithShape="1">
          <a:blip r:embed="rId2">
            <a:alphaModFix amt="50000"/>
          </a:blip>
          <a:srcRect/>
          <a:stretch/>
        </p:blipFill>
        <p:spPr>
          <a:xfrm rot="10800000">
            <a:off x="22322" y="1"/>
            <a:ext cx="4122102" cy="3595652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7"/>
          <p:cNvSpPr/>
          <p:nvPr/>
        </p:nvSpPr>
        <p:spPr>
          <a:xfrm flipH="1">
            <a:off x="9085802" y="2031858"/>
            <a:ext cx="68579" cy="7357473"/>
          </a:xfrm>
          <a:prstGeom prst="rect">
            <a:avLst/>
          </a:prstGeom>
          <a:solidFill>
            <a:srgbClr val="EE3224"/>
          </a:solidFill>
          <a:ln w="19050" cap="flat" cmpd="sng">
            <a:solidFill>
              <a:srgbClr val="5E130E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37138" tIns="68550" rIns="137138" bIns="685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7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17"/>
          <p:cNvSpPr txBox="1">
            <a:spLocks noGrp="1"/>
          </p:cNvSpPr>
          <p:nvPr>
            <p:ph type="title"/>
          </p:nvPr>
        </p:nvSpPr>
        <p:spPr>
          <a:xfrm>
            <a:off x="1146954" y="2056738"/>
            <a:ext cx="7627968" cy="1538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roxima Nova"/>
              <a:buNone/>
              <a:defRPr sz="4200" b="1" i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9" name="Google Shape;179;p17"/>
          <p:cNvSpPr txBox="1">
            <a:spLocks noGrp="1"/>
          </p:cNvSpPr>
          <p:nvPr>
            <p:ph type="body" idx="1"/>
          </p:nvPr>
        </p:nvSpPr>
        <p:spPr>
          <a:xfrm>
            <a:off x="1146954" y="5250677"/>
            <a:ext cx="7627968" cy="40079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685800" lvl="0" indent="-5334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3000" b="1" i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1371600" lvl="1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2700" b="1" i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2057400" lvl="2" indent="-4953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2400" b="1" i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2743200" lvl="3" indent="-4762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2100" b="1" i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3429000" lvl="4" indent="-4762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2100" b="1" i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4114800" lvl="5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800600" lvl="6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5486400" lvl="7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6172200" lvl="8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0" name="Google Shape;180;p17"/>
          <p:cNvSpPr txBox="1">
            <a:spLocks noGrp="1"/>
          </p:cNvSpPr>
          <p:nvPr>
            <p:ph type="body" idx="2"/>
          </p:nvPr>
        </p:nvSpPr>
        <p:spPr>
          <a:xfrm>
            <a:off x="1146954" y="3895026"/>
            <a:ext cx="7627968" cy="1124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685800" lvl="0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3600" b="1" i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1371600" lvl="1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3000" b="1"/>
            </a:lvl2pPr>
            <a:lvl3pPr marL="2057400" lvl="2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700" b="1"/>
            </a:lvl3pPr>
            <a:lvl4pPr marL="2743200" lvl="3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2400" b="1"/>
            </a:lvl4pPr>
            <a:lvl5pPr marL="3429000" lvl="4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2400" b="1"/>
            </a:lvl5pPr>
            <a:lvl6pPr marL="4114800" lvl="5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400" b="1"/>
            </a:lvl6pPr>
            <a:lvl7pPr marL="4800600" lvl="6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400" b="1"/>
            </a:lvl7pPr>
            <a:lvl8pPr marL="5486400" lvl="7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400" b="1"/>
            </a:lvl8pPr>
            <a:lvl9pPr marL="6172200" lvl="8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400" b="1"/>
            </a:lvl9pPr>
          </a:lstStyle>
          <a:p>
            <a:endParaRPr/>
          </a:p>
        </p:txBody>
      </p:sp>
      <p:sp>
        <p:nvSpPr>
          <p:cNvPr id="181" name="Google Shape;181;p17"/>
          <p:cNvSpPr txBox="1"/>
          <p:nvPr/>
        </p:nvSpPr>
        <p:spPr>
          <a:xfrm>
            <a:off x="9464477" y="2056738"/>
            <a:ext cx="7627968" cy="1538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38" tIns="68550" rIns="137138" bIns="6855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roxima Nova"/>
              <a:buNone/>
            </a:pPr>
            <a:r>
              <a:rPr lang="en-ID" sz="4200" b="1" i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CLICK TO EDIT MASTER TITLE STYLE</a:t>
            </a:r>
            <a:endParaRPr sz="2100"/>
          </a:p>
        </p:txBody>
      </p:sp>
      <p:sp>
        <p:nvSpPr>
          <p:cNvPr id="182" name="Google Shape;182;p17"/>
          <p:cNvSpPr txBox="1">
            <a:spLocks noGrp="1"/>
          </p:cNvSpPr>
          <p:nvPr>
            <p:ph type="body" idx="3"/>
          </p:nvPr>
        </p:nvSpPr>
        <p:spPr>
          <a:xfrm>
            <a:off x="9464477" y="5250677"/>
            <a:ext cx="7627968" cy="40079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685800" lvl="0" indent="-5334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3000" b="1" i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1371600" lvl="1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2700" b="1" i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2057400" lvl="2" indent="-4953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2400" b="1" i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2743200" lvl="3" indent="-4762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2100" b="1" i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3429000" lvl="4" indent="-4762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2100" b="1" i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4114800" lvl="5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800600" lvl="6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5486400" lvl="7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6172200" lvl="8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3" name="Google Shape;183;p17"/>
          <p:cNvSpPr txBox="1">
            <a:spLocks noGrp="1"/>
          </p:cNvSpPr>
          <p:nvPr>
            <p:ph type="body" idx="4"/>
          </p:nvPr>
        </p:nvSpPr>
        <p:spPr>
          <a:xfrm>
            <a:off x="9464477" y="3895026"/>
            <a:ext cx="7627968" cy="1124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685800" lvl="0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3600" b="1" i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1371600" lvl="1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3000" b="1"/>
            </a:lvl2pPr>
            <a:lvl3pPr marL="2057400" lvl="2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700" b="1"/>
            </a:lvl3pPr>
            <a:lvl4pPr marL="2743200" lvl="3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2400" b="1"/>
            </a:lvl4pPr>
            <a:lvl5pPr marL="3429000" lvl="4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2400" b="1"/>
            </a:lvl5pPr>
            <a:lvl6pPr marL="4114800" lvl="5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400" b="1"/>
            </a:lvl6pPr>
            <a:lvl7pPr marL="4800600" lvl="6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400" b="1"/>
            </a:lvl7pPr>
            <a:lvl8pPr marL="5486400" lvl="7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400" b="1"/>
            </a:lvl8pPr>
            <a:lvl9pPr marL="6172200" lvl="8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400" b="1"/>
            </a:lvl9pPr>
          </a:lstStyle>
          <a:p>
            <a:endParaRPr/>
          </a:p>
        </p:txBody>
      </p:sp>
      <p:grpSp>
        <p:nvGrpSpPr>
          <p:cNvPr id="184" name="Google Shape;184;p17"/>
          <p:cNvGrpSpPr/>
          <p:nvPr/>
        </p:nvGrpSpPr>
        <p:grpSpPr>
          <a:xfrm>
            <a:off x="0" y="9819472"/>
            <a:ext cx="18288000" cy="547688"/>
            <a:chOff x="0" y="6546314"/>
            <a:chExt cx="12192000" cy="365125"/>
          </a:xfrm>
        </p:grpSpPr>
        <p:sp>
          <p:nvSpPr>
            <p:cNvPr id="185" name="Google Shape;185;p17"/>
            <p:cNvSpPr/>
            <p:nvPr/>
          </p:nvSpPr>
          <p:spPr>
            <a:xfrm>
              <a:off x="0" y="6584870"/>
              <a:ext cx="12192000" cy="27907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" name="Google Shape;186;p17"/>
            <p:cNvSpPr txBox="1"/>
            <p:nvPr/>
          </p:nvSpPr>
          <p:spPr>
            <a:xfrm>
              <a:off x="6906598" y="6546314"/>
              <a:ext cx="4633362" cy="3651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D" sz="1350" b="0" i="0">
                  <a:solidFill>
                    <a:schemeClr val="lt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Copyright © 2026 ITSEC Asia. All rights reserved.   </a:t>
              </a:r>
              <a:r>
                <a:rPr lang="en-ID" sz="1350" b="0" i="0">
                  <a:solidFill>
                    <a:schemeClr val="accent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|</a:t>
              </a:r>
              <a:r>
                <a:rPr lang="en-ID" sz="1350" b="0" i="0">
                  <a:solidFill>
                    <a:schemeClr val="lt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 </a:t>
              </a:r>
              <a:endParaRPr sz="1350" b="0" i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  <p:sp>
        <p:nvSpPr>
          <p:cNvPr id="187" name="Google Shape;187;p17"/>
          <p:cNvSpPr txBox="1"/>
          <p:nvPr/>
        </p:nvSpPr>
        <p:spPr>
          <a:xfrm>
            <a:off x="17309940" y="9877306"/>
            <a:ext cx="730410" cy="415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38" tIns="68550" rIns="137138" bIns="6855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 sz="1800" b="1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1800" b="1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88" name="Google Shape;188;p17" descr="A red and black logo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 l="10495" t="40170" r="6599" b="40170"/>
          <a:stretch/>
        </p:blipFill>
        <p:spPr>
          <a:xfrm>
            <a:off x="4452359" y="3599744"/>
            <a:ext cx="1017159" cy="241218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7" descr="A red and black logo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 l="10495" t="40170" r="6599" b="40170"/>
          <a:stretch/>
        </p:blipFill>
        <p:spPr>
          <a:xfrm>
            <a:off x="12769881" y="3599744"/>
            <a:ext cx="1017159" cy="24121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0" name="Google Shape;190;p17"/>
          <p:cNvGrpSpPr/>
          <p:nvPr/>
        </p:nvGrpSpPr>
        <p:grpSpPr>
          <a:xfrm>
            <a:off x="-424781" y="9840460"/>
            <a:ext cx="1808181" cy="304617"/>
            <a:chOff x="-283187" y="6560310"/>
            <a:chExt cx="1205454" cy="203078"/>
          </a:xfrm>
        </p:grpSpPr>
        <p:pic>
          <p:nvPicPr>
            <p:cNvPr id="191" name="Google Shape;191;p17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-283187" y="6583388"/>
              <a:ext cx="1205454" cy="18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2" name="Google Shape;192;p17"/>
            <p:cNvSpPr txBox="1"/>
            <p:nvPr/>
          </p:nvSpPr>
          <p:spPr>
            <a:xfrm>
              <a:off x="96903" y="6560310"/>
              <a:ext cx="714375" cy="20002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D" sz="1350" b="1">
                  <a:solidFill>
                    <a:schemeClr val="accent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PUBLIC</a:t>
              </a:r>
              <a:endParaRPr sz="2100"/>
            </a:p>
          </p:txBody>
        </p:sp>
      </p:grpSp>
      <p:pic>
        <p:nvPicPr>
          <p:cNvPr id="193" name="Google Shape;193;p17" descr="A white and red logo on a black background&#10;&#10;AI-generated content may be incorrect.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58236" y="554961"/>
            <a:ext cx="1971525" cy="7403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1958267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Pictures">
  <p:cSld name="Two Pictures"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Google Shape;195;p1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8"/>
          <p:cNvSpPr txBox="1">
            <a:spLocks noGrp="1"/>
          </p:cNvSpPr>
          <p:nvPr>
            <p:ph type="title"/>
          </p:nvPr>
        </p:nvSpPr>
        <p:spPr>
          <a:xfrm>
            <a:off x="1936015" y="2017155"/>
            <a:ext cx="14415968" cy="1166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Proxima Nova"/>
              <a:buNone/>
              <a:defRPr sz="4800" b="1" i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7" name="Google Shape;197;p18"/>
          <p:cNvSpPr txBox="1">
            <a:spLocks noGrp="1"/>
          </p:cNvSpPr>
          <p:nvPr>
            <p:ph type="body" idx="1"/>
          </p:nvPr>
        </p:nvSpPr>
        <p:spPr>
          <a:xfrm>
            <a:off x="2087017" y="8019657"/>
            <a:ext cx="6306917" cy="1259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685800" lvl="0" indent="-3429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3600" b="1" i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1371600" lvl="1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3000" b="1"/>
            </a:lvl2pPr>
            <a:lvl3pPr marL="2057400" lvl="2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700" b="1"/>
            </a:lvl3pPr>
            <a:lvl4pPr marL="2743200" lvl="3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2400" b="1"/>
            </a:lvl4pPr>
            <a:lvl5pPr marL="3429000" lvl="4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2400" b="1"/>
            </a:lvl5pPr>
            <a:lvl6pPr marL="4114800" lvl="5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400" b="1"/>
            </a:lvl6pPr>
            <a:lvl7pPr marL="4800600" lvl="6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400" b="1"/>
            </a:lvl7pPr>
            <a:lvl8pPr marL="5486400" lvl="7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400" b="1"/>
            </a:lvl8pPr>
            <a:lvl9pPr marL="6172200" lvl="8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400" b="1"/>
            </a:lvl9pPr>
          </a:lstStyle>
          <a:p>
            <a:endParaRPr/>
          </a:p>
        </p:txBody>
      </p:sp>
      <p:sp>
        <p:nvSpPr>
          <p:cNvPr id="198" name="Google Shape;198;p18"/>
          <p:cNvSpPr txBox="1">
            <a:spLocks noGrp="1"/>
          </p:cNvSpPr>
          <p:nvPr>
            <p:ph type="body" idx="2"/>
          </p:nvPr>
        </p:nvSpPr>
        <p:spPr>
          <a:xfrm>
            <a:off x="9764824" y="8019657"/>
            <a:ext cx="6306917" cy="1259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685800" lvl="0" indent="-3429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3600" b="1" i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1371600" lvl="1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3000" b="1"/>
            </a:lvl2pPr>
            <a:lvl3pPr marL="2057400" lvl="2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700" b="1"/>
            </a:lvl3pPr>
            <a:lvl4pPr marL="2743200" lvl="3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2400" b="1"/>
            </a:lvl4pPr>
            <a:lvl5pPr marL="3429000" lvl="4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2400" b="1"/>
            </a:lvl5pPr>
            <a:lvl6pPr marL="4114800" lvl="5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400" b="1"/>
            </a:lvl6pPr>
            <a:lvl7pPr marL="4800600" lvl="6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400" b="1"/>
            </a:lvl7pPr>
            <a:lvl8pPr marL="5486400" lvl="7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400" b="1"/>
            </a:lvl8pPr>
            <a:lvl9pPr marL="6172200" lvl="8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400" b="1"/>
            </a:lvl9pPr>
          </a:lstStyle>
          <a:p>
            <a:endParaRPr/>
          </a:p>
        </p:txBody>
      </p:sp>
      <p:sp>
        <p:nvSpPr>
          <p:cNvPr id="199" name="Google Shape;199;p18"/>
          <p:cNvSpPr>
            <a:spLocks noGrp="1"/>
          </p:cNvSpPr>
          <p:nvPr>
            <p:ph type="pic" idx="3"/>
          </p:nvPr>
        </p:nvSpPr>
        <p:spPr>
          <a:xfrm>
            <a:off x="9764824" y="3724178"/>
            <a:ext cx="6306917" cy="3947547"/>
          </a:xfrm>
          <a:prstGeom prst="rect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0" name="Google Shape;200;p18"/>
          <p:cNvSpPr>
            <a:spLocks noGrp="1"/>
          </p:cNvSpPr>
          <p:nvPr>
            <p:ph type="pic" idx="4"/>
          </p:nvPr>
        </p:nvSpPr>
        <p:spPr>
          <a:xfrm>
            <a:off x="2080347" y="3724178"/>
            <a:ext cx="6306917" cy="3947547"/>
          </a:xfrm>
          <a:prstGeom prst="rect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grpSp>
        <p:nvGrpSpPr>
          <p:cNvPr id="201" name="Google Shape;201;p18"/>
          <p:cNvGrpSpPr/>
          <p:nvPr/>
        </p:nvGrpSpPr>
        <p:grpSpPr>
          <a:xfrm>
            <a:off x="0" y="9819472"/>
            <a:ext cx="18288000" cy="547688"/>
            <a:chOff x="0" y="6546314"/>
            <a:chExt cx="12192000" cy="365125"/>
          </a:xfrm>
        </p:grpSpPr>
        <p:sp>
          <p:nvSpPr>
            <p:cNvPr id="202" name="Google Shape;202;p18"/>
            <p:cNvSpPr/>
            <p:nvPr/>
          </p:nvSpPr>
          <p:spPr>
            <a:xfrm>
              <a:off x="0" y="6584870"/>
              <a:ext cx="12192000" cy="27907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" name="Google Shape;203;p18"/>
            <p:cNvSpPr txBox="1"/>
            <p:nvPr/>
          </p:nvSpPr>
          <p:spPr>
            <a:xfrm>
              <a:off x="6906598" y="6546314"/>
              <a:ext cx="4633362" cy="3651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D" sz="1350" b="0" i="0">
                  <a:solidFill>
                    <a:schemeClr val="lt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Copyright © 2026 ITSEC Asia. All rights reserved.   </a:t>
              </a:r>
              <a:r>
                <a:rPr lang="en-ID" sz="1350" b="0" i="0">
                  <a:solidFill>
                    <a:schemeClr val="accent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|</a:t>
              </a:r>
              <a:r>
                <a:rPr lang="en-ID" sz="1350" b="0" i="0">
                  <a:solidFill>
                    <a:schemeClr val="lt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 </a:t>
              </a:r>
              <a:endParaRPr sz="1350" b="0" i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  <p:sp>
        <p:nvSpPr>
          <p:cNvPr id="204" name="Google Shape;204;p18"/>
          <p:cNvSpPr txBox="1"/>
          <p:nvPr/>
        </p:nvSpPr>
        <p:spPr>
          <a:xfrm>
            <a:off x="17309940" y="9877306"/>
            <a:ext cx="730410" cy="415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38" tIns="68550" rIns="137138" bIns="6855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 sz="1800" b="1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1800" b="1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grpSp>
        <p:nvGrpSpPr>
          <p:cNvPr id="205" name="Google Shape;205;p18"/>
          <p:cNvGrpSpPr/>
          <p:nvPr/>
        </p:nvGrpSpPr>
        <p:grpSpPr>
          <a:xfrm>
            <a:off x="-424781" y="9840460"/>
            <a:ext cx="1808181" cy="304617"/>
            <a:chOff x="-283187" y="6560310"/>
            <a:chExt cx="1205454" cy="203078"/>
          </a:xfrm>
        </p:grpSpPr>
        <p:pic>
          <p:nvPicPr>
            <p:cNvPr id="206" name="Google Shape;206;p18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-283187" y="6583388"/>
              <a:ext cx="1205454" cy="18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7" name="Google Shape;207;p18"/>
            <p:cNvSpPr txBox="1"/>
            <p:nvPr/>
          </p:nvSpPr>
          <p:spPr>
            <a:xfrm>
              <a:off x="96903" y="6560310"/>
              <a:ext cx="714375" cy="20002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D" sz="1350" b="1">
                  <a:solidFill>
                    <a:schemeClr val="accent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PUBLIC</a:t>
              </a:r>
              <a:endParaRPr sz="2100"/>
            </a:p>
          </p:txBody>
        </p:sp>
      </p:grpSp>
      <p:pic>
        <p:nvPicPr>
          <p:cNvPr id="208" name="Google Shape;208;p18" descr="A white and red logo on a black background&#10;&#10;AI-generated content may be incorrect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58236" y="554961"/>
            <a:ext cx="1971525" cy="7403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607305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Picture">
  <p:cSld name="Three Picture"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Google Shape;210;p1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19"/>
          <p:cNvSpPr txBox="1">
            <a:spLocks noGrp="1"/>
          </p:cNvSpPr>
          <p:nvPr>
            <p:ph type="body" idx="1"/>
          </p:nvPr>
        </p:nvSpPr>
        <p:spPr>
          <a:xfrm>
            <a:off x="935402" y="8099319"/>
            <a:ext cx="5021369" cy="88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685800" lvl="0" indent="-3429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3000" b="1" i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1371600" lvl="1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3000" b="1"/>
            </a:lvl2pPr>
            <a:lvl3pPr marL="2057400" lvl="2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700" b="1"/>
            </a:lvl3pPr>
            <a:lvl4pPr marL="2743200" lvl="3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2400" b="1"/>
            </a:lvl4pPr>
            <a:lvl5pPr marL="3429000" lvl="4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2400" b="1"/>
            </a:lvl5pPr>
            <a:lvl6pPr marL="4114800" lvl="5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400" b="1"/>
            </a:lvl6pPr>
            <a:lvl7pPr marL="4800600" lvl="6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400" b="1"/>
            </a:lvl7pPr>
            <a:lvl8pPr marL="5486400" lvl="7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400" b="1"/>
            </a:lvl8pPr>
            <a:lvl9pPr marL="6172200" lvl="8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400" b="1"/>
            </a:lvl9pPr>
          </a:lstStyle>
          <a:p>
            <a:endParaRPr/>
          </a:p>
        </p:txBody>
      </p:sp>
      <p:sp>
        <p:nvSpPr>
          <p:cNvPr id="212" name="Google Shape;212;p19"/>
          <p:cNvSpPr txBox="1">
            <a:spLocks noGrp="1"/>
          </p:cNvSpPr>
          <p:nvPr>
            <p:ph type="body" idx="2"/>
          </p:nvPr>
        </p:nvSpPr>
        <p:spPr>
          <a:xfrm>
            <a:off x="6626755" y="8099319"/>
            <a:ext cx="5021369" cy="88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685800" lvl="0" indent="-3429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3000" b="1" i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1371600" lvl="1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3000" b="1"/>
            </a:lvl2pPr>
            <a:lvl3pPr marL="2057400" lvl="2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700" b="1"/>
            </a:lvl3pPr>
            <a:lvl4pPr marL="2743200" lvl="3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2400" b="1"/>
            </a:lvl4pPr>
            <a:lvl5pPr marL="3429000" lvl="4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2400" b="1"/>
            </a:lvl5pPr>
            <a:lvl6pPr marL="4114800" lvl="5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400" b="1"/>
            </a:lvl6pPr>
            <a:lvl7pPr marL="4800600" lvl="6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400" b="1"/>
            </a:lvl7pPr>
            <a:lvl8pPr marL="5486400" lvl="7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400" b="1"/>
            </a:lvl8pPr>
            <a:lvl9pPr marL="6172200" lvl="8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400" b="1"/>
            </a:lvl9pPr>
          </a:lstStyle>
          <a:p>
            <a:endParaRPr/>
          </a:p>
        </p:txBody>
      </p:sp>
      <p:sp>
        <p:nvSpPr>
          <p:cNvPr id="213" name="Google Shape;213;p19"/>
          <p:cNvSpPr txBox="1">
            <a:spLocks noGrp="1"/>
          </p:cNvSpPr>
          <p:nvPr>
            <p:ph type="body" idx="3"/>
          </p:nvPr>
        </p:nvSpPr>
        <p:spPr>
          <a:xfrm>
            <a:off x="12318107" y="8099319"/>
            <a:ext cx="5021369" cy="88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685800" lvl="0" indent="-3429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3000" b="1" i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1371600" lvl="1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3000" b="1"/>
            </a:lvl2pPr>
            <a:lvl3pPr marL="2057400" lvl="2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700" b="1"/>
            </a:lvl3pPr>
            <a:lvl4pPr marL="2743200" lvl="3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2400" b="1"/>
            </a:lvl4pPr>
            <a:lvl5pPr marL="3429000" lvl="4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2400" b="1"/>
            </a:lvl5pPr>
            <a:lvl6pPr marL="4114800" lvl="5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400" b="1"/>
            </a:lvl6pPr>
            <a:lvl7pPr marL="4800600" lvl="6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400" b="1"/>
            </a:lvl7pPr>
            <a:lvl8pPr marL="5486400" lvl="7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400" b="1"/>
            </a:lvl8pPr>
            <a:lvl9pPr marL="6172200" lvl="8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400" b="1"/>
            </a:lvl9pPr>
          </a:lstStyle>
          <a:p>
            <a:endParaRPr/>
          </a:p>
        </p:txBody>
      </p:sp>
      <p:sp>
        <p:nvSpPr>
          <p:cNvPr id="214" name="Google Shape;214;p19"/>
          <p:cNvSpPr txBox="1">
            <a:spLocks noGrp="1"/>
          </p:cNvSpPr>
          <p:nvPr>
            <p:ph type="title"/>
          </p:nvPr>
        </p:nvSpPr>
        <p:spPr>
          <a:xfrm>
            <a:off x="1936015" y="1677791"/>
            <a:ext cx="14415968" cy="1166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Proxima Nova"/>
              <a:buNone/>
              <a:defRPr sz="4800" b="1" i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5" name="Google Shape;215;p19"/>
          <p:cNvSpPr>
            <a:spLocks noGrp="1"/>
          </p:cNvSpPr>
          <p:nvPr>
            <p:ph type="pic" idx="4"/>
          </p:nvPr>
        </p:nvSpPr>
        <p:spPr>
          <a:xfrm>
            <a:off x="935402" y="3738550"/>
            <a:ext cx="5021369" cy="3947547"/>
          </a:xfrm>
          <a:prstGeom prst="rect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6" name="Google Shape;216;p19"/>
          <p:cNvSpPr>
            <a:spLocks noGrp="1"/>
          </p:cNvSpPr>
          <p:nvPr>
            <p:ph type="pic" idx="5"/>
          </p:nvPr>
        </p:nvSpPr>
        <p:spPr>
          <a:xfrm>
            <a:off x="6633905" y="3738550"/>
            <a:ext cx="5021369" cy="3947547"/>
          </a:xfrm>
          <a:prstGeom prst="rect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7" name="Google Shape;217;p19"/>
          <p:cNvSpPr>
            <a:spLocks noGrp="1"/>
          </p:cNvSpPr>
          <p:nvPr>
            <p:ph type="pic" idx="6"/>
          </p:nvPr>
        </p:nvSpPr>
        <p:spPr>
          <a:xfrm>
            <a:off x="12332408" y="3738550"/>
            <a:ext cx="5021369" cy="3947547"/>
          </a:xfrm>
          <a:prstGeom prst="rect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grpSp>
        <p:nvGrpSpPr>
          <p:cNvPr id="218" name="Google Shape;218;p19"/>
          <p:cNvGrpSpPr/>
          <p:nvPr/>
        </p:nvGrpSpPr>
        <p:grpSpPr>
          <a:xfrm>
            <a:off x="0" y="9819472"/>
            <a:ext cx="18288000" cy="547688"/>
            <a:chOff x="0" y="6546314"/>
            <a:chExt cx="12192000" cy="365125"/>
          </a:xfrm>
        </p:grpSpPr>
        <p:sp>
          <p:nvSpPr>
            <p:cNvPr id="219" name="Google Shape;219;p19"/>
            <p:cNvSpPr/>
            <p:nvPr/>
          </p:nvSpPr>
          <p:spPr>
            <a:xfrm>
              <a:off x="0" y="6584870"/>
              <a:ext cx="12192000" cy="27907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" name="Google Shape;220;p19"/>
            <p:cNvSpPr txBox="1"/>
            <p:nvPr/>
          </p:nvSpPr>
          <p:spPr>
            <a:xfrm>
              <a:off x="6906598" y="6546314"/>
              <a:ext cx="4633362" cy="3651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D" sz="1350" b="0" i="0">
                  <a:solidFill>
                    <a:schemeClr val="lt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Copyright © 2026 ITSEC Asia. All rights reserved.   </a:t>
              </a:r>
              <a:r>
                <a:rPr lang="en-ID" sz="1350" b="0" i="0">
                  <a:solidFill>
                    <a:schemeClr val="accent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|</a:t>
              </a:r>
              <a:r>
                <a:rPr lang="en-ID" sz="1350" b="0" i="0">
                  <a:solidFill>
                    <a:schemeClr val="lt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 </a:t>
              </a:r>
              <a:endParaRPr sz="1350" b="0" i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  <p:sp>
        <p:nvSpPr>
          <p:cNvPr id="221" name="Google Shape;221;p19"/>
          <p:cNvSpPr txBox="1"/>
          <p:nvPr/>
        </p:nvSpPr>
        <p:spPr>
          <a:xfrm>
            <a:off x="17309940" y="9877306"/>
            <a:ext cx="730410" cy="415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38" tIns="68550" rIns="137138" bIns="6855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 sz="1800" b="1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1800" b="1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grpSp>
        <p:nvGrpSpPr>
          <p:cNvPr id="222" name="Google Shape;222;p19"/>
          <p:cNvGrpSpPr/>
          <p:nvPr/>
        </p:nvGrpSpPr>
        <p:grpSpPr>
          <a:xfrm>
            <a:off x="-424781" y="9840460"/>
            <a:ext cx="1808181" cy="304617"/>
            <a:chOff x="-283187" y="6560310"/>
            <a:chExt cx="1205454" cy="203078"/>
          </a:xfrm>
        </p:grpSpPr>
        <p:pic>
          <p:nvPicPr>
            <p:cNvPr id="223" name="Google Shape;223;p19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-283187" y="6583388"/>
              <a:ext cx="1205454" cy="18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4" name="Google Shape;224;p19"/>
            <p:cNvSpPr txBox="1"/>
            <p:nvPr/>
          </p:nvSpPr>
          <p:spPr>
            <a:xfrm>
              <a:off x="96903" y="6560310"/>
              <a:ext cx="714375" cy="20002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D" sz="1350" b="1">
                  <a:solidFill>
                    <a:schemeClr val="accent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PUBLIC</a:t>
              </a:r>
              <a:endParaRPr sz="2100"/>
            </a:p>
          </p:txBody>
        </p:sp>
      </p:grpSp>
      <p:pic>
        <p:nvPicPr>
          <p:cNvPr id="225" name="Google Shape;225;p19" descr="A white and red logo on a black background&#10;&#10;AI-generated content may be incorrect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58236" y="554961"/>
            <a:ext cx="1971525" cy="7403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6360495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Pictures">
  <p:cSld name="Four Pictures"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227;p2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0"/>
          <p:cNvSpPr txBox="1">
            <a:spLocks noGrp="1"/>
          </p:cNvSpPr>
          <p:nvPr>
            <p:ph type="body" idx="1"/>
          </p:nvPr>
        </p:nvSpPr>
        <p:spPr>
          <a:xfrm>
            <a:off x="1093058" y="8024922"/>
            <a:ext cx="3526241" cy="791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685800" lvl="0" indent="-3429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700" b="1" i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1371600" lvl="1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3000" b="1"/>
            </a:lvl2pPr>
            <a:lvl3pPr marL="2057400" lvl="2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700" b="1"/>
            </a:lvl3pPr>
            <a:lvl4pPr marL="2743200" lvl="3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2400" b="1"/>
            </a:lvl4pPr>
            <a:lvl5pPr marL="3429000" lvl="4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2400" b="1"/>
            </a:lvl5pPr>
            <a:lvl6pPr marL="4114800" lvl="5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400" b="1"/>
            </a:lvl6pPr>
            <a:lvl7pPr marL="4800600" lvl="6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400" b="1"/>
            </a:lvl7pPr>
            <a:lvl8pPr marL="5486400" lvl="7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400" b="1"/>
            </a:lvl8pPr>
            <a:lvl9pPr marL="6172200" lvl="8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400" b="1"/>
            </a:lvl9pPr>
          </a:lstStyle>
          <a:p>
            <a:endParaRPr/>
          </a:p>
        </p:txBody>
      </p:sp>
      <p:sp>
        <p:nvSpPr>
          <p:cNvPr id="229" name="Google Shape;229;p20"/>
          <p:cNvSpPr txBox="1">
            <a:spLocks noGrp="1"/>
          </p:cNvSpPr>
          <p:nvPr>
            <p:ph type="body" idx="2"/>
          </p:nvPr>
        </p:nvSpPr>
        <p:spPr>
          <a:xfrm>
            <a:off x="5291921" y="8024922"/>
            <a:ext cx="3526241" cy="791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685800" lvl="0" indent="-3429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700" b="1" i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1371600" lvl="1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3000" b="1"/>
            </a:lvl2pPr>
            <a:lvl3pPr marL="2057400" lvl="2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700" b="1"/>
            </a:lvl3pPr>
            <a:lvl4pPr marL="2743200" lvl="3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2400" b="1"/>
            </a:lvl4pPr>
            <a:lvl5pPr marL="3429000" lvl="4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2400" b="1"/>
            </a:lvl5pPr>
            <a:lvl6pPr marL="4114800" lvl="5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400" b="1"/>
            </a:lvl6pPr>
            <a:lvl7pPr marL="4800600" lvl="6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400" b="1"/>
            </a:lvl7pPr>
            <a:lvl8pPr marL="5486400" lvl="7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400" b="1"/>
            </a:lvl8pPr>
            <a:lvl9pPr marL="6172200" lvl="8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400" b="1"/>
            </a:lvl9pPr>
          </a:lstStyle>
          <a:p>
            <a:endParaRPr/>
          </a:p>
        </p:txBody>
      </p:sp>
      <p:sp>
        <p:nvSpPr>
          <p:cNvPr id="230" name="Google Shape;230;p20"/>
          <p:cNvSpPr txBox="1">
            <a:spLocks noGrp="1"/>
          </p:cNvSpPr>
          <p:nvPr>
            <p:ph type="body" idx="3"/>
          </p:nvPr>
        </p:nvSpPr>
        <p:spPr>
          <a:xfrm>
            <a:off x="9490784" y="8024922"/>
            <a:ext cx="3526241" cy="791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685800" lvl="0" indent="-3429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700" b="1" i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1371600" lvl="1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3000" b="1"/>
            </a:lvl2pPr>
            <a:lvl3pPr marL="2057400" lvl="2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700" b="1"/>
            </a:lvl3pPr>
            <a:lvl4pPr marL="2743200" lvl="3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2400" b="1"/>
            </a:lvl4pPr>
            <a:lvl5pPr marL="3429000" lvl="4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2400" b="1"/>
            </a:lvl5pPr>
            <a:lvl6pPr marL="4114800" lvl="5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400" b="1"/>
            </a:lvl6pPr>
            <a:lvl7pPr marL="4800600" lvl="6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400" b="1"/>
            </a:lvl7pPr>
            <a:lvl8pPr marL="5486400" lvl="7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400" b="1"/>
            </a:lvl8pPr>
            <a:lvl9pPr marL="6172200" lvl="8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400" b="1"/>
            </a:lvl9pPr>
          </a:lstStyle>
          <a:p>
            <a:endParaRPr/>
          </a:p>
        </p:txBody>
      </p:sp>
      <p:sp>
        <p:nvSpPr>
          <p:cNvPr id="231" name="Google Shape;231;p20"/>
          <p:cNvSpPr txBox="1">
            <a:spLocks noGrp="1"/>
          </p:cNvSpPr>
          <p:nvPr>
            <p:ph type="body" idx="4"/>
          </p:nvPr>
        </p:nvSpPr>
        <p:spPr>
          <a:xfrm>
            <a:off x="13611964" y="8024922"/>
            <a:ext cx="3526241" cy="791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685800" lvl="0" indent="-3429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700" b="1" i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1371600" lvl="1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3000" b="1"/>
            </a:lvl2pPr>
            <a:lvl3pPr marL="2057400" lvl="2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700" b="1"/>
            </a:lvl3pPr>
            <a:lvl4pPr marL="2743200" lvl="3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2400" b="1"/>
            </a:lvl4pPr>
            <a:lvl5pPr marL="3429000" lvl="4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2400" b="1"/>
            </a:lvl5pPr>
            <a:lvl6pPr marL="4114800" lvl="5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400" b="1"/>
            </a:lvl6pPr>
            <a:lvl7pPr marL="4800600" lvl="6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400" b="1"/>
            </a:lvl7pPr>
            <a:lvl8pPr marL="5486400" lvl="7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400" b="1"/>
            </a:lvl8pPr>
            <a:lvl9pPr marL="6172200" lvl="8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400" b="1"/>
            </a:lvl9pPr>
          </a:lstStyle>
          <a:p>
            <a:endParaRPr/>
          </a:p>
        </p:txBody>
      </p:sp>
      <p:sp>
        <p:nvSpPr>
          <p:cNvPr id="232" name="Google Shape;232;p20"/>
          <p:cNvSpPr txBox="1">
            <a:spLocks noGrp="1"/>
          </p:cNvSpPr>
          <p:nvPr>
            <p:ph type="title"/>
          </p:nvPr>
        </p:nvSpPr>
        <p:spPr>
          <a:xfrm>
            <a:off x="1936015" y="2017155"/>
            <a:ext cx="14415968" cy="1166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Proxima Nova"/>
              <a:buNone/>
              <a:defRPr sz="4800" b="1" i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3" name="Google Shape;233;p20"/>
          <p:cNvSpPr>
            <a:spLocks noGrp="1"/>
          </p:cNvSpPr>
          <p:nvPr>
            <p:ph type="pic" idx="5"/>
          </p:nvPr>
        </p:nvSpPr>
        <p:spPr>
          <a:xfrm>
            <a:off x="1093058" y="4016072"/>
            <a:ext cx="3526241" cy="3563079"/>
          </a:xfrm>
          <a:prstGeom prst="rect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p20"/>
          <p:cNvSpPr>
            <a:spLocks noGrp="1"/>
          </p:cNvSpPr>
          <p:nvPr>
            <p:ph type="pic" idx="6"/>
          </p:nvPr>
        </p:nvSpPr>
        <p:spPr>
          <a:xfrm>
            <a:off x="5292700" y="4016072"/>
            <a:ext cx="3526241" cy="3563079"/>
          </a:xfrm>
          <a:prstGeom prst="rect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5" name="Google Shape;235;p20"/>
          <p:cNvSpPr>
            <a:spLocks noGrp="1"/>
          </p:cNvSpPr>
          <p:nvPr>
            <p:ph type="pic" idx="7"/>
          </p:nvPr>
        </p:nvSpPr>
        <p:spPr>
          <a:xfrm>
            <a:off x="9464060" y="4016072"/>
            <a:ext cx="3526241" cy="3563079"/>
          </a:xfrm>
          <a:prstGeom prst="rect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6" name="Google Shape;236;p20"/>
          <p:cNvSpPr>
            <a:spLocks noGrp="1"/>
          </p:cNvSpPr>
          <p:nvPr>
            <p:ph type="pic" idx="8"/>
          </p:nvPr>
        </p:nvSpPr>
        <p:spPr>
          <a:xfrm>
            <a:off x="13635421" y="4016072"/>
            <a:ext cx="3526241" cy="3563079"/>
          </a:xfrm>
          <a:prstGeom prst="rect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grpSp>
        <p:nvGrpSpPr>
          <p:cNvPr id="237" name="Google Shape;237;p20"/>
          <p:cNvGrpSpPr/>
          <p:nvPr/>
        </p:nvGrpSpPr>
        <p:grpSpPr>
          <a:xfrm>
            <a:off x="0" y="9819472"/>
            <a:ext cx="18288000" cy="547688"/>
            <a:chOff x="0" y="6546314"/>
            <a:chExt cx="12192000" cy="365125"/>
          </a:xfrm>
        </p:grpSpPr>
        <p:sp>
          <p:nvSpPr>
            <p:cNvPr id="238" name="Google Shape;238;p20"/>
            <p:cNvSpPr/>
            <p:nvPr/>
          </p:nvSpPr>
          <p:spPr>
            <a:xfrm>
              <a:off x="0" y="6584870"/>
              <a:ext cx="12192000" cy="27907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" name="Google Shape;239;p20"/>
            <p:cNvSpPr txBox="1"/>
            <p:nvPr/>
          </p:nvSpPr>
          <p:spPr>
            <a:xfrm>
              <a:off x="6906598" y="6546314"/>
              <a:ext cx="4633362" cy="3651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D" sz="1350" b="0" i="0">
                  <a:solidFill>
                    <a:schemeClr val="lt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Copyright © 2026 ITSEC Asia. All rights reserved.   </a:t>
              </a:r>
              <a:r>
                <a:rPr lang="en-ID" sz="1350" b="0" i="0">
                  <a:solidFill>
                    <a:schemeClr val="accent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|</a:t>
              </a:r>
              <a:r>
                <a:rPr lang="en-ID" sz="1350" b="0" i="0">
                  <a:solidFill>
                    <a:schemeClr val="lt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 </a:t>
              </a:r>
              <a:endParaRPr sz="1350" b="0" i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  <p:sp>
        <p:nvSpPr>
          <p:cNvPr id="240" name="Google Shape;240;p20"/>
          <p:cNvSpPr txBox="1"/>
          <p:nvPr/>
        </p:nvSpPr>
        <p:spPr>
          <a:xfrm>
            <a:off x="17309940" y="9877306"/>
            <a:ext cx="730410" cy="415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38" tIns="68550" rIns="137138" bIns="6855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 sz="1800" b="1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1800" b="1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grpSp>
        <p:nvGrpSpPr>
          <p:cNvPr id="241" name="Google Shape;241;p20"/>
          <p:cNvGrpSpPr/>
          <p:nvPr/>
        </p:nvGrpSpPr>
        <p:grpSpPr>
          <a:xfrm>
            <a:off x="-424781" y="9840460"/>
            <a:ext cx="1808181" cy="304617"/>
            <a:chOff x="-283187" y="6560310"/>
            <a:chExt cx="1205454" cy="203078"/>
          </a:xfrm>
        </p:grpSpPr>
        <p:pic>
          <p:nvPicPr>
            <p:cNvPr id="242" name="Google Shape;242;p20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-283187" y="6583388"/>
              <a:ext cx="1205454" cy="18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3" name="Google Shape;243;p20"/>
            <p:cNvSpPr txBox="1"/>
            <p:nvPr/>
          </p:nvSpPr>
          <p:spPr>
            <a:xfrm>
              <a:off x="96903" y="6560310"/>
              <a:ext cx="714375" cy="20002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D" sz="1350" b="1">
                  <a:solidFill>
                    <a:schemeClr val="accent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PUBLIC</a:t>
              </a:r>
              <a:endParaRPr sz="2100"/>
            </a:p>
          </p:txBody>
        </p:sp>
      </p:grpSp>
      <p:pic>
        <p:nvPicPr>
          <p:cNvPr id="244" name="Google Shape;244;p20" descr="A white and red logo on a black background&#10;&#10;AI-generated content may be incorrect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58236" y="554961"/>
            <a:ext cx="1971525" cy="7403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98438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Four Pictures">
  <p:cSld name="1_Four Pictures"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6" name="Google Shape;246;p2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21"/>
          <p:cNvSpPr txBox="1">
            <a:spLocks noGrp="1"/>
          </p:cNvSpPr>
          <p:nvPr>
            <p:ph type="body" idx="1"/>
          </p:nvPr>
        </p:nvSpPr>
        <p:spPr>
          <a:xfrm>
            <a:off x="4991204" y="3696148"/>
            <a:ext cx="3789864" cy="6841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685800" lvl="0" indent="-3429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2400" b="1" i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1371600" lvl="1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3000" b="1"/>
            </a:lvl2pPr>
            <a:lvl3pPr marL="2057400" lvl="2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700" b="1"/>
            </a:lvl3pPr>
            <a:lvl4pPr marL="2743200" lvl="3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2400" b="1"/>
            </a:lvl4pPr>
            <a:lvl5pPr marL="3429000" lvl="4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2400" b="1"/>
            </a:lvl5pPr>
            <a:lvl6pPr marL="4114800" lvl="5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400" b="1"/>
            </a:lvl6pPr>
            <a:lvl7pPr marL="4800600" lvl="6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400" b="1"/>
            </a:lvl7pPr>
            <a:lvl8pPr marL="5486400" lvl="7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400" b="1"/>
            </a:lvl8pPr>
            <a:lvl9pPr marL="6172200" lvl="8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400" b="1"/>
            </a:lvl9pPr>
          </a:lstStyle>
          <a:p>
            <a:endParaRPr/>
          </a:p>
        </p:txBody>
      </p:sp>
      <p:sp>
        <p:nvSpPr>
          <p:cNvPr id="248" name="Google Shape;248;p21"/>
          <p:cNvSpPr txBox="1">
            <a:spLocks noGrp="1"/>
          </p:cNvSpPr>
          <p:nvPr>
            <p:ph type="title"/>
          </p:nvPr>
        </p:nvSpPr>
        <p:spPr>
          <a:xfrm>
            <a:off x="1936015" y="1839162"/>
            <a:ext cx="14415968" cy="1166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Proxima Nova"/>
              <a:buNone/>
              <a:defRPr sz="4800" b="1" i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9" name="Google Shape;249;p21"/>
          <p:cNvSpPr>
            <a:spLocks noGrp="1"/>
          </p:cNvSpPr>
          <p:nvPr>
            <p:ph type="pic" idx="2"/>
          </p:nvPr>
        </p:nvSpPr>
        <p:spPr>
          <a:xfrm>
            <a:off x="1979340" y="3660086"/>
            <a:ext cx="2781357" cy="2247356"/>
          </a:xfrm>
          <a:prstGeom prst="rect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0" name="Google Shape;250;p21"/>
          <p:cNvSpPr txBox="1">
            <a:spLocks noGrp="1"/>
          </p:cNvSpPr>
          <p:nvPr>
            <p:ph type="body" idx="3"/>
          </p:nvPr>
        </p:nvSpPr>
        <p:spPr>
          <a:xfrm>
            <a:off x="4991100" y="4539006"/>
            <a:ext cx="3789864" cy="1368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685800" lvl="0" indent="-4572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 sz="1800"/>
            </a:lvl1pPr>
            <a:lvl2pPr marL="1371600" lvl="1" indent="-447675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00"/>
              <a:buChar char="•"/>
              <a:defRPr sz="1650"/>
            </a:lvl2pPr>
            <a:lvl3pPr marL="2057400" lvl="2" indent="-442913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050"/>
              <a:buChar char="•"/>
              <a:defRPr sz="1575"/>
            </a:lvl3pPr>
            <a:lvl4pPr marL="2743200" lvl="3" indent="-4381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 sz="1500"/>
            </a:lvl4pPr>
            <a:lvl5pPr marL="3429000" lvl="4" indent="-4381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 sz="1500"/>
            </a:lvl5pPr>
            <a:lvl6pPr marL="4114800" lvl="5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800600" lvl="6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5486400" lvl="7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6172200" lvl="8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1" name="Google Shape;251;p21"/>
          <p:cNvSpPr txBox="1">
            <a:spLocks noGrp="1"/>
          </p:cNvSpPr>
          <p:nvPr>
            <p:ph type="body" idx="4"/>
          </p:nvPr>
        </p:nvSpPr>
        <p:spPr>
          <a:xfrm>
            <a:off x="4991204" y="6693872"/>
            <a:ext cx="3789864" cy="6841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685800" lvl="0" indent="-3429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2400" b="1" i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1371600" lvl="1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3000" b="1"/>
            </a:lvl2pPr>
            <a:lvl3pPr marL="2057400" lvl="2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700" b="1"/>
            </a:lvl3pPr>
            <a:lvl4pPr marL="2743200" lvl="3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2400" b="1"/>
            </a:lvl4pPr>
            <a:lvl5pPr marL="3429000" lvl="4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2400" b="1"/>
            </a:lvl5pPr>
            <a:lvl6pPr marL="4114800" lvl="5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400" b="1"/>
            </a:lvl6pPr>
            <a:lvl7pPr marL="4800600" lvl="6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400" b="1"/>
            </a:lvl7pPr>
            <a:lvl8pPr marL="5486400" lvl="7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400" b="1"/>
            </a:lvl8pPr>
            <a:lvl9pPr marL="6172200" lvl="8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400" b="1"/>
            </a:lvl9pPr>
          </a:lstStyle>
          <a:p>
            <a:endParaRPr/>
          </a:p>
        </p:txBody>
      </p:sp>
      <p:sp>
        <p:nvSpPr>
          <p:cNvPr id="252" name="Google Shape;252;p21"/>
          <p:cNvSpPr>
            <a:spLocks noGrp="1"/>
          </p:cNvSpPr>
          <p:nvPr>
            <p:ph type="pic" idx="5"/>
          </p:nvPr>
        </p:nvSpPr>
        <p:spPr>
          <a:xfrm>
            <a:off x="1979340" y="6657811"/>
            <a:ext cx="2781357" cy="2247356"/>
          </a:xfrm>
          <a:prstGeom prst="rect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3" name="Google Shape;253;p21"/>
          <p:cNvSpPr txBox="1">
            <a:spLocks noGrp="1"/>
          </p:cNvSpPr>
          <p:nvPr>
            <p:ph type="body" idx="6"/>
          </p:nvPr>
        </p:nvSpPr>
        <p:spPr>
          <a:xfrm>
            <a:off x="4991100" y="7536731"/>
            <a:ext cx="3789864" cy="1368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685800" lvl="0" indent="-4572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 sz="1800"/>
            </a:lvl1pPr>
            <a:lvl2pPr marL="1371600" lvl="1" indent="-447675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00"/>
              <a:buChar char="•"/>
              <a:defRPr sz="1650"/>
            </a:lvl2pPr>
            <a:lvl3pPr marL="2057400" lvl="2" indent="-442913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050"/>
              <a:buChar char="•"/>
              <a:defRPr sz="1575"/>
            </a:lvl3pPr>
            <a:lvl4pPr marL="2743200" lvl="3" indent="-4381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 sz="1500"/>
            </a:lvl4pPr>
            <a:lvl5pPr marL="3429000" lvl="4" indent="-4381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 sz="1500"/>
            </a:lvl5pPr>
            <a:lvl6pPr marL="4114800" lvl="5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800600" lvl="6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5486400" lvl="7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6172200" lvl="8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4" name="Google Shape;254;p21"/>
          <p:cNvSpPr txBox="1">
            <a:spLocks noGrp="1"/>
          </p:cNvSpPr>
          <p:nvPr>
            <p:ph type="body" idx="7"/>
          </p:nvPr>
        </p:nvSpPr>
        <p:spPr>
          <a:xfrm>
            <a:off x="12570354" y="3696148"/>
            <a:ext cx="3789864" cy="6841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685800" lvl="0" indent="-3429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2400" b="1" i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1371600" lvl="1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3000" b="1"/>
            </a:lvl2pPr>
            <a:lvl3pPr marL="2057400" lvl="2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700" b="1"/>
            </a:lvl3pPr>
            <a:lvl4pPr marL="2743200" lvl="3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2400" b="1"/>
            </a:lvl4pPr>
            <a:lvl5pPr marL="3429000" lvl="4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2400" b="1"/>
            </a:lvl5pPr>
            <a:lvl6pPr marL="4114800" lvl="5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400" b="1"/>
            </a:lvl6pPr>
            <a:lvl7pPr marL="4800600" lvl="6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400" b="1"/>
            </a:lvl7pPr>
            <a:lvl8pPr marL="5486400" lvl="7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400" b="1"/>
            </a:lvl8pPr>
            <a:lvl9pPr marL="6172200" lvl="8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400" b="1"/>
            </a:lvl9pPr>
          </a:lstStyle>
          <a:p>
            <a:endParaRPr/>
          </a:p>
        </p:txBody>
      </p:sp>
      <p:sp>
        <p:nvSpPr>
          <p:cNvPr id="255" name="Google Shape;255;p21"/>
          <p:cNvSpPr>
            <a:spLocks noGrp="1"/>
          </p:cNvSpPr>
          <p:nvPr>
            <p:ph type="pic" idx="8"/>
          </p:nvPr>
        </p:nvSpPr>
        <p:spPr>
          <a:xfrm>
            <a:off x="9558491" y="3660086"/>
            <a:ext cx="2781357" cy="2247356"/>
          </a:xfrm>
          <a:prstGeom prst="rect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6" name="Google Shape;256;p21"/>
          <p:cNvSpPr txBox="1">
            <a:spLocks noGrp="1"/>
          </p:cNvSpPr>
          <p:nvPr>
            <p:ph type="body" idx="9"/>
          </p:nvPr>
        </p:nvSpPr>
        <p:spPr>
          <a:xfrm>
            <a:off x="12570251" y="4539006"/>
            <a:ext cx="3789864" cy="1368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685800" lvl="0" indent="-4572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 sz="1800"/>
            </a:lvl1pPr>
            <a:lvl2pPr marL="1371600" lvl="1" indent="-447675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00"/>
              <a:buChar char="•"/>
              <a:defRPr sz="1650"/>
            </a:lvl2pPr>
            <a:lvl3pPr marL="2057400" lvl="2" indent="-442913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050"/>
              <a:buChar char="•"/>
              <a:defRPr sz="1575"/>
            </a:lvl3pPr>
            <a:lvl4pPr marL="2743200" lvl="3" indent="-4381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 sz="1500"/>
            </a:lvl4pPr>
            <a:lvl5pPr marL="3429000" lvl="4" indent="-4381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 sz="1500"/>
            </a:lvl5pPr>
            <a:lvl6pPr marL="4114800" lvl="5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800600" lvl="6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5486400" lvl="7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6172200" lvl="8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7" name="Google Shape;257;p21"/>
          <p:cNvSpPr txBox="1">
            <a:spLocks noGrp="1"/>
          </p:cNvSpPr>
          <p:nvPr>
            <p:ph type="body" idx="13"/>
          </p:nvPr>
        </p:nvSpPr>
        <p:spPr>
          <a:xfrm>
            <a:off x="12570354" y="6693872"/>
            <a:ext cx="3789864" cy="6841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685800" lvl="0" indent="-3429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2400" b="1" i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1371600" lvl="1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3000" b="1"/>
            </a:lvl2pPr>
            <a:lvl3pPr marL="2057400" lvl="2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700" b="1"/>
            </a:lvl3pPr>
            <a:lvl4pPr marL="2743200" lvl="3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2400" b="1"/>
            </a:lvl4pPr>
            <a:lvl5pPr marL="3429000" lvl="4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2400" b="1"/>
            </a:lvl5pPr>
            <a:lvl6pPr marL="4114800" lvl="5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400" b="1"/>
            </a:lvl6pPr>
            <a:lvl7pPr marL="4800600" lvl="6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400" b="1"/>
            </a:lvl7pPr>
            <a:lvl8pPr marL="5486400" lvl="7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400" b="1"/>
            </a:lvl8pPr>
            <a:lvl9pPr marL="6172200" lvl="8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400" b="1"/>
            </a:lvl9pPr>
          </a:lstStyle>
          <a:p>
            <a:endParaRPr/>
          </a:p>
        </p:txBody>
      </p:sp>
      <p:sp>
        <p:nvSpPr>
          <p:cNvPr id="258" name="Google Shape;258;p21"/>
          <p:cNvSpPr>
            <a:spLocks noGrp="1"/>
          </p:cNvSpPr>
          <p:nvPr>
            <p:ph type="pic" idx="14"/>
          </p:nvPr>
        </p:nvSpPr>
        <p:spPr>
          <a:xfrm>
            <a:off x="9558491" y="6657811"/>
            <a:ext cx="2781357" cy="2247356"/>
          </a:xfrm>
          <a:prstGeom prst="rect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9" name="Google Shape;259;p21"/>
          <p:cNvSpPr txBox="1">
            <a:spLocks noGrp="1"/>
          </p:cNvSpPr>
          <p:nvPr>
            <p:ph type="body" idx="15"/>
          </p:nvPr>
        </p:nvSpPr>
        <p:spPr>
          <a:xfrm>
            <a:off x="12570251" y="7536731"/>
            <a:ext cx="3789864" cy="1368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685800" lvl="0" indent="-4572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 sz="1800"/>
            </a:lvl1pPr>
            <a:lvl2pPr marL="1371600" lvl="1" indent="-447675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00"/>
              <a:buChar char="•"/>
              <a:defRPr sz="1650"/>
            </a:lvl2pPr>
            <a:lvl3pPr marL="2057400" lvl="2" indent="-442913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050"/>
              <a:buChar char="•"/>
              <a:defRPr sz="1575"/>
            </a:lvl3pPr>
            <a:lvl4pPr marL="2743200" lvl="3" indent="-4381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 sz="1500"/>
            </a:lvl4pPr>
            <a:lvl5pPr marL="3429000" lvl="4" indent="-4381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 sz="1500"/>
            </a:lvl5pPr>
            <a:lvl6pPr marL="4114800" lvl="5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800600" lvl="6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5486400" lvl="7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6172200" lvl="8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grpSp>
        <p:nvGrpSpPr>
          <p:cNvPr id="260" name="Google Shape;260;p21"/>
          <p:cNvGrpSpPr/>
          <p:nvPr/>
        </p:nvGrpSpPr>
        <p:grpSpPr>
          <a:xfrm>
            <a:off x="0" y="9819472"/>
            <a:ext cx="18288000" cy="547688"/>
            <a:chOff x="0" y="6546314"/>
            <a:chExt cx="12192000" cy="365125"/>
          </a:xfrm>
        </p:grpSpPr>
        <p:sp>
          <p:nvSpPr>
            <p:cNvPr id="261" name="Google Shape;261;p21"/>
            <p:cNvSpPr/>
            <p:nvPr/>
          </p:nvSpPr>
          <p:spPr>
            <a:xfrm>
              <a:off x="0" y="6584870"/>
              <a:ext cx="12192000" cy="27907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" name="Google Shape;262;p21"/>
            <p:cNvSpPr txBox="1"/>
            <p:nvPr/>
          </p:nvSpPr>
          <p:spPr>
            <a:xfrm>
              <a:off x="6906598" y="6546314"/>
              <a:ext cx="4633362" cy="3651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D" sz="1350" b="0" i="0">
                  <a:solidFill>
                    <a:schemeClr val="lt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Copyright © 2026 ITSEC Asia. All rights reserved.   </a:t>
              </a:r>
              <a:r>
                <a:rPr lang="en-ID" sz="1350" b="0" i="0">
                  <a:solidFill>
                    <a:schemeClr val="accent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|</a:t>
              </a:r>
              <a:r>
                <a:rPr lang="en-ID" sz="1350" b="0" i="0">
                  <a:solidFill>
                    <a:schemeClr val="lt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 </a:t>
              </a:r>
              <a:endParaRPr sz="1350" b="0" i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  <p:sp>
        <p:nvSpPr>
          <p:cNvPr id="263" name="Google Shape;263;p21"/>
          <p:cNvSpPr txBox="1"/>
          <p:nvPr/>
        </p:nvSpPr>
        <p:spPr>
          <a:xfrm>
            <a:off x="17309940" y="9877306"/>
            <a:ext cx="730410" cy="415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38" tIns="68550" rIns="137138" bIns="6855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 sz="1800" b="1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1800" b="1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grpSp>
        <p:nvGrpSpPr>
          <p:cNvPr id="264" name="Google Shape;264;p21"/>
          <p:cNvGrpSpPr/>
          <p:nvPr/>
        </p:nvGrpSpPr>
        <p:grpSpPr>
          <a:xfrm>
            <a:off x="-424781" y="9840460"/>
            <a:ext cx="1808181" cy="304617"/>
            <a:chOff x="-283187" y="6560310"/>
            <a:chExt cx="1205454" cy="203078"/>
          </a:xfrm>
        </p:grpSpPr>
        <p:pic>
          <p:nvPicPr>
            <p:cNvPr id="265" name="Google Shape;265;p21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-283187" y="6583388"/>
              <a:ext cx="1205454" cy="18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6" name="Google Shape;266;p21"/>
            <p:cNvSpPr txBox="1"/>
            <p:nvPr/>
          </p:nvSpPr>
          <p:spPr>
            <a:xfrm>
              <a:off x="96903" y="6560310"/>
              <a:ext cx="714375" cy="20002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D" sz="1350" b="1">
                  <a:solidFill>
                    <a:schemeClr val="accent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PUBLIC</a:t>
              </a:r>
              <a:endParaRPr sz="2100"/>
            </a:p>
          </p:txBody>
        </p:sp>
      </p:grpSp>
      <p:pic>
        <p:nvPicPr>
          <p:cNvPr id="267" name="Google Shape;267;p21" descr="A white and red logo on a black background&#10;&#10;AI-generated content may be incorrect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58236" y="554961"/>
            <a:ext cx="1971525" cy="7403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9744639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ive Pictures">
  <p:cSld name="Five Pictures"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9" name="Google Shape;269;p2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22"/>
          <p:cNvSpPr txBox="1">
            <a:spLocks noGrp="1"/>
          </p:cNvSpPr>
          <p:nvPr>
            <p:ph type="body" idx="1"/>
          </p:nvPr>
        </p:nvSpPr>
        <p:spPr>
          <a:xfrm>
            <a:off x="1009028" y="7586576"/>
            <a:ext cx="2967695" cy="101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685800" lvl="0" indent="-3429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2400" b="1" i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1371600" lvl="1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3000" b="1"/>
            </a:lvl2pPr>
            <a:lvl3pPr marL="2057400" lvl="2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700" b="1"/>
            </a:lvl3pPr>
            <a:lvl4pPr marL="2743200" lvl="3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2400" b="1"/>
            </a:lvl4pPr>
            <a:lvl5pPr marL="3429000" lvl="4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2400" b="1"/>
            </a:lvl5pPr>
            <a:lvl6pPr marL="4114800" lvl="5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400" b="1"/>
            </a:lvl6pPr>
            <a:lvl7pPr marL="4800600" lvl="6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400" b="1"/>
            </a:lvl7pPr>
            <a:lvl8pPr marL="5486400" lvl="7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400" b="1"/>
            </a:lvl8pPr>
            <a:lvl9pPr marL="6172200" lvl="8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400" b="1"/>
            </a:lvl9pPr>
          </a:lstStyle>
          <a:p>
            <a:endParaRPr/>
          </a:p>
        </p:txBody>
      </p:sp>
      <p:sp>
        <p:nvSpPr>
          <p:cNvPr id="271" name="Google Shape;271;p22"/>
          <p:cNvSpPr txBox="1">
            <a:spLocks noGrp="1"/>
          </p:cNvSpPr>
          <p:nvPr>
            <p:ph type="body" idx="2"/>
          </p:nvPr>
        </p:nvSpPr>
        <p:spPr>
          <a:xfrm>
            <a:off x="4346116" y="7586576"/>
            <a:ext cx="2967695" cy="101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685800" lvl="0" indent="-3429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2400" b="1" i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1371600" lvl="1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3000" b="1"/>
            </a:lvl2pPr>
            <a:lvl3pPr marL="2057400" lvl="2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700" b="1"/>
            </a:lvl3pPr>
            <a:lvl4pPr marL="2743200" lvl="3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2400" b="1"/>
            </a:lvl4pPr>
            <a:lvl5pPr marL="3429000" lvl="4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2400" b="1"/>
            </a:lvl5pPr>
            <a:lvl6pPr marL="4114800" lvl="5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400" b="1"/>
            </a:lvl6pPr>
            <a:lvl7pPr marL="4800600" lvl="6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400" b="1"/>
            </a:lvl7pPr>
            <a:lvl8pPr marL="5486400" lvl="7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400" b="1"/>
            </a:lvl8pPr>
            <a:lvl9pPr marL="6172200" lvl="8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400" b="1"/>
            </a:lvl9pPr>
          </a:lstStyle>
          <a:p>
            <a:endParaRPr/>
          </a:p>
        </p:txBody>
      </p:sp>
      <p:sp>
        <p:nvSpPr>
          <p:cNvPr id="272" name="Google Shape;272;p22"/>
          <p:cNvSpPr txBox="1">
            <a:spLocks noGrp="1"/>
          </p:cNvSpPr>
          <p:nvPr>
            <p:ph type="body" idx="3"/>
          </p:nvPr>
        </p:nvSpPr>
        <p:spPr>
          <a:xfrm>
            <a:off x="7709210" y="7586576"/>
            <a:ext cx="2967695" cy="101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685800" lvl="0" indent="-3429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2400" b="1" i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1371600" lvl="1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3000" b="1"/>
            </a:lvl2pPr>
            <a:lvl3pPr marL="2057400" lvl="2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700" b="1"/>
            </a:lvl3pPr>
            <a:lvl4pPr marL="2743200" lvl="3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2400" b="1"/>
            </a:lvl4pPr>
            <a:lvl5pPr marL="3429000" lvl="4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2400" b="1"/>
            </a:lvl5pPr>
            <a:lvl6pPr marL="4114800" lvl="5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400" b="1"/>
            </a:lvl6pPr>
            <a:lvl7pPr marL="4800600" lvl="6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400" b="1"/>
            </a:lvl7pPr>
            <a:lvl8pPr marL="5486400" lvl="7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400" b="1"/>
            </a:lvl8pPr>
            <a:lvl9pPr marL="6172200" lvl="8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400" b="1"/>
            </a:lvl9pPr>
          </a:lstStyle>
          <a:p>
            <a:endParaRPr/>
          </a:p>
        </p:txBody>
      </p:sp>
      <p:sp>
        <p:nvSpPr>
          <p:cNvPr id="273" name="Google Shape;273;p22"/>
          <p:cNvSpPr txBox="1">
            <a:spLocks noGrp="1"/>
          </p:cNvSpPr>
          <p:nvPr>
            <p:ph type="body" idx="4"/>
          </p:nvPr>
        </p:nvSpPr>
        <p:spPr>
          <a:xfrm>
            <a:off x="11061902" y="7586576"/>
            <a:ext cx="2967695" cy="101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685800" lvl="0" indent="-3429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2400" b="1" i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1371600" lvl="1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3000" b="1"/>
            </a:lvl2pPr>
            <a:lvl3pPr marL="2057400" lvl="2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700" b="1"/>
            </a:lvl3pPr>
            <a:lvl4pPr marL="2743200" lvl="3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2400" b="1"/>
            </a:lvl4pPr>
            <a:lvl5pPr marL="3429000" lvl="4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2400" b="1"/>
            </a:lvl5pPr>
            <a:lvl6pPr marL="4114800" lvl="5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400" b="1"/>
            </a:lvl6pPr>
            <a:lvl7pPr marL="4800600" lvl="6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400" b="1"/>
            </a:lvl7pPr>
            <a:lvl8pPr marL="5486400" lvl="7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400" b="1"/>
            </a:lvl8pPr>
            <a:lvl9pPr marL="6172200" lvl="8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400" b="1"/>
            </a:lvl9pPr>
          </a:lstStyle>
          <a:p>
            <a:endParaRPr/>
          </a:p>
        </p:txBody>
      </p:sp>
      <p:sp>
        <p:nvSpPr>
          <p:cNvPr id="274" name="Google Shape;274;p22"/>
          <p:cNvSpPr txBox="1">
            <a:spLocks noGrp="1"/>
          </p:cNvSpPr>
          <p:nvPr>
            <p:ph type="body" idx="5"/>
          </p:nvPr>
        </p:nvSpPr>
        <p:spPr>
          <a:xfrm>
            <a:off x="14383388" y="7586576"/>
            <a:ext cx="2967695" cy="101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685800" lvl="0" indent="-34290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2400" b="1" i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1371600" lvl="1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3000" b="1"/>
            </a:lvl2pPr>
            <a:lvl3pPr marL="2057400" lvl="2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700" b="1"/>
            </a:lvl3pPr>
            <a:lvl4pPr marL="2743200" lvl="3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2400" b="1"/>
            </a:lvl4pPr>
            <a:lvl5pPr marL="3429000" lvl="4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2400" b="1"/>
            </a:lvl5pPr>
            <a:lvl6pPr marL="4114800" lvl="5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400" b="1"/>
            </a:lvl6pPr>
            <a:lvl7pPr marL="4800600" lvl="6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400" b="1"/>
            </a:lvl7pPr>
            <a:lvl8pPr marL="5486400" lvl="7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400" b="1"/>
            </a:lvl8pPr>
            <a:lvl9pPr marL="6172200" lvl="8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400" b="1"/>
            </a:lvl9pPr>
          </a:lstStyle>
          <a:p>
            <a:endParaRPr/>
          </a:p>
        </p:txBody>
      </p:sp>
      <p:sp>
        <p:nvSpPr>
          <p:cNvPr id="275" name="Google Shape;275;p22"/>
          <p:cNvSpPr txBox="1">
            <a:spLocks noGrp="1"/>
          </p:cNvSpPr>
          <p:nvPr>
            <p:ph type="title"/>
          </p:nvPr>
        </p:nvSpPr>
        <p:spPr>
          <a:xfrm>
            <a:off x="1936015" y="2017155"/>
            <a:ext cx="14415968" cy="1166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Proxima Nova"/>
              <a:buNone/>
              <a:defRPr sz="4800" b="1" i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6" name="Google Shape;276;p22"/>
          <p:cNvSpPr>
            <a:spLocks noGrp="1"/>
          </p:cNvSpPr>
          <p:nvPr>
            <p:ph type="pic" idx="6"/>
          </p:nvPr>
        </p:nvSpPr>
        <p:spPr>
          <a:xfrm>
            <a:off x="1009028" y="4016072"/>
            <a:ext cx="2967695" cy="3181292"/>
          </a:xfrm>
          <a:prstGeom prst="rect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7" name="Google Shape;277;p22"/>
          <p:cNvSpPr>
            <a:spLocks noGrp="1"/>
          </p:cNvSpPr>
          <p:nvPr>
            <p:ph type="pic" idx="7"/>
          </p:nvPr>
        </p:nvSpPr>
        <p:spPr>
          <a:xfrm>
            <a:off x="4340915" y="4016072"/>
            <a:ext cx="2967695" cy="3181292"/>
          </a:xfrm>
          <a:prstGeom prst="rect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8" name="Google Shape;278;p22"/>
          <p:cNvSpPr>
            <a:spLocks noGrp="1"/>
          </p:cNvSpPr>
          <p:nvPr>
            <p:ph type="pic" idx="8"/>
          </p:nvPr>
        </p:nvSpPr>
        <p:spPr>
          <a:xfrm>
            <a:off x="7698808" y="4016072"/>
            <a:ext cx="2967695" cy="3181292"/>
          </a:xfrm>
          <a:prstGeom prst="rect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9" name="Google Shape;279;p22"/>
          <p:cNvSpPr>
            <a:spLocks noGrp="1"/>
          </p:cNvSpPr>
          <p:nvPr>
            <p:ph type="pic" idx="9"/>
          </p:nvPr>
        </p:nvSpPr>
        <p:spPr>
          <a:xfrm>
            <a:off x="11046299" y="4016072"/>
            <a:ext cx="2967695" cy="3181292"/>
          </a:xfrm>
          <a:prstGeom prst="rect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0" name="Google Shape;280;p22"/>
          <p:cNvSpPr>
            <a:spLocks noGrp="1"/>
          </p:cNvSpPr>
          <p:nvPr>
            <p:ph type="pic" idx="13"/>
          </p:nvPr>
        </p:nvSpPr>
        <p:spPr>
          <a:xfrm>
            <a:off x="14383387" y="4016072"/>
            <a:ext cx="2967695" cy="3181292"/>
          </a:xfrm>
          <a:prstGeom prst="rect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grpSp>
        <p:nvGrpSpPr>
          <p:cNvPr id="281" name="Google Shape;281;p22"/>
          <p:cNvGrpSpPr/>
          <p:nvPr/>
        </p:nvGrpSpPr>
        <p:grpSpPr>
          <a:xfrm>
            <a:off x="0" y="9819472"/>
            <a:ext cx="18288000" cy="547688"/>
            <a:chOff x="0" y="6546314"/>
            <a:chExt cx="12192000" cy="365125"/>
          </a:xfrm>
        </p:grpSpPr>
        <p:sp>
          <p:nvSpPr>
            <p:cNvPr id="282" name="Google Shape;282;p22"/>
            <p:cNvSpPr/>
            <p:nvPr/>
          </p:nvSpPr>
          <p:spPr>
            <a:xfrm>
              <a:off x="0" y="6584870"/>
              <a:ext cx="12192000" cy="27907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" name="Google Shape;283;p22"/>
            <p:cNvSpPr txBox="1"/>
            <p:nvPr/>
          </p:nvSpPr>
          <p:spPr>
            <a:xfrm>
              <a:off x="6906598" y="6546314"/>
              <a:ext cx="4633362" cy="3651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D" sz="1350" b="0" i="0">
                  <a:solidFill>
                    <a:schemeClr val="lt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Copyright © 2026 ITSEC Asia. All rights reserved.   </a:t>
              </a:r>
              <a:r>
                <a:rPr lang="en-ID" sz="1350" b="0" i="0">
                  <a:solidFill>
                    <a:schemeClr val="accent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|</a:t>
              </a:r>
              <a:r>
                <a:rPr lang="en-ID" sz="1350" b="0" i="0">
                  <a:solidFill>
                    <a:schemeClr val="lt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 </a:t>
              </a:r>
              <a:endParaRPr sz="1350" b="0" i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  <p:sp>
        <p:nvSpPr>
          <p:cNvPr id="284" name="Google Shape;284;p22"/>
          <p:cNvSpPr txBox="1"/>
          <p:nvPr/>
        </p:nvSpPr>
        <p:spPr>
          <a:xfrm>
            <a:off x="17309940" y="9877306"/>
            <a:ext cx="730410" cy="415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38" tIns="68550" rIns="137138" bIns="6855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 sz="1800" b="1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1800" b="1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grpSp>
        <p:nvGrpSpPr>
          <p:cNvPr id="285" name="Google Shape;285;p22"/>
          <p:cNvGrpSpPr/>
          <p:nvPr/>
        </p:nvGrpSpPr>
        <p:grpSpPr>
          <a:xfrm>
            <a:off x="-424781" y="9840460"/>
            <a:ext cx="1808181" cy="304617"/>
            <a:chOff x="-283187" y="6560310"/>
            <a:chExt cx="1205454" cy="203078"/>
          </a:xfrm>
        </p:grpSpPr>
        <p:pic>
          <p:nvPicPr>
            <p:cNvPr id="286" name="Google Shape;286;p22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-283187" y="6583388"/>
              <a:ext cx="1205454" cy="18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7" name="Google Shape;287;p22"/>
            <p:cNvSpPr txBox="1"/>
            <p:nvPr/>
          </p:nvSpPr>
          <p:spPr>
            <a:xfrm>
              <a:off x="96903" y="6560310"/>
              <a:ext cx="714375" cy="20002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D" sz="1350" b="1">
                  <a:solidFill>
                    <a:schemeClr val="accent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PUBLIC</a:t>
              </a:r>
              <a:endParaRPr sz="2100"/>
            </a:p>
          </p:txBody>
        </p:sp>
      </p:grpSp>
      <p:pic>
        <p:nvPicPr>
          <p:cNvPr id="288" name="Google Shape;288;p22" descr="A white and red logo on a black background&#10;&#10;AI-generated content may be incorrect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58236" y="554961"/>
            <a:ext cx="1971525" cy="7403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6340075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>
  <p:cSld name="Content with Caption"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0" name="Google Shape;290;p2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3628078" y="6034502"/>
            <a:ext cx="4659923" cy="4052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23"/>
          <p:cNvPicPr preferRelativeResize="0"/>
          <p:nvPr/>
        </p:nvPicPr>
        <p:blipFill rotWithShape="1">
          <a:blip r:embed="rId3">
            <a:alphaModFix/>
          </a:blip>
          <a:srcRect l="22676" t="43782" r="-2693" b="-29393"/>
          <a:stretch/>
        </p:blipFill>
        <p:spPr>
          <a:xfrm>
            <a:off x="-1" y="1"/>
            <a:ext cx="2431793" cy="3206579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23"/>
          <p:cNvSpPr txBox="1">
            <a:spLocks noGrp="1"/>
          </p:cNvSpPr>
          <p:nvPr>
            <p:ph type="title"/>
          </p:nvPr>
        </p:nvSpPr>
        <p:spPr>
          <a:xfrm>
            <a:off x="1259683" y="2105634"/>
            <a:ext cx="5898356" cy="2806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Proxima Nova"/>
              <a:buNone/>
              <a:defRPr sz="6600" b="1" i="0"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3" name="Google Shape;293;p23"/>
          <p:cNvSpPr txBox="1">
            <a:spLocks noGrp="1"/>
          </p:cNvSpPr>
          <p:nvPr>
            <p:ph type="body" idx="1"/>
          </p:nvPr>
        </p:nvSpPr>
        <p:spPr>
          <a:xfrm>
            <a:off x="1259683" y="5471024"/>
            <a:ext cx="5898356" cy="3954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685800" lvl="0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2400" b="0" i="0">
                <a:latin typeface="Proxima Nova"/>
                <a:ea typeface="Proxima Nova"/>
                <a:cs typeface="Proxima Nova"/>
                <a:sym typeface="Proxima Nova"/>
              </a:defRPr>
            </a:lvl1pPr>
            <a:lvl2pPr marL="1371600" lvl="1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2100"/>
            </a:lvl2pPr>
            <a:lvl3pPr marL="2057400" lvl="2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800"/>
            </a:lvl3pPr>
            <a:lvl4pPr marL="2743200" lvl="3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500"/>
            </a:lvl4pPr>
            <a:lvl5pPr marL="3429000" lvl="4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500"/>
            </a:lvl5pPr>
            <a:lvl6pPr marL="4114800" lvl="5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500"/>
            </a:lvl6pPr>
            <a:lvl7pPr marL="4800600" lvl="6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500"/>
            </a:lvl7pPr>
            <a:lvl8pPr marL="5486400" lvl="7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500"/>
            </a:lvl8pPr>
            <a:lvl9pPr marL="6172200" lvl="8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500"/>
            </a:lvl9pPr>
          </a:lstStyle>
          <a:p>
            <a:endParaRPr/>
          </a:p>
        </p:txBody>
      </p:sp>
      <p:sp>
        <p:nvSpPr>
          <p:cNvPr id="294" name="Google Shape;294;p23"/>
          <p:cNvSpPr>
            <a:spLocks noGrp="1"/>
          </p:cNvSpPr>
          <p:nvPr>
            <p:ph type="pic" idx="2"/>
          </p:nvPr>
        </p:nvSpPr>
        <p:spPr>
          <a:xfrm>
            <a:off x="7625855" y="2105634"/>
            <a:ext cx="9402464" cy="7319964"/>
          </a:xfrm>
          <a:prstGeom prst="rect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grpSp>
        <p:nvGrpSpPr>
          <p:cNvPr id="295" name="Google Shape;295;p23"/>
          <p:cNvGrpSpPr/>
          <p:nvPr/>
        </p:nvGrpSpPr>
        <p:grpSpPr>
          <a:xfrm>
            <a:off x="0" y="9819472"/>
            <a:ext cx="18288000" cy="547688"/>
            <a:chOff x="0" y="6546314"/>
            <a:chExt cx="12192000" cy="365125"/>
          </a:xfrm>
        </p:grpSpPr>
        <p:sp>
          <p:nvSpPr>
            <p:cNvPr id="296" name="Google Shape;296;p23"/>
            <p:cNvSpPr/>
            <p:nvPr/>
          </p:nvSpPr>
          <p:spPr>
            <a:xfrm>
              <a:off x="0" y="6584870"/>
              <a:ext cx="12192000" cy="27907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" name="Google Shape;297;p23"/>
            <p:cNvSpPr txBox="1"/>
            <p:nvPr/>
          </p:nvSpPr>
          <p:spPr>
            <a:xfrm>
              <a:off x="6906598" y="6546314"/>
              <a:ext cx="4633362" cy="3651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D" sz="1350" b="0" i="0">
                  <a:solidFill>
                    <a:schemeClr val="lt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Copyright © 2026 ITSEC Asia. All rights reserved.   </a:t>
              </a:r>
              <a:r>
                <a:rPr lang="en-ID" sz="1350" b="0" i="0">
                  <a:solidFill>
                    <a:schemeClr val="accent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|</a:t>
              </a:r>
              <a:r>
                <a:rPr lang="en-ID" sz="1350" b="0" i="0">
                  <a:solidFill>
                    <a:schemeClr val="lt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 </a:t>
              </a:r>
              <a:endParaRPr sz="1350" b="0" i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  <p:sp>
        <p:nvSpPr>
          <p:cNvPr id="298" name="Google Shape;298;p23"/>
          <p:cNvSpPr txBox="1"/>
          <p:nvPr/>
        </p:nvSpPr>
        <p:spPr>
          <a:xfrm>
            <a:off x="17309940" y="9877306"/>
            <a:ext cx="730410" cy="415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38" tIns="68550" rIns="137138" bIns="6855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 sz="1800" b="1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1800" b="1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299" name="Google Shape;299;p23" descr="A red and black logo&#10;&#10;AI-generated content may be incorrect."/>
          <p:cNvPicPr preferRelativeResize="0"/>
          <p:nvPr/>
        </p:nvPicPr>
        <p:blipFill rotWithShape="1">
          <a:blip r:embed="rId4">
            <a:alphaModFix/>
          </a:blip>
          <a:srcRect l="10495" t="40170" r="6599" b="40170"/>
          <a:stretch/>
        </p:blipFill>
        <p:spPr>
          <a:xfrm>
            <a:off x="1198209" y="5064953"/>
            <a:ext cx="1017159" cy="24121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00" name="Google Shape;300;p23"/>
          <p:cNvGrpSpPr/>
          <p:nvPr/>
        </p:nvGrpSpPr>
        <p:grpSpPr>
          <a:xfrm>
            <a:off x="-424781" y="9840460"/>
            <a:ext cx="1808181" cy="304617"/>
            <a:chOff x="-283187" y="6560310"/>
            <a:chExt cx="1205454" cy="203078"/>
          </a:xfrm>
        </p:grpSpPr>
        <p:pic>
          <p:nvPicPr>
            <p:cNvPr id="301" name="Google Shape;301;p23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-283187" y="6583388"/>
              <a:ext cx="1205454" cy="18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2" name="Google Shape;302;p23"/>
            <p:cNvSpPr txBox="1"/>
            <p:nvPr/>
          </p:nvSpPr>
          <p:spPr>
            <a:xfrm>
              <a:off x="96903" y="6560310"/>
              <a:ext cx="714375" cy="20002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D" sz="1350" b="1">
                  <a:solidFill>
                    <a:schemeClr val="accent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PUBLIC</a:t>
              </a:r>
              <a:endParaRPr sz="2100"/>
            </a:p>
          </p:txBody>
        </p:sp>
      </p:grpSp>
      <p:pic>
        <p:nvPicPr>
          <p:cNvPr id="303" name="Google Shape;303;p23" descr="A white and red logo on a black background&#10;&#10;AI-generated content may be incorrect.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58236" y="554961"/>
            <a:ext cx="1971525" cy="7403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6494236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Content with Caption">
  <p:cSld name="2_Content with Caption"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5" name="Google Shape;305;p2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" name="Google Shape;306;p24"/>
          <p:cNvPicPr preferRelativeResize="0"/>
          <p:nvPr/>
        </p:nvPicPr>
        <p:blipFill rotWithShape="1">
          <a:blip r:embed="rId3">
            <a:alphaModFix amt="50000"/>
          </a:blip>
          <a:srcRect/>
          <a:stretch/>
        </p:blipFill>
        <p:spPr>
          <a:xfrm>
            <a:off x="3758142" y="5964626"/>
            <a:ext cx="6736440" cy="4748414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p24"/>
          <p:cNvPicPr preferRelativeResize="0"/>
          <p:nvPr/>
        </p:nvPicPr>
        <p:blipFill rotWithShape="1">
          <a:blip r:embed="rId4">
            <a:alphaModFix/>
          </a:blip>
          <a:srcRect l="22182" r="22183"/>
          <a:stretch/>
        </p:blipFill>
        <p:spPr>
          <a:xfrm flipH="1">
            <a:off x="8087703" y="1"/>
            <a:ext cx="10200294" cy="10313180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24"/>
          <p:cNvSpPr txBox="1">
            <a:spLocks noGrp="1"/>
          </p:cNvSpPr>
          <p:nvPr>
            <p:ph type="title"/>
          </p:nvPr>
        </p:nvSpPr>
        <p:spPr>
          <a:xfrm>
            <a:off x="772513" y="1939153"/>
            <a:ext cx="6736439" cy="2694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Proxima Nova"/>
              <a:buNone/>
              <a:defRPr sz="6600" b="1" i="0"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9" name="Google Shape;309;p24"/>
          <p:cNvSpPr txBox="1">
            <a:spLocks noGrp="1"/>
          </p:cNvSpPr>
          <p:nvPr>
            <p:ph type="body" idx="1"/>
          </p:nvPr>
        </p:nvSpPr>
        <p:spPr>
          <a:xfrm>
            <a:off x="772513" y="5369601"/>
            <a:ext cx="6736439" cy="3904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685800" lvl="0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2400" b="0" i="0">
                <a:latin typeface="Proxima Nova"/>
                <a:ea typeface="Proxima Nova"/>
                <a:cs typeface="Proxima Nova"/>
                <a:sym typeface="Proxima Nova"/>
              </a:defRPr>
            </a:lvl1pPr>
            <a:lvl2pPr marL="1371600" lvl="1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2100"/>
            </a:lvl2pPr>
            <a:lvl3pPr marL="2057400" lvl="2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800"/>
            </a:lvl3pPr>
            <a:lvl4pPr marL="2743200" lvl="3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500"/>
            </a:lvl4pPr>
            <a:lvl5pPr marL="3429000" lvl="4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500"/>
            </a:lvl5pPr>
            <a:lvl6pPr marL="4114800" lvl="5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500"/>
            </a:lvl6pPr>
            <a:lvl7pPr marL="4800600" lvl="6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500"/>
            </a:lvl7pPr>
            <a:lvl8pPr marL="5486400" lvl="7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500"/>
            </a:lvl8pPr>
            <a:lvl9pPr marL="6172200" lvl="8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500"/>
            </a:lvl9pPr>
          </a:lstStyle>
          <a:p>
            <a:endParaRPr/>
          </a:p>
        </p:txBody>
      </p:sp>
      <p:sp>
        <p:nvSpPr>
          <p:cNvPr id="310" name="Google Shape;310;p24"/>
          <p:cNvSpPr>
            <a:spLocks noGrp="1"/>
          </p:cNvSpPr>
          <p:nvPr>
            <p:ph type="pic" idx="2"/>
          </p:nvPr>
        </p:nvSpPr>
        <p:spPr>
          <a:xfrm>
            <a:off x="8081013" y="1"/>
            <a:ext cx="10200294" cy="9877304"/>
          </a:xfrm>
          <a:prstGeom prst="rect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grpSp>
        <p:nvGrpSpPr>
          <p:cNvPr id="311" name="Google Shape;311;p24"/>
          <p:cNvGrpSpPr/>
          <p:nvPr/>
        </p:nvGrpSpPr>
        <p:grpSpPr>
          <a:xfrm>
            <a:off x="0" y="9819472"/>
            <a:ext cx="18288000" cy="547688"/>
            <a:chOff x="0" y="6546314"/>
            <a:chExt cx="12192000" cy="365125"/>
          </a:xfrm>
        </p:grpSpPr>
        <p:sp>
          <p:nvSpPr>
            <p:cNvPr id="312" name="Google Shape;312;p24"/>
            <p:cNvSpPr/>
            <p:nvPr/>
          </p:nvSpPr>
          <p:spPr>
            <a:xfrm>
              <a:off x="0" y="6584870"/>
              <a:ext cx="12192000" cy="27907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3" name="Google Shape;313;p24"/>
            <p:cNvSpPr txBox="1"/>
            <p:nvPr/>
          </p:nvSpPr>
          <p:spPr>
            <a:xfrm>
              <a:off x="6906598" y="6546314"/>
              <a:ext cx="4633362" cy="3651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D" sz="1350" b="0" i="0">
                  <a:solidFill>
                    <a:schemeClr val="lt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Copyright © 2026 ITSEC Asia. All rights reserved.   </a:t>
              </a:r>
              <a:r>
                <a:rPr lang="en-ID" sz="1350" b="0" i="0">
                  <a:solidFill>
                    <a:schemeClr val="accent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|</a:t>
              </a:r>
              <a:r>
                <a:rPr lang="en-ID" sz="1350" b="0" i="0">
                  <a:solidFill>
                    <a:schemeClr val="lt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 </a:t>
              </a:r>
              <a:endParaRPr sz="1350" b="0" i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  <p:sp>
        <p:nvSpPr>
          <p:cNvPr id="314" name="Google Shape;314;p24"/>
          <p:cNvSpPr txBox="1"/>
          <p:nvPr/>
        </p:nvSpPr>
        <p:spPr>
          <a:xfrm>
            <a:off x="17309940" y="9877306"/>
            <a:ext cx="730410" cy="415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38" tIns="68550" rIns="137138" bIns="6855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 sz="1800" b="1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1800" b="1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15" name="Google Shape;315;p24" descr="A red and black logo&#10;&#10;AI-generated content may be incorrect."/>
          <p:cNvPicPr preferRelativeResize="0"/>
          <p:nvPr/>
        </p:nvPicPr>
        <p:blipFill rotWithShape="1">
          <a:blip r:embed="rId5">
            <a:alphaModFix/>
          </a:blip>
          <a:srcRect l="10495" t="40170" r="6599" b="40170"/>
          <a:stretch/>
        </p:blipFill>
        <p:spPr>
          <a:xfrm>
            <a:off x="772512" y="4796790"/>
            <a:ext cx="1017159" cy="24121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6" name="Google Shape;316;p24"/>
          <p:cNvGrpSpPr/>
          <p:nvPr/>
        </p:nvGrpSpPr>
        <p:grpSpPr>
          <a:xfrm>
            <a:off x="-424781" y="9840460"/>
            <a:ext cx="1808181" cy="304617"/>
            <a:chOff x="-283187" y="6560310"/>
            <a:chExt cx="1205454" cy="203078"/>
          </a:xfrm>
        </p:grpSpPr>
        <p:pic>
          <p:nvPicPr>
            <p:cNvPr id="317" name="Google Shape;317;p24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-283187" y="6583388"/>
              <a:ext cx="1205454" cy="18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8" name="Google Shape;318;p24"/>
            <p:cNvSpPr txBox="1"/>
            <p:nvPr/>
          </p:nvSpPr>
          <p:spPr>
            <a:xfrm>
              <a:off x="96903" y="6560310"/>
              <a:ext cx="714375" cy="20002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D" sz="1350" b="1">
                  <a:solidFill>
                    <a:schemeClr val="accent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PUBLIC</a:t>
              </a:r>
              <a:endParaRPr sz="2100"/>
            </a:p>
          </p:txBody>
        </p:sp>
      </p:grpSp>
      <p:pic>
        <p:nvPicPr>
          <p:cNvPr id="319" name="Google Shape;319;p24" descr="A white and red logo on a black background&#10;&#10;AI-generated content may be incorrect.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154968" y="554961"/>
            <a:ext cx="1971525" cy="7403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5601778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>
  <p:cSld name="Picture with Caption"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1" name="Google Shape;321;p25"/>
          <p:cNvPicPr preferRelativeResize="0"/>
          <p:nvPr/>
        </p:nvPicPr>
        <p:blipFill rotWithShape="1">
          <a:blip r:embed="rId2">
            <a:alphaModFix amt="50000"/>
          </a:blip>
          <a:srcRect/>
          <a:stretch/>
        </p:blipFill>
        <p:spPr>
          <a:xfrm>
            <a:off x="14229620" y="5579077"/>
            <a:ext cx="7407227" cy="4683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22" name="Google Shape;322;p25"/>
          <p:cNvPicPr preferRelativeResize="0"/>
          <p:nvPr/>
        </p:nvPicPr>
        <p:blipFill rotWithShape="1">
          <a:blip r:embed="rId3">
            <a:alphaModFix amt="50000"/>
          </a:blip>
          <a:srcRect/>
          <a:stretch/>
        </p:blipFill>
        <p:spPr>
          <a:xfrm rot="10800000">
            <a:off x="22322" y="0"/>
            <a:ext cx="5154945" cy="4496586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25"/>
          <p:cNvSpPr txBox="1">
            <a:spLocks noGrp="1"/>
          </p:cNvSpPr>
          <p:nvPr>
            <p:ph type="title"/>
          </p:nvPr>
        </p:nvSpPr>
        <p:spPr>
          <a:xfrm>
            <a:off x="11642108" y="1674600"/>
            <a:ext cx="4944473" cy="21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Proxima Nova"/>
              <a:buNone/>
              <a:defRPr sz="4800" b="1" i="0"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4" name="Google Shape;324;p25"/>
          <p:cNvSpPr txBox="1">
            <a:spLocks noGrp="1"/>
          </p:cNvSpPr>
          <p:nvPr>
            <p:ph type="body" idx="1"/>
          </p:nvPr>
        </p:nvSpPr>
        <p:spPr>
          <a:xfrm>
            <a:off x="11642108" y="4336870"/>
            <a:ext cx="4944473" cy="4534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685800" lvl="0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2400" b="0" i="0">
                <a:latin typeface="Proxima Nova"/>
                <a:ea typeface="Proxima Nova"/>
                <a:cs typeface="Proxima Nova"/>
                <a:sym typeface="Proxima Nova"/>
              </a:defRPr>
            </a:lvl1pPr>
            <a:lvl2pPr marL="1371600" lvl="1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2100"/>
            </a:lvl2pPr>
            <a:lvl3pPr marL="2057400" lvl="2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800"/>
            </a:lvl3pPr>
            <a:lvl4pPr marL="2743200" lvl="3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500"/>
            </a:lvl4pPr>
            <a:lvl5pPr marL="3429000" lvl="4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500"/>
            </a:lvl5pPr>
            <a:lvl6pPr marL="4114800" lvl="5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500"/>
            </a:lvl6pPr>
            <a:lvl7pPr marL="4800600" lvl="6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500"/>
            </a:lvl7pPr>
            <a:lvl8pPr marL="5486400" lvl="7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500"/>
            </a:lvl8pPr>
            <a:lvl9pPr marL="6172200" lvl="8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500"/>
            </a:lvl9pPr>
          </a:lstStyle>
          <a:p>
            <a:endParaRPr/>
          </a:p>
        </p:txBody>
      </p:sp>
      <p:pic>
        <p:nvPicPr>
          <p:cNvPr id="325" name="Google Shape;325;p2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820507" y="3972701"/>
            <a:ext cx="2445966" cy="68579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25"/>
          <p:cNvSpPr>
            <a:spLocks noGrp="1"/>
          </p:cNvSpPr>
          <p:nvPr>
            <p:ph type="pic" idx="2"/>
          </p:nvPr>
        </p:nvSpPr>
        <p:spPr>
          <a:xfrm>
            <a:off x="957432" y="1923002"/>
            <a:ext cx="9959763" cy="6947915"/>
          </a:xfrm>
          <a:prstGeom prst="rect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grpSp>
        <p:nvGrpSpPr>
          <p:cNvPr id="327" name="Google Shape;327;p25"/>
          <p:cNvGrpSpPr/>
          <p:nvPr/>
        </p:nvGrpSpPr>
        <p:grpSpPr>
          <a:xfrm>
            <a:off x="0" y="9819472"/>
            <a:ext cx="18288000" cy="547688"/>
            <a:chOff x="0" y="6546314"/>
            <a:chExt cx="12192000" cy="365125"/>
          </a:xfrm>
        </p:grpSpPr>
        <p:sp>
          <p:nvSpPr>
            <p:cNvPr id="328" name="Google Shape;328;p25"/>
            <p:cNvSpPr/>
            <p:nvPr/>
          </p:nvSpPr>
          <p:spPr>
            <a:xfrm>
              <a:off x="0" y="6584870"/>
              <a:ext cx="12192000" cy="27907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" name="Google Shape;329;p25"/>
            <p:cNvSpPr txBox="1"/>
            <p:nvPr/>
          </p:nvSpPr>
          <p:spPr>
            <a:xfrm>
              <a:off x="6906598" y="6546314"/>
              <a:ext cx="4633362" cy="3651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D" sz="1350" b="0" i="0">
                  <a:solidFill>
                    <a:schemeClr val="lt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Copyright © 2026 ITSEC Asia. All rights reserved.   </a:t>
              </a:r>
              <a:r>
                <a:rPr lang="en-ID" sz="1350" b="0" i="0">
                  <a:solidFill>
                    <a:schemeClr val="accent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|</a:t>
              </a:r>
              <a:r>
                <a:rPr lang="en-ID" sz="1350" b="0" i="0">
                  <a:solidFill>
                    <a:schemeClr val="lt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 </a:t>
              </a:r>
              <a:endParaRPr sz="1350" b="0" i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  <p:sp>
        <p:nvSpPr>
          <p:cNvPr id="330" name="Google Shape;330;p25"/>
          <p:cNvSpPr txBox="1"/>
          <p:nvPr/>
        </p:nvSpPr>
        <p:spPr>
          <a:xfrm>
            <a:off x="17309940" y="9877306"/>
            <a:ext cx="730410" cy="415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38" tIns="68550" rIns="137138" bIns="6855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 sz="1800" b="1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1800" b="1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grpSp>
        <p:nvGrpSpPr>
          <p:cNvPr id="331" name="Google Shape;331;p25"/>
          <p:cNvGrpSpPr/>
          <p:nvPr/>
        </p:nvGrpSpPr>
        <p:grpSpPr>
          <a:xfrm>
            <a:off x="-424781" y="9840460"/>
            <a:ext cx="1808181" cy="304617"/>
            <a:chOff x="-283187" y="6560310"/>
            <a:chExt cx="1205454" cy="203078"/>
          </a:xfrm>
        </p:grpSpPr>
        <p:pic>
          <p:nvPicPr>
            <p:cNvPr id="332" name="Google Shape;332;p25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-283187" y="6583388"/>
              <a:ext cx="1205454" cy="18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3" name="Google Shape;333;p25"/>
            <p:cNvSpPr txBox="1"/>
            <p:nvPr/>
          </p:nvSpPr>
          <p:spPr>
            <a:xfrm>
              <a:off x="96903" y="6560310"/>
              <a:ext cx="714375" cy="20002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D" sz="1350" b="1">
                  <a:solidFill>
                    <a:schemeClr val="accent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PUBLIC</a:t>
              </a:r>
              <a:endParaRPr sz="2100"/>
            </a:p>
          </p:txBody>
        </p:sp>
      </p:grpSp>
      <p:pic>
        <p:nvPicPr>
          <p:cNvPr id="334" name="Google Shape;334;p25" descr="A white and red logo on a black background&#10;&#10;AI-generated content may be incorrect.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58236" y="554961"/>
            <a:ext cx="1971525" cy="7403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447278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Title and Vertical Text"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26"/>
          <p:cNvSpPr txBox="1">
            <a:spLocks noGrp="1"/>
          </p:cNvSpPr>
          <p:nvPr>
            <p:ph type="title"/>
          </p:nvPr>
        </p:nvSpPr>
        <p:spPr>
          <a:xfrm>
            <a:off x="1774739" y="1796871"/>
            <a:ext cx="14738522" cy="10717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Proxima Nova"/>
              <a:buNone/>
              <a:defRPr b="1" i="0"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7" name="Google Shape;337;p26"/>
          <p:cNvSpPr txBox="1">
            <a:spLocks noGrp="1"/>
          </p:cNvSpPr>
          <p:nvPr>
            <p:ph type="body" idx="1"/>
          </p:nvPr>
        </p:nvSpPr>
        <p:spPr>
          <a:xfrm rot="5400000">
            <a:off x="6151637" y="-1096179"/>
            <a:ext cx="5984726" cy="147385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685800" lvl="0" indent="-5715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 b="0" i="0">
                <a:latin typeface="Proxima Nova"/>
                <a:ea typeface="Proxima Nova"/>
                <a:cs typeface="Proxima Nova"/>
                <a:sym typeface="Proxima Nova"/>
              </a:defRPr>
            </a:lvl1pPr>
            <a:lvl2pPr marL="1371600" lvl="1" indent="-5334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b="0" i="0">
                <a:latin typeface="Proxima Nova"/>
                <a:ea typeface="Proxima Nova"/>
                <a:cs typeface="Proxima Nova"/>
                <a:sym typeface="Proxima Nova"/>
              </a:defRPr>
            </a:lvl2pPr>
            <a:lvl3pPr marL="2057400" lvl="2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b="0" i="0">
                <a:latin typeface="Proxima Nova"/>
                <a:ea typeface="Proxima Nova"/>
                <a:cs typeface="Proxima Nova"/>
                <a:sym typeface="Proxima Nova"/>
              </a:defRPr>
            </a:lvl3pPr>
            <a:lvl4pPr marL="2743200" lvl="3" indent="-4953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b="0" i="0">
                <a:latin typeface="Proxima Nova"/>
                <a:ea typeface="Proxima Nova"/>
                <a:cs typeface="Proxima Nova"/>
                <a:sym typeface="Proxima Nova"/>
              </a:defRPr>
            </a:lvl4pPr>
            <a:lvl5pPr marL="3429000" lvl="4" indent="-4953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b="0" i="0">
                <a:latin typeface="Proxima Nova"/>
                <a:ea typeface="Proxima Nova"/>
                <a:cs typeface="Proxima Nova"/>
                <a:sym typeface="Proxima Nova"/>
              </a:defRPr>
            </a:lvl5pPr>
            <a:lvl6pPr marL="4114800" lvl="5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800600" lvl="6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5486400" lvl="7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6172200" lvl="8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grpSp>
        <p:nvGrpSpPr>
          <p:cNvPr id="338" name="Google Shape;338;p26"/>
          <p:cNvGrpSpPr/>
          <p:nvPr/>
        </p:nvGrpSpPr>
        <p:grpSpPr>
          <a:xfrm>
            <a:off x="0" y="9819472"/>
            <a:ext cx="18288000" cy="547688"/>
            <a:chOff x="0" y="6546314"/>
            <a:chExt cx="12192000" cy="365125"/>
          </a:xfrm>
        </p:grpSpPr>
        <p:sp>
          <p:nvSpPr>
            <p:cNvPr id="339" name="Google Shape;339;p26"/>
            <p:cNvSpPr/>
            <p:nvPr/>
          </p:nvSpPr>
          <p:spPr>
            <a:xfrm>
              <a:off x="0" y="6584870"/>
              <a:ext cx="12192000" cy="27907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0" name="Google Shape;340;p26"/>
            <p:cNvSpPr txBox="1"/>
            <p:nvPr/>
          </p:nvSpPr>
          <p:spPr>
            <a:xfrm>
              <a:off x="6906598" y="6546314"/>
              <a:ext cx="4633362" cy="3651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D" sz="1350" b="0" i="0">
                  <a:solidFill>
                    <a:schemeClr val="lt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Copyright © 2026 ITSEC Asia. All rights reserved.   </a:t>
              </a:r>
              <a:r>
                <a:rPr lang="en-ID" sz="1350" b="0" i="0">
                  <a:solidFill>
                    <a:schemeClr val="accent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|</a:t>
              </a:r>
              <a:r>
                <a:rPr lang="en-ID" sz="1350" b="0" i="0">
                  <a:solidFill>
                    <a:schemeClr val="lt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 </a:t>
              </a:r>
              <a:endParaRPr sz="1350" b="0" i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  <p:sp>
        <p:nvSpPr>
          <p:cNvPr id="341" name="Google Shape;341;p26"/>
          <p:cNvSpPr txBox="1"/>
          <p:nvPr/>
        </p:nvSpPr>
        <p:spPr>
          <a:xfrm>
            <a:off x="17309940" y="9877306"/>
            <a:ext cx="730410" cy="415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38" tIns="68550" rIns="137138" bIns="6855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 sz="1800" b="1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1800" b="1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grpSp>
        <p:nvGrpSpPr>
          <p:cNvPr id="342" name="Google Shape;342;p26"/>
          <p:cNvGrpSpPr/>
          <p:nvPr/>
        </p:nvGrpSpPr>
        <p:grpSpPr>
          <a:xfrm>
            <a:off x="-424781" y="9840460"/>
            <a:ext cx="1808181" cy="304617"/>
            <a:chOff x="-283187" y="6560310"/>
            <a:chExt cx="1205454" cy="203078"/>
          </a:xfrm>
        </p:grpSpPr>
        <p:pic>
          <p:nvPicPr>
            <p:cNvPr id="343" name="Google Shape;343;p26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-283187" y="6583388"/>
              <a:ext cx="1205454" cy="18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4" name="Google Shape;344;p26"/>
            <p:cNvSpPr txBox="1"/>
            <p:nvPr/>
          </p:nvSpPr>
          <p:spPr>
            <a:xfrm>
              <a:off x="96903" y="6560310"/>
              <a:ext cx="714375" cy="20002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D" sz="1350" b="1">
                  <a:solidFill>
                    <a:schemeClr val="accent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PUBLIC</a:t>
              </a:r>
              <a:endParaRPr sz="2100"/>
            </a:p>
          </p:txBody>
        </p:sp>
      </p:grpSp>
      <p:pic>
        <p:nvPicPr>
          <p:cNvPr id="345" name="Google Shape;345;p26" descr="A white and red logo on a black background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58236" y="554961"/>
            <a:ext cx="1971525" cy="7403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3608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4.xml"/><Relationship Id="rId1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4.xml"/><Relationship Id="rId21" Type="http://schemas.openxmlformats.org/officeDocument/2006/relationships/slideLayout" Target="../slideLayouts/slideLayout22.xml"/><Relationship Id="rId7" Type="http://schemas.openxmlformats.org/officeDocument/2006/relationships/slideLayout" Target="../slideLayouts/slideLayout8.xml"/><Relationship Id="rId12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3.xml"/><Relationship Id="rId16" Type="http://schemas.openxmlformats.org/officeDocument/2006/relationships/slideLayout" Target="../slideLayouts/slideLayout17.xml"/><Relationship Id="rId2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24" Type="http://schemas.openxmlformats.org/officeDocument/2006/relationships/image" Target="../media/image1.png"/><Relationship Id="rId5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6.xml"/><Relationship Id="rId23" Type="http://schemas.openxmlformats.org/officeDocument/2006/relationships/theme" Target="../theme/theme2.xml"/><Relationship Id="rId10" Type="http://schemas.openxmlformats.org/officeDocument/2006/relationships/slideLayout" Target="../slideLayouts/slideLayout11.xml"/><Relationship Id="rId19" Type="http://schemas.openxmlformats.org/officeDocument/2006/relationships/slideLayout" Target="../slideLayouts/slideLayout20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Relationship Id="rId14" Type="http://schemas.openxmlformats.org/officeDocument/2006/relationships/slideLayout" Target="../slideLayouts/slideLayout15.xml"/><Relationship Id="rId22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5"/>
          <p:cNvPicPr preferRelativeResize="0"/>
          <p:nvPr/>
        </p:nvPicPr>
        <p:blipFill rotWithShape="1">
          <a:blip r:embed="rId24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5"/>
          <p:cNvSpPr txBox="1">
            <a:spLocks noGrp="1"/>
          </p:cNvSpPr>
          <p:nvPr>
            <p:ph type="title"/>
          </p:nvPr>
        </p:nvSpPr>
        <p:spPr>
          <a:xfrm>
            <a:off x="1257300" y="547688"/>
            <a:ext cx="15773400" cy="19883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Proxima Nova"/>
              <a:buNone/>
              <a:defRPr sz="4800" b="1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2" name="Google Shape;12;p5"/>
          <p:cNvSpPr txBox="1"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0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marR="0" lvl="3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marR="0" lvl="4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5"/>
          <p:cNvSpPr txBox="1">
            <a:spLocks noGrp="1"/>
          </p:cNvSpPr>
          <p:nvPr>
            <p:ph type="dt" idx="10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5"/>
          <p:cNvSpPr txBox="1">
            <a:spLocks noGrp="1"/>
          </p:cNvSpPr>
          <p:nvPr>
            <p:ph type="ftr" idx="11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" name="Google Shape;15;p5"/>
          <p:cNvSpPr txBox="1">
            <a:spLocks noGrp="1"/>
          </p:cNvSpPr>
          <p:nvPr>
            <p:ph type="sldNum" idx="12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ID" smtClean="0"/>
              <a:pPr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53101261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66" r:id="rId16"/>
    <p:sldLayoutId id="2147483667" r:id="rId17"/>
    <p:sldLayoutId id="2147483668" r:id="rId18"/>
    <p:sldLayoutId id="2147483669" r:id="rId19"/>
    <p:sldLayoutId id="2147483670" r:id="rId20"/>
    <p:sldLayoutId id="2147483671" r:id="rId21"/>
    <p:sldLayoutId id="2147483672" r:id="rId2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hyperlink" Target="https://bit.ly/ITSECAcademyTrainingCatalog2026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E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1" descr="preencoded.png"/>
          <p:cNvPicPr preferRelativeResize="0"/>
          <p:nvPr/>
        </p:nvPicPr>
        <p:blipFill rotWithShape="1">
          <a:blip r:embed="rId3">
            <a:alphaModFix/>
          </a:blip>
          <a:srcRect t="-3" b="-3"/>
          <a:stretch/>
        </p:blipFill>
        <p:spPr>
          <a:xfrm>
            <a:off x="914400" y="800100"/>
            <a:ext cx="1632496" cy="55245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1"/>
          <p:cNvSpPr/>
          <p:nvPr/>
        </p:nvSpPr>
        <p:spPr>
          <a:xfrm>
            <a:off x="914400" y="2787700"/>
            <a:ext cx="609600" cy="38100"/>
          </a:xfrm>
          <a:prstGeom prst="rect">
            <a:avLst/>
          </a:prstGeom>
          <a:solidFill>
            <a:srgbClr val="E5342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1714500" y="2644825"/>
            <a:ext cx="5148709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342B"/>
              </a:buClr>
              <a:buSzPts val="1950"/>
              <a:buFont typeface="IBM Plex Mono"/>
              <a:buNone/>
            </a:pPr>
            <a:r>
              <a:rPr lang="en-US" sz="1950" b="0" i="0" u="none" strike="noStrike" cap="none">
                <a:solidFill>
                  <a:srgbClr val="E5342B"/>
                </a:solidFill>
                <a:latin typeface="IBM Plex Mono"/>
                <a:ea typeface="IBM Plex Mono"/>
                <a:cs typeface="IBM Plex Mono"/>
                <a:sym typeface="IBM Plex Mono"/>
              </a:rPr>
              <a:t>From Experience to Excellence</a:t>
            </a:r>
            <a:endParaRPr sz="1950" b="0" i="0" u="none" strike="noStrike" cap="none">
              <a:solidFill>
                <a:srgbClr val="E5342B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914400" y="3349675"/>
            <a:ext cx="8829675" cy="30621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76696"/>
              </a:lnSpc>
              <a:spcBef>
                <a:spcPts val="0"/>
              </a:spcBef>
              <a:spcAft>
                <a:spcPts val="0"/>
              </a:spcAft>
              <a:buClr>
                <a:srgbClr val="F4F4F5"/>
              </a:buClr>
              <a:buSzPts val="8100"/>
              <a:buFont typeface="Space Grotesk"/>
              <a:buNone/>
            </a:pPr>
            <a:r>
              <a:rPr lang="en-US" sz="8100" b="1" i="0" u="none" strike="noStrike" cap="none">
                <a:solidFill>
                  <a:srgbClr val="F4F4F5"/>
                </a:solidFill>
                <a:latin typeface="Space Grotesk"/>
                <a:ea typeface="Space Grotesk"/>
                <a:cs typeface="Space Grotesk"/>
                <a:sym typeface="Space Grotesk"/>
              </a:rPr>
              <a:t>We Shape The Cybersecurity &amp; AI </a:t>
            </a:r>
            <a:r>
              <a:rPr lang="en-US" sz="8100" b="1" i="0" u="none" strike="noStrike" cap="none">
                <a:solidFill>
                  <a:srgbClr val="E5342B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Professionals</a:t>
            </a:r>
            <a:endParaRPr sz="8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914400" y="6754713"/>
            <a:ext cx="7456170" cy="1363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110476"/>
              </a:lnSpc>
              <a:spcBef>
                <a:spcPts val="0"/>
              </a:spcBef>
              <a:spcAft>
                <a:spcPts val="0"/>
              </a:spcAft>
              <a:buClr>
                <a:srgbClr val="B3B3BA"/>
              </a:buClr>
              <a:buSzPts val="2400"/>
              <a:buFont typeface="IBM Plex Sans"/>
              <a:buNone/>
            </a:pPr>
            <a:r>
              <a:rPr lang="en-US" sz="2400" b="0" i="0" u="none" strike="noStrike" cap="none">
                <a:solidFill>
                  <a:srgbClr val="B3B3BA"/>
                </a:solidFill>
                <a:latin typeface="IBM Plex Sans"/>
                <a:ea typeface="IBM Plex Sans"/>
                <a:cs typeface="IBM Plex Sans"/>
                <a:sym typeface="IBM Plex Sans"/>
              </a:rPr>
              <a:t>Defending and building Indonesia's digital future. Practitioner-led training, hands-on from day one — backed by PT ITSEC Asia Tbk (IDX: CYBR).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914400" y="9372600"/>
            <a:ext cx="405408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342B"/>
              </a:buClr>
              <a:buSzPts val="1800"/>
              <a:buFont typeface="IBM Plex Mono"/>
              <a:buNone/>
            </a:pPr>
            <a:r>
              <a:rPr lang="en-US" sz="1800" b="0" i="0" u="none" strike="noStrike" cap="none">
                <a:solidFill>
                  <a:srgbClr val="E5342B"/>
                </a:solidFill>
                <a:latin typeface="IBM Plex Mono"/>
                <a:ea typeface="IBM Plex Mono"/>
                <a:cs typeface="IBM Plex Mono"/>
                <a:sym typeface="IBM Plex Mono"/>
              </a:rPr>
              <a:t>//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1415058" y="9372600"/>
            <a:ext cx="7966338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777F"/>
              </a:buClr>
              <a:buSzPts val="1800"/>
              <a:buFont typeface="IBM Plex Mono"/>
              <a:buNone/>
            </a:pPr>
            <a:r>
              <a:rPr lang="en-US" sz="1800" b="0" i="0" u="none" strike="noStrike" cap="none">
                <a:solidFill>
                  <a:srgbClr val="77777F"/>
                </a:solidFill>
                <a:latin typeface="IBM Plex Mono"/>
                <a:ea typeface="IBM Plex Mono"/>
                <a:cs typeface="IBM Plex Mono"/>
                <a:sym typeface="IBM Plex Mono"/>
              </a:rPr>
              <a:t>WHERE TOMORROW'S DEFENDERS ARE TRAINED TODAY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" name="Google Shape;23;p1" descr="preencoded.png"/>
          <p:cNvPicPr preferRelativeResize="0"/>
          <p:nvPr/>
        </p:nvPicPr>
        <p:blipFill rotWithShape="1">
          <a:blip r:embed="rId4">
            <a:alphaModFix/>
          </a:blip>
          <a:srcRect l="22206" r="14804"/>
          <a:stretch/>
        </p:blipFill>
        <p:spPr>
          <a:xfrm>
            <a:off x="9875490" y="0"/>
            <a:ext cx="841251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1"/>
          <p:cNvSpPr/>
          <p:nvPr/>
        </p:nvSpPr>
        <p:spPr>
          <a:xfrm>
            <a:off x="9875490" y="0"/>
            <a:ext cx="8412510" cy="10287000"/>
          </a:xfrm>
          <a:prstGeom prst="rect">
            <a:avLst/>
          </a:prstGeom>
          <a:gradFill>
            <a:gsLst>
              <a:gs pos="0">
                <a:srgbClr val="0B0B0E"/>
              </a:gs>
              <a:gs pos="22000">
                <a:srgbClr val="0B0B0E">
                  <a:alpha val="54902"/>
                </a:srgbClr>
              </a:gs>
              <a:gs pos="55000">
                <a:srgbClr val="0B0B0E">
                  <a:alpha val="0"/>
                </a:srgbClr>
              </a:gs>
              <a:gs pos="100000">
                <a:srgbClr val="0B0B0E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18230850" y="0"/>
            <a:ext cx="57150" cy="10287000"/>
          </a:xfrm>
          <a:prstGeom prst="rect">
            <a:avLst/>
          </a:prstGeom>
          <a:solidFill>
            <a:srgbClr val="E5342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1"/>
          <p:cNvSpPr txBox="1">
            <a:spLocks noGrp="1"/>
          </p:cNvSpPr>
          <p:nvPr>
            <p:ph type="title"/>
          </p:nvPr>
        </p:nvSpPr>
        <p:spPr>
          <a:xfrm>
            <a:off x="2622550" y="2276784"/>
            <a:ext cx="13042901" cy="31560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38" tIns="68550" rIns="137138" bIns="68550" anchor="b" anchorCtr="0">
            <a:noAutofit/>
          </a:bodyPr>
          <a:lstStyle/>
          <a:p>
            <a:pPr>
              <a:buSzPts val="6000"/>
            </a:pPr>
            <a:r>
              <a:rPr lang="en-ID" sz="9000" dirty="0"/>
              <a:t>Introduction to Cybersecurity</a:t>
            </a:r>
            <a:endParaRPr dirty="0"/>
          </a:p>
        </p:txBody>
      </p:sp>
      <p:sp>
        <p:nvSpPr>
          <p:cNvPr id="351" name="Google Shape;351;p1"/>
          <p:cNvSpPr txBox="1">
            <a:spLocks noGrp="1"/>
          </p:cNvSpPr>
          <p:nvPr>
            <p:ph type="subTitle" idx="1"/>
          </p:nvPr>
        </p:nvSpPr>
        <p:spPr>
          <a:xfrm>
            <a:off x="2622552" y="5614398"/>
            <a:ext cx="13042899" cy="1433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38" tIns="68550" rIns="137138" bIns="68550" anchor="b" anchorCtr="0">
            <a:normAutofit lnSpcReduction="10000"/>
          </a:bodyPr>
          <a:lstStyle/>
          <a:p>
            <a:pPr marL="0" indent="0">
              <a:spcBef>
                <a:spcPts val="0"/>
              </a:spcBef>
              <a:buSzPts val="4000"/>
            </a:pPr>
            <a:r>
              <a:rPr lang="en-US" dirty="0"/>
              <a:t>Understanding Threats, Risks, and Digital Protection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2">
          <a:extLst>
            <a:ext uri="{FF2B5EF4-FFF2-40B4-BE49-F238E27FC236}">
              <a16:creationId xmlns:a16="http://schemas.microsoft.com/office/drawing/2014/main" id="{C37F1D04-1E1E-2944-B3B9-9116C403C7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169BDF4-8F1B-1E03-5A32-BD6A787F6D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580" y="750631"/>
            <a:ext cx="3952557" cy="5930284"/>
          </a:xfrm>
          <a:prstGeom prst="rect">
            <a:avLst/>
          </a:prstGeom>
        </p:spPr>
      </p:pic>
      <p:sp>
        <p:nvSpPr>
          <p:cNvPr id="7" name="Google Shape;364;g3be12095d08_0_0">
            <a:extLst>
              <a:ext uri="{FF2B5EF4-FFF2-40B4-BE49-F238E27FC236}">
                <a16:creationId xmlns:a16="http://schemas.microsoft.com/office/drawing/2014/main" id="{48EDB6C8-CF4C-13B7-718F-EB59618D84A6}"/>
              </a:ext>
            </a:extLst>
          </p:cNvPr>
          <p:cNvSpPr txBox="1">
            <a:spLocks/>
          </p:cNvSpPr>
          <p:nvPr/>
        </p:nvSpPr>
        <p:spPr>
          <a:xfrm>
            <a:off x="11490195" y="1390918"/>
            <a:ext cx="6604715" cy="8397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38" tIns="68550" rIns="137138" bIns="6855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685800" marR="0" lvl="0" indent="-5334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3000" b="1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1371600" marR="0" lvl="1" indent="-5143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2700" b="1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2057400" marR="0" lvl="2" indent="-4953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sz="2400" b="1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2743200" marR="0" lvl="3" indent="-4762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2100" b="1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3429000" marR="0" lvl="4" indent="-4762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2100" b="1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4114800" marR="0" lvl="5" indent="-5143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4800600" marR="0" lvl="6" indent="-5143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5486400" marR="0" lvl="7" indent="-5143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6172200" marR="0" lvl="8" indent="-5143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0"/>
            <a:r>
              <a:rPr lang="en-GB" sz="1300" dirty="0"/>
              <a:t>Fortinet Certified Professional – </a:t>
            </a:r>
            <a:r>
              <a:rPr lang="en-GB" sz="1300" dirty="0" err="1"/>
              <a:t>FortiWeb</a:t>
            </a:r>
            <a:r>
              <a:rPr lang="en-GB" sz="1300" dirty="0"/>
              <a:t> 7.4 Administrator Self-Paced</a:t>
            </a:r>
            <a:endParaRPr lang="en-US" sz="1300" dirty="0"/>
          </a:p>
          <a:p>
            <a:pPr lvl="0"/>
            <a:r>
              <a:rPr lang="en-GB" sz="1300" dirty="0"/>
              <a:t>Fortinet Certified Solution Specialist – Zero Trust Access 7.2 Self-Paced</a:t>
            </a:r>
            <a:endParaRPr lang="en-US" sz="1300" dirty="0"/>
          </a:p>
          <a:p>
            <a:pPr lvl="0"/>
            <a:r>
              <a:rPr lang="en-GB" sz="1300" dirty="0"/>
              <a:t>Fortinet Certified Solution Specialist – Enterprise Firewall 7.2 Self-Paced</a:t>
            </a:r>
            <a:endParaRPr lang="en-US" sz="1300" dirty="0"/>
          </a:p>
          <a:p>
            <a:pPr lvl="0"/>
            <a:r>
              <a:rPr lang="en-GB" sz="1300" dirty="0"/>
              <a:t>Fortinet Certified Solution Specialist – LAN Edge 7.0 Self-Paced</a:t>
            </a:r>
            <a:endParaRPr lang="en-US" sz="1300" dirty="0"/>
          </a:p>
          <a:p>
            <a:pPr lvl="0"/>
            <a:r>
              <a:rPr lang="en-GB" sz="1300" dirty="0"/>
              <a:t>Fortinet Certified Solution Specialist – Network Security Support Engineer 7.4 Self-Paced</a:t>
            </a:r>
            <a:endParaRPr lang="en-US" sz="1300" dirty="0"/>
          </a:p>
          <a:p>
            <a:pPr lvl="0"/>
            <a:r>
              <a:rPr lang="en-GB" sz="1300" dirty="0"/>
              <a:t>Fortinet Certified Solution Specialist – Security Operations 7.4 Analyst Self-Paced</a:t>
            </a:r>
            <a:endParaRPr lang="en-US" sz="1300" dirty="0"/>
          </a:p>
          <a:p>
            <a:r>
              <a:rPr lang="en-GB" sz="1300" dirty="0"/>
              <a:t>Fortinet Certified Professional – FortiGate 7.6 operator Self-Paced</a:t>
            </a:r>
          </a:p>
          <a:p>
            <a:pPr lvl="0"/>
            <a:r>
              <a:rPr lang="en-GB" sz="1300" dirty="0"/>
              <a:t>Palo Alto Networks Certified Cybersecurity Practitioner</a:t>
            </a:r>
          </a:p>
          <a:p>
            <a:pPr lvl="0"/>
            <a:r>
              <a:rPr lang="en-GB" sz="1300" dirty="0"/>
              <a:t>Palo Alto Networks Certified Cybersecurity Apprentice</a:t>
            </a:r>
          </a:p>
          <a:p>
            <a:pPr lvl="0"/>
            <a:r>
              <a:rPr lang="en-GB" sz="1300" dirty="0"/>
              <a:t>Palo Alto Networks Certified Cloud Security Professional</a:t>
            </a:r>
          </a:p>
          <a:p>
            <a:pPr lvl="0"/>
            <a:r>
              <a:rPr lang="en-GB" sz="1300" dirty="0"/>
              <a:t>Palo Alto Networks Security Operations</a:t>
            </a:r>
          </a:p>
          <a:p>
            <a:pPr lvl="0"/>
            <a:r>
              <a:rPr lang="en-GB" sz="1300" dirty="0"/>
              <a:t>Palo Alto Networks Cortex XSIAM: Concepts</a:t>
            </a:r>
          </a:p>
          <a:p>
            <a:pPr lvl="0"/>
            <a:r>
              <a:rPr lang="en-GB" sz="1300" dirty="0"/>
              <a:t>Palo Alto Networks Threat Investigations</a:t>
            </a:r>
          </a:p>
          <a:p>
            <a:pPr lvl="0"/>
            <a:r>
              <a:rPr lang="en-GB" sz="1300" dirty="0"/>
              <a:t>AWS – Cloud Practitioner Essentials</a:t>
            </a:r>
          </a:p>
          <a:p>
            <a:pPr lvl="0"/>
            <a:r>
              <a:rPr lang="en-GB" sz="1300" dirty="0"/>
              <a:t>AWS – Solution Architect</a:t>
            </a:r>
          </a:p>
          <a:p>
            <a:pPr lvl="0"/>
            <a:r>
              <a:rPr lang="en-GB" sz="1300" dirty="0"/>
              <a:t>AWS – Identity and Access Management (IAM) </a:t>
            </a:r>
          </a:p>
          <a:p>
            <a:r>
              <a:rPr lang="en-GB" sz="1300" dirty="0"/>
              <a:t>Cisco Network Academy – Junior Cybersecurity </a:t>
            </a:r>
            <a:r>
              <a:rPr lang="en-GB" sz="1300" dirty="0" err="1"/>
              <a:t>Analsyt</a:t>
            </a:r>
            <a:endParaRPr lang="en-GB" sz="1300" dirty="0"/>
          </a:p>
          <a:p>
            <a:pPr lvl="0"/>
            <a:r>
              <a:rPr lang="en-GB" sz="1300" dirty="0"/>
              <a:t>Splunk  – Security Operations and the </a:t>
            </a:r>
            <a:r>
              <a:rPr lang="en-GB" sz="1300" dirty="0" err="1"/>
              <a:t>Defense</a:t>
            </a:r>
            <a:r>
              <a:rPr lang="en-GB" sz="1300" dirty="0"/>
              <a:t> Analyst</a:t>
            </a:r>
            <a:endParaRPr lang="en-US" sz="1300" dirty="0"/>
          </a:p>
          <a:p>
            <a:pPr lvl="0"/>
            <a:r>
              <a:rPr lang="en-GB" sz="1300" dirty="0"/>
              <a:t>Splunk  – Cybersecurity Awareness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2A6F731-E844-83C4-F0CF-0334A4885C8B}"/>
              </a:ext>
            </a:extLst>
          </p:cNvPr>
          <p:cNvSpPr txBox="1"/>
          <p:nvPr/>
        </p:nvSpPr>
        <p:spPr>
          <a:xfrm>
            <a:off x="413734" y="7321202"/>
            <a:ext cx="4143777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dirty="0">
                <a:solidFill>
                  <a:schemeClr val="bg1"/>
                </a:solidFill>
                <a:effectLst/>
                <a:latin typeface="Proxima Nova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Versatile Network Engineer and Security Analyst with 5+ years of experience in designing, securing, and optimizing enterprise IT infrastructures. Proven expertise in aviation industry networking (wired, wireless, IoT, AR/VR, MPLS, BGP, OSPF) and cybersecurity operations (SIEM: Elastic, IBM </a:t>
            </a:r>
            <a:r>
              <a:rPr lang="en-GB" sz="1400" dirty="0" err="1">
                <a:solidFill>
                  <a:schemeClr val="bg1"/>
                </a:solidFill>
                <a:effectLst/>
                <a:latin typeface="Proxima Nova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QRadar</a:t>
            </a:r>
            <a:r>
              <a:rPr lang="en-GB" sz="1400" dirty="0">
                <a:solidFill>
                  <a:schemeClr val="bg1"/>
                </a:solidFill>
                <a:effectLst/>
                <a:latin typeface="Proxima Nova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; XDR: </a:t>
            </a:r>
            <a:r>
              <a:rPr lang="en-GB" sz="1400" dirty="0" err="1">
                <a:solidFill>
                  <a:schemeClr val="bg1"/>
                </a:solidFill>
                <a:effectLst/>
                <a:latin typeface="Proxima Nova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Trellix</a:t>
            </a:r>
            <a:r>
              <a:rPr lang="en-GB" sz="1400" dirty="0">
                <a:solidFill>
                  <a:schemeClr val="bg1"/>
                </a:solidFill>
                <a:effectLst/>
                <a:latin typeface="Proxima Nova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; FortiGate NGFW; Sophos Central). Adept at supporting mission-critical systems, enhancing operational resilience, and safeguarding environments against evolving cyber threats.</a:t>
            </a:r>
            <a:endParaRPr lang="en-US" dirty="0">
              <a:solidFill>
                <a:schemeClr val="bg1"/>
              </a:solidFill>
              <a:latin typeface="Proxima Nova" panose="020B060402020202020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591FAE8-01DD-1ACE-6B30-249DDAEA89FF}"/>
              </a:ext>
            </a:extLst>
          </p:cNvPr>
          <p:cNvSpPr txBox="1"/>
          <p:nvPr/>
        </p:nvSpPr>
        <p:spPr>
          <a:xfrm>
            <a:off x="1314625" y="6849434"/>
            <a:ext cx="26884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i="1" dirty="0">
                <a:solidFill>
                  <a:schemeClr val="bg1"/>
                </a:solidFill>
                <a:effectLst/>
                <a:latin typeface="Proxima Nova" panose="020B060402020202020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Security Analyst at ITSEC Asia</a:t>
            </a:r>
            <a:endParaRPr lang="en-US" i="1" dirty="0">
              <a:solidFill>
                <a:schemeClr val="bg1"/>
              </a:solidFill>
              <a:latin typeface="Proxima Nova" panose="020B0604020202020204" charset="0"/>
            </a:endParaRPr>
          </a:p>
        </p:txBody>
      </p:sp>
      <p:sp>
        <p:nvSpPr>
          <p:cNvPr id="10" name="Google Shape;364;g3be12095d08_0_0">
            <a:extLst>
              <a:ext uri="{FF2B5EF4-FFF2-40B4-BE49-F238E27FC236}">
                <a16:creationId xmlns:a16="http://schemas.microsoft.com/office/drawing/2014/main" id="{1E34E2F8-0C4C-9DB1-5A1F-327E595B1D22}"/>
              </a:ext>
            </a:extLst>
          </p:cNvPr>
          <p:cNvSpPr txBox="1">
            <a:spLocks/>
          </p:cNvSpPr>
          <p:nvPr/>
        </p:nvSpPr>
        <p:spPr>
          <a:xfrm>
            <a:off x="4496614" y="1390918"/>
            <a:ext cx="6915955" cy="8397026"/>
          </a:xfrm>
          <a:prstGeom prst="rect">
            <a:avLst/>
          </a:prstGeom>
        </p:spPr>
        <p:txBody>
          <a:bodyPr spcFirstLastPara="1" wrap="square" lIns="137138" tIns="68550" rIns="137138" bIns="6855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685800" marR="0" lvl="0" indent="-533400" algn="l" defTabSz="914400" rtl="0" eaLnBrk="1" fontAlgn="auto" latinLnBrk="0" hangingPunct="1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Char char="•"/>
              <a:tabLst/>
              <a:defRPr/>
            </a:pPr>
            <a:r>
              <a:rPr kumimoji="0" lang="en-US" sz="13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oxima Nova"/>
                <a:cs typeface="Proxima Nova"/>
                <a:sym typeface="Proxima Nova"/>
              </a:rPr>
              <a:t>Proofpoint Certified AI Email Security Specialist</a:t>
            </a:r>
          </a:p>
          <a:p>
            <a:pPr marL="685800" marR="0" lvl="0" indent="-533400" algn="l" defTabSz="914400" rtl="0" eaLnBrk="1" fontAlgn="auto" latinLnBrk="0" hangingPunct="1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Char char="•"/>
              <a:tabLst/>
              <a:defRPr/>
            </a:pPr>
            <a:r>
              <a:rPr kumimoji="0" lang="en-US" sz="13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oxima Nova"/>
                <a:cs typeface="Proxima Nova"/>
                <a:sym typeface="Proxima Nova"/>
              </a:rPr>
              <a:t>Proofpoint Certified AI Agent Security Specialist</a:t>
            </a:r>
          </a:p>
          <a:p>
            <a:pPr marL="685800" marR="0" lvl="0" indent="-533400" algn="l" defTabSz="914400" rtl="0" eaLnBrk="1" fontAlgn="auto" latinLnBrk="0" hangingPunct="1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Char char="•"/>
              <a:tabLst/>
              <a:defRPr/>
            </a:pPr>
            <a:r>
              <a:rPr kumimoji="0" lang="en-US" sz="13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oxima Nova"/>
                <a:cs typeface="Proxima Nova"/>
                <a:sym typeface="Proxima Nova"/>
              </a:rPr>
              <a:t>Proofpoint Certified Email Identity Protection Specialist</a:t>
            </a:r>
          </a:p>
          <a:p>
            <a:pPr marL="685800" marR="0" lvl="0" indent="-533400" algn="l" defTabSz="914400" rtl="0" eaLnBrk="1" fontAlgn="auto" latinLnBrk="0" hangingPunct="1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Char char="•"/>
              <a:tabLst/>
              <a:defRPr/>
            </a:pPr>
            <a:r>
              <a:rPr kumimoji="0" lang="en-US" sz="13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oxima Nova"/>
                <a:cs typeface="Proxima Nova"/>
                <a:sym typeface="Proxima Nova"/>
              </a:rPr>
              <a:t>ISO/IEC 27001:2022 Information Security Associate</a:t>
            </a:r>
          </a:p>
          <a:p>
            <a:pPr marL="685800" marR="0" lvl="0" indent="-533400" algn="l" defTabSz="914400" rtl="0" eaLnBrk="1" fontAlgn="auto" latinLnBrk="0" hangingPunct="1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Char char="•"/>
              <a:tabLst/>
              <a:defRPr/>
            </a:pPr>
            <a:r>
              <a:rPr kumimoji="0" lang="en-US" sz="13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oxima Nova"/>
                <a:cs typeface="Proxima Nova"/>
                <a:sym typeface="Proxima Nova"/>
              </a:rPr>
              <a:t>EC Council - ISO/IEC 27001: Information Security Management</a:t>
            </a:r>
          </a:p>
          <a:p>
            <a:pPr marL="685800" marR="0" lvl="0" indent="-533400" algn="l" defTabSz="914400" rtl="0" eaLnBrk="1" fontAlgn="auto" latinLnBrk="0" hangingPunct="1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Char char="•"/>
              <a:tabLst/>
              <a:defRPr/>
            </a:pPr>
            <a:r>
              <a:rPr kumimoji="0" lang="en-US" sz="13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oxima Nova"/>
                <a:cs typeface="Proxima Nova"/>
                <a:sym typeface="Proxima Nova"/>
              </a:rPr>
              <a:t>EC Council - Information Security Risk Management (ISO 27005)</a:t>
            </a:r>
          </a:p>
          <a:p>
            <a:pPr marL="685800" marR="0" lvl="0" indent="-533400" algn="l" defTabSz="914400" rtl="0" eaLnBrk="1" fontAlgn="auto" latinLnBrk="0" hangingPunct="1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Char char="•"/>
              <a:tabLst/>
              <a:defRPr/>
            </a:pPr>
            <a:r>
              <a:rPr kumimoji="0" lang="en-US" sz="13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oxima Nova"/>
                <a:cs typeface="Proxima Nova"/>
                <a:sym typeface="Proxima Nova"/>
              </a:rPr>
              <a:t>EC Council - Master Exploitation Analysis Assessment</a:t>
            </a:r>
          </a:p>
          <a:p>
            <a:pPr marL="685800" marR="0" lvl="0" indent="-533400" algn="l" defTabSz="914400" rtl="0" eaLnBrk="1" fontAlgn="auto" latinLnBrk="0" hangingPunct="1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Char char="•"/>
              <a:tabLst/>
              <a:defRPr/>
            </a:pPr>
            <a:r>
              <a:rPr kumimoji="0" lang="en-US" sz="13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oxima Nova"/>
                <a:cs typeface="Proxima Nova"/>
                <a:sym typeface="Proxima Nova"/>
              </a:rPr>
              <a:t>EC Council - Cyber Deception Demystified</a:t>
            </a:r>
          </a:p>
          <a:p>
            <a:pPr marL="685800" marR="0" lvl="0" indent="-533400" algn="l" defTabSz="914400" rtl="0" eaLnBrk="1" fontAlgn="auto" latinLnBrk="0" hangingPunct="1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Char char="•"/>
              <a:tabLst/>
              <a:defRPr/>
            </a:pPr>
            <a:r>
              <a:rPr kumimoji="0" lang="en-GB" sz="13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oxima Nova"/>
                <a:cs typeface="Proxima Nova"/>
                <a:sym typeface="Proxima Nova"/>
              </a:rPr>
              <a:t>Certified in Cybersecurity by ISC2</a:t>
            </a:r>
            <a:endParaRPr kumimoji="0" lang="en-US" sz="13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oxima Nova"/>
              <a:cs typeface="Proxima Nova"/>
              <a:sym typeface="Proxima Nova"/>
            </a:endParaRPr>
          </a:p>
          <a:p>
            <a:pPr marL="685800" marR="0" lvl="0" indent="-533400" algn="l" defTabSz="914400" rtl="0" eaLnBrk="1" fontAlgn="auto" latinLnBrk="0" hangingPunct="1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Char char="•"/>
              <a:tabLst/>
              <a:defRPr/>
            </a:pPr>
            <a:r>
              <a:rPr kumimoji="0" lang="en-GB" sz="13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oxima Nova"/>
                <a:cs typeface="Proxima Nova"/>
                <a:sym typeface="Proxima Nova"/>
              </a:rPr>
              <a:t>Fortinet - NSE 3</a:t>
            </a:r>
            <a:endParaRPr kumimoji="0" lang="en-US" sz="13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oxima Nova"/>
              <a:cs typeface="Proxima Nova"/>
              <a:sym typeface="Proxima Nova"/>
            </a:endParaRPr>
          </a:p>
          <a:p>
            <a:pPr marL="685800" marR="0" lvl="0" indent="-533400" algn="l" defTabSz="914400" rtl="0" eaLnBrk="1" fontAlgn="auto" latinLnBrk="0" hangingPunct="1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Char char="•"/>
              <a:tabLst/>
              <a:defRPr/>
            </a:pPr>
            <a:r>
              <a:rPr kumimoji="0" lang="en-GB" sz="13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oxima Nova"/>
                <a:cs typeface="Proxima Nova"/>
                <a:sym typeface="Proxima Nova"/>
              </a:rPr>
              <a:t>Fortinet Certified Associate in Cybersecurity</a:t>
            </a:r>
          </a:p>
          <a:p>
            <a:pPr marL="685800" marR="0" lvl="0" indent="-533400" algn="l" defTabSz="914400" rtl="0" eaLnBrk="1" fontAlgn="auto" latinLnBrk="0" hangingPunct="1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Char char="•"/>
              <a:tabLst/>
              <a:defRPr/>
            </a:pPr>
            <a:r>
              <a:rPr kumimoji="0" lang="en-GB" sz="13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oxima Nova"/>
                <a:cs typeface="Proxima Nova"/>
                <a:sym typeface="Proxima Nova"/>
              </a:rPr>
              <a:t>Fortinet Certified Fundamental – Introduction to the Threat Landscape 2.0 Self-Paced</a:t>
            </a:r>
            <a:endParaRPr kumimoji="0" lang="en-US" sz="13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oxima Nova"/>
              <a:cs typeface="Proxima Nova"/>
              <a:sym typeface="Proxima Nova"/>
            </a:endParaRPr>
          </a:p>
          <a:p>
            <a:pPr marL="685800" marR="0" lvl="0" indent="-533400" algn="l" defTabSz="914400" rtl="0" eaLnBrk="1" fontAlgn="auto" latinLnBrk="0" hangingPunct="1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Char char="•"/>
              <a:tabLst/>
              <a:defRPr/>
            </a:pPr>
            <a:r>
              <a:rPr kumimoji="0" lang="en-GB" sz="13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oxima Nova"/>
                <a:cs typeface="Proxima Nova"/>
                <a:sym typeface="Proxima Nova"/>
              </a:rPr>
              <a:t>Fortinet Certified Professional – </a:t>
            </a:r>
            <a:r>
              <a:rPr kumimoji="0" lang="en-GB" sz="1300" b="1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oxima Nova"/>
                <a:cs typeface="Proxima Nova"/>
                <a:sym typeface="Proxima Nova"/>
              </a:rPr>
              <a:t>FortiAnalyzer</a:t>
            </a:r>
            <a:r>
              <a:rPr kumimoji="0" lang="en-GB" sz="13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oxima Nova"/>
                <a:cs typeface="Proxima Nova"/>
                <a:sym typeface="Proxima Nova"/>
              </a:rPr>
              <a:t> 7.4 Analyst Self-Paced</a:t>
            </a:r>
            <a:endParaRPr kumimoji="0" lang="en-US" sz="13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oxima Nova"/>
              <a:cs typeface="Proxima Nova"/>
              <a:sym typeface="Proxima Nova"/>
            </a:endParaRPr>
          </a:p>
          <a:p>
            <a:pPr marL="685800" marR="0" lvl="0" indent="-533400" algn="l" defTabSz="914400" rtl="0" eaLnBrk="1" fontAlgn="auto" latinLnBrk="0" hangingPunct="1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Char char="•"/>
              <a:tabLst/>
              <a:defRPr/>
            </a:pPr>
            <a:r>
              <a:rPr kumimoji="0" lang="en-GB" sz="13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oxima Nova"/>
                <a:cs typeface="Proxima Nova"/>
                <a:sym typeface="Proxima Nova"/>
              </a:rPr>
              <a:t>Fortinet Certified Professional – FortiGate 7.4 </a:t>
            </a:r>
            <a:r>
              <a:rPr kumimoji="0" lang="en-GB" sz="1300" b="1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oxima Nova"/>
                <a:cs typeface="Proxima Nova"/>
                <a:sym typeface="Proxima Nova"/>
              </a:rPr>
              <a:t>Adiministrator</a:t>
            </a:r>
            <a:r>
              <a:rPr kumimoji="0" lang="en-GB" sz="13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oxima Nova"/>
                <a:cs typeface="Proxima Nova"/>
                <a:sym typeface="Proxima Nova"/>
              </a:rPr>
              <a:t> Self-Paced</a:t>
            </a:r>
            <a:endParaRPr kumimoji="0" lang="en-US" sz="13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oxima Nova"/>
              <a:cs typeface="Proxima Nova"/>
              <a:sym typeface="Proxima Nova"/>
            </a:endParaRPr>
          </a:p>
          <a:p>
            <a:pPr marL="685800" marR="0" lvl="0" indent="-533400" algn="l" defTabSz="914400" rtl="0" eaLnBrk="1" fontAlgn="auto" latinLnBrk="0" hangingPunct="1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Char char="•"/>
              <a:tabLst/>
              <a:defRPr/>
            </a:pPr>
            <a:r>
              <a:rPr kumimoji="0" lang="en-GB" sz="13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oxima Nova"/>
                <a:cs typeface="Proxima Nova"/>
                <a:sym typeface="Proxima Nova"/>
              </a:rPr>
              <a:t>Fortinet Certified Professional – </a:t>
            </a:r>
            <a:r>
              <a:rPr kumimoji="0" lang="en-GB" sz="1300" b="1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oxima Nova"/>
                <a:cs typeface="Proxima Nova"/>
                <a:sym typeface="Proxima Nova"/>
              </a:rPr>
              <a:t>FortiManager</a:t>
            </a:r>
            <a:r>
              <a:rPr kumimoji="0" lang="en-GB" sz="13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oxima Nova"/>
                <a:cs typeface="Proxima Nova"/>
                <a:sym typeface="Proxima Nova"/>
              </a:rPr>
              <a:t> 7.6 Administrator Self-Paced</a:t>
            </a:r>
            <a:endParaRPr kumimoji="0" lang="en-US" sz="13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oxima Nova"/>
              <a:cs typeface="Proxima Nova"/>
              <a:sym typeface="Proxima Nova"/>
            </a:endParaRPr>
          </a:p>
          <a:p>
            <a:pPr marL="685800" marR="0" lvl="0" indent="-533400" algn="l" defTabSz="914400" rtl="0" eaLnBrk="1" fontAlgn="auto" latinLnBrk="0" hangingPunct="1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Char char="•"/>
              <a:tabLst/>
              <a:defRPr/>
            </a:pPr>
            <a:r>
              <a:rPr kumimoji="0" lang="en-GB" sz="13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oxima Nova"/>
                <a:cs typeface="Proxima Nova"/>
                <a:sym typeface="Proxima Nova"/>
              </a:rPr>
              <a:t>Fortinet Certified Professional – FortiGate 7.4 Administrator Self-Paced</a:t>
            </a:r>
            <a:endParaRPr kumimoji="0" lang="en-US" sz="13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oxima Nova"/>
              <a:cs typeface="Proxima Nova"/>
              <a:sym typeface="Proxima Nova"/>
            </a:endParaRPr>
          </a:p>
          <a:p>
            <a:pPr marL="685800" marR="0" lvl="0" indent="-533400" algn="l" defTabSz="914400" rtl="0" eaLnBrk="1" fontAlgn="auto" latinLnBrk="0" hangingPunct="1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Char char="•"/>
              <a:tabLst/>
              <a:defRPr/>
            </a:pPr>
            <a:r>
              <a:rPr kumimoji="0" lang="en-GB" sz="13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oxima Nova"/>
                <a:cs typeface="Proxima Nova"/>
                <a:sym typeface="Proxima Nova"/>
              </a:rPr>
              <a:t>Fortinet Certified Professional – FortiGate Security 7.2 Self-Paced</a:t>
            </a:r>
            <a:endParaRPr kumimoji="0" lang="en-US" sz="13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oxima Nova"/>
              <a:cs typeface="Proxima Nova"/>
              <a:sym typeface="Proxima Nova"/>
            </a:endParaRPr>
          </a:p>
          <a:p>
            <a:pPr marL="685800" marR="0" lvl="0" indent="-533400" algn="l" defTabSz="914400" rtl="0" eaLnBrk="1" fontAlgn="auto" latinLnBrk="0" hangingPunct="1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Char char="•"/>
              <a:tabLst/>
              <a:defRPr/>
            </a:pPr>
            <a:r>
              <a:rPr kumimoji="0" lang="en-GB" sz="13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oxima Nova"/>
                <a:cs typeface="Proxima Nova"/>
                <a:sym typeface="Proxima Nova"/>
              </a:rPr>
              <a:t>Fortinet Certified Professional – FortiGate Security 7.2 Self-Paced</a:t>
            </a:r>
            <a:endParaRPr kumimoji="0" lang="en-US" sz="13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oxima Nova"/>
              <a:cs typeface="Proxima Nova"/>
              <a:sym typeface="Proxima Nova"/>
            </a:endParaRPr>
          </a:p>
          <a:p>
            <a:pPr marL="685800" marR="0" lvl="0" indent="-533400" algn="l" defTabSz="914400" rtl="0" eaLnBrk="1" fontAlgn="auto" latinLnBrk="0" hangingPunct="1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Char char="•"/>
              <a:tabLst/>
              <a:defRPr/>
            </a:pPr>
            <a:r>
              <a:rPr kumimoji="0" lang="en-GB" sz="13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oxima Nova"/>
                <a:cs typeface="Proxima Nova"/>
                <a:sym typeface="Proxima Nova"/>
              </a:rPr>
              <a:t>Fortinet Certified Professional – </a:t>
            </a:r>
            <a:r>
              <a:rPr kumimoji="0" lang="en-GB" sz="1300" b="1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oxima Nova"/>
                <a:cs typeface="Proxima Nova"/>
                <a:sym typeface="Proxima Nova"/>
              </a:rPr>
              <a:t>Securte</a:t>
            </a:r>
            <a:r>
              <a:rPr kumimoji="0" lang="en-GB" sz="13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oxima Nova"/>
                <a:cs typeface="Proxima Nova"/>
                <a:sym typeface="Proxima Nova"/>
              </a:rPr>
              <a:t> Wireless LAN 7.4 Administrator Self-Paced</a:t>
            </a:r>
            <a:endParaRPr kumimoji="0" lang="en-US" sz="13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oxima Nova"/>
              <a:cs typeface="Proxima Nova"/>
              <a:sym typeface="Proxima Nova"/>
            </a:endParaRPr>
          </a:p>
          <a:p>
            <a:pPr marL="685800" marR="0" lvl="0" indent="-533400" algn="l" defTabSz="914400" rtl="0" eaLnBrk="1" fontAlgn="auto" latinLnBrk="0" hangingPunct="1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Char char="•"/>
              <a:tabLst/>
              <a:defRPr/>
            </a:pPr>
            <a:r>
              <a:rPr kumimoji="0" lang="en-GB" sz="13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oxima Nova"/>
                <a:cs typeface="Proxima Nova"/>
                <a:sym typeface="Proxima Nova"/>
              </a:rPr>
              <a:t>Fortinet Certified Professional – </a:t>
            </a:r>
            <a:r>
              <a:rPr kumimoji="0" lang="en-GB" sz="1300" b="1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oxima Nova"/>
                <a:cs typeface="Proxima Nova"/>
                <a:sym typeface="Proxima Nova"/>
              </a:rPr>
              <a:t>FortiManager</a:t>
            </a:r>
            <a:r>
              <a:rPr kumimoji="0" lang="en-GB" sz="13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oxima Nova"/>
                <a:cs typeface="Proxima Nova"/>
                <a:sym typeface="Proxima Nova"/>
              </a:rPr>
              <a:t> 7.4 Administrator Self-Paced</a:t>
            </a:r>
            <a:endParaRPr kumimoji="0" lang="en-US" sz="13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oxima Nova"/>
              <a:cs typeface="Proxima Nova"/>
              <a:sym typeface="Proxima Nova"/>
            </a:endParaRPr>
          </a:p>
          <a:p>
            <a:pPr marL="685800" marR="0" lvl="0" indent="-533400" algn="l" defTabSz="914400" rtl="0" eaLnBrk="1" fontAlgn="auto" latinLnBrk="0" hangingPunct="1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Char char="•"/>
              <a:tabLst/>
              <a:defRPr/>
            </a:pPr>
            <a:r>
              <a:rPr kumimoji="0" lang="en-GB" sz="13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oxima Nova"/>
                <a:cs typeface="Proxima Nova"/>
                <a:sym typeface="Proxima Nova"/>
              </a:rPr>
              <a:t>Fortinet Certified Professional – </a:t>
            </a:r>
            <a:r>
              <a:rPr kumimoji="0" lang="en-GB" sz="1300" b="1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oxima Nova"/>
                <a:cs typeface="Proxima Nova"/>
                <a:sym typeface="Proxima Nova"/>
              </a:rPr>
              <a:t>FortiSOAR</a:t>
            </a:r>
            <a:r>
              <a:rPr kumimoji="0" lang="en-GB" sz="13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oxima Nova"/>
                <a:cs typeface="Proxima Nova"/>
                <a:sym typeface="Proxima Nova"/>
              </a:rPr>
              <a:t> 7.3 Administrator Self-Paced</a:t>
            </a:r>
          </a:p>
        </p:txBody>
      </p:sp>
    </p:spTree>
    <p:extLst>
      <p:ext uri="{BB962C8B-B14F-4D97-AF65-F5344CB8AC3E}">
        <p14:creationId xmlns:p14="http://schemas.microsoft.com/office/powerpoint/2010/main" val="32863645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2">
          <a:extLst>
            <a:ext uri="{FF2B5EF4-FFF2-40B4-BE49-F238E27FC236}">
              <a16:creationId xmlns:a16="http://schemas.microsoft.com/office/drawing/2014/main" id="{F4520C21-180A-3D78-4311-83419368D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3be12095d08_0_0">
            <a:extLst>
              <a:ext uri="{FF2B5EF4-FFF2-40B4-BE49-F238E27FC236}">
                <a16:creationId xmlns:a16="http://schemas.microsoft.com/office/drawing/2014/main" id="{1F5B7A62-3560-7C03-9E96-94437E872605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828800" y="1820711"/>
            <a:ext cx="7315200" cy="785813"/>
          </a:xfrm>
          <a:prstGeom prst="rect">
            <a:avLst/>
          </a:prstGeom>
        </p:spPr>
        <p:txBody>
          <a:bodyPr spcFirstLastPara="1" wrap="square" lIns="137138" tIns="68550" rIns="137138" bIns="68550" anchor="t" anchorCtr="0">
            <a:normAutofit fontScale="90000"/>
          </a:bodyPr>
          <a:lstStyle/>
          <a:p>
            <a:r>
              <a:rPr lang="en-US" dirty="0"/>
              <a:t>Learning Objectives</a:t>
            </a:r>
            <a:endParaRPr dirty="0">
              <a:solidFill>
                <a:schemeClr val="bg1"/>
              </a:solidFill>
              <a:latin typeface="Proxima Nova" panose="020B0604020202020204" charset="0"/>
            </a:endParaRPr>
          </a:p>
        </p:txBody>
      </p:sp>
      <p:sp>
        <p:nvSpPr>
          <p:cNvPr id="364" name="Google Shape;364;g3be12095d08_0_0">
            <a:extLst>
              <a:ext uri="{FF2B5EF4-FFF2-40B4-BE49-F238E27FC236}">
                <a16:creationId xmlns:a16="http://schemas.microsoft.com/office/drawing/2014/main" id="{D9521EE0-FA4C-2459-C68F-A34B0BED94F6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2163651" y="3800735"/>
            <a:ext cx="14463991" cy="4665554"/>
          </a:xfrm>
          <a:prstGeom prst="rect">
            <a:avLst/>
          </a:prstGeom>
        </p:spPr>
        <p:txBody>
          <a:bodyPr spcFirstLastPara="1" wrap="square" lIns="137138" tIns="68550" rIns="137138" bIns="68550" anchor="t" anchorCtr="0">
            <a:normAutofit/>
          </a:bodyPr>
          <a:lstStyle/>
          <a:p>
            <a:pPr lvl="0"/>
            <a:r>
              <a:rPr lang="en-US" sz="3200" dirty="0"/>
              <a:t>Explain why cybersecurity matters to individuals and organizations.</a:t>
            </a:r>
          </a:p>
          <a:p>
            <a:pPr lvl="0"/>
            <a:r>
              <a:rPr lang="en-US" sz="3200" dirty="0"/>
              <a:t>Understand the CIA Triad and AAA security principles.</a:t>
            </a:r>
          </a:p>
          <a:p>
            <a:pPr lvl="0"/>
            <a:r>
              <a:rPr lang="en-US" sz="3200" dirty="0"/>
              <a:t>Identify common cyber threats, vulnerabilities, and attack patterns.</a:t>
            </a:r>
          </a:p>
          <a:p>
            <a:pPr lvl="0"/>
            <a:r>
              <a:rPr lang="en-US" sz="3200" dirty="0"/>
              <a:t>Understand basic Identity and Access Management concepts.</a:t>
            </a:r>
          </a:p>
          <a:p>
            <a:pPr lvl="0"/>
            <a:r>
              <a:rPr lang="en-US" sz="3200" dirty="0"/>
              <a:t>Explain fundamental network security concepts. </a:t>
            </a:r>
          </a:p>
          <a:p>
            <a:pPr lvl="0"/>
            <a:r>
              <a:rPr lang="en-US" sz="3200" dirty="0"/>
              <a:t>Understand the role of monitoring and incident response.</a:t>
            </a:r>
          </a:p>
          <a:p>
            <a:pPr lvl="0"/>
            <a:r>
              <a:rPr lang="en-US" sz="3200" dirty="0"/>
              <a:t>Recognize how Artificial Intelligence affects modern cybersecurity.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84DB09-004C-CC08-6788-397BE53F0CC8}"/>
              </a:ext>
            </a:extLst>
          </p:cNvPr>
          <p:cNvSpPr txBox="1"/>
          <p:nvPr/>
        </p:nvSpPr>
        <p:spPr>
          <a:xfrm>
            <a:off x="2305318" y="2458375"/>
            <a:ext cx="1035461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</a:rPr>
              <a:t>What You Will Understand by the End of This Session</a:t>
            </a:r>
            <a:endParaRPr lang="en-US" sz="2000" i="1" dirty="0">
              <a:solidFill>
                <a:schemeClr val="bg1"/>
              </a:solidFill>
              <a:latin typeface="Proxima Nova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98378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3be12095d08_0_0"/>
          <p:cNvSpPr txBox="1">
            <a:spLocks noGrp="1"/>
          </p:cNvSpPr>
          <p:nvPr>
            <p:ph type="title" idx="4294967295"/>
          </p:nvPr>
        </p:nvSpPr>
        <p:spPr>
          <a:xfrm>
            <a:off x="5951288" y="1849834"/>
            <a:ext cx="7315200" cy="785813"/>
          </a:xfrm>
          <a:prstGeom prst="rect">
            <a:avLst/>
          </a:prstGeom>
        </p:spPr>
        <p:txBody>
          <a:bodyPr spcFirstLastPara="1" wrap="square" lIns="137138" tIns="68550" rIns="137138" bIns="68550" anchor="t" anchorCtr="0">
            <a:normAutofit fontScale="90000"/>
          </a:bodyPr>
          <a:lstStyle/>
          <a:p>
            <a:r>
              <a:rPr lang="en-US" dirty="0">
                <a:solidFill>
                  <a:schemeClr val="bg1"/>
                </a:solidFill>
                <a:latin typeface="Proxima Nova" panose="020B0604020202020204" charset="0"/>
                <a:ea typeface="Aptos Display" pitchFamily="34" charset="-122"/>
                <a:cs typeface="Aptos Display" pitchFamily="34" charset="-120"/>
              </a:rPr>
              <a:t>Why Cybersecurity Matters</a:t>
            </a:r>
            <a:endParaRPr dirty="0">
              <a:solidFill>
                <a:schemeClr val="bg1"/>
              </a:solidFill>
              <a:latin typeface="Proxima Nova" panose="020B0604020202020204" charset="0"/>
            </a:endParaRPr>
          </a:p>
        </p:txBody>
      </p:sp>
      <p:sp>
        <p:nvSpPr>
          <p:cNvPr id="364" name="Google Shape;364;g3be12095d08_0_0"/>
          <p:cNvSpPr txBox="1">
            <a:spLocks noGrp="1"/>
          </p:cNvSpPr>
          <p:nvPr>
            <p:ph type="body" idx="4294967295"/>
          </p:nvPr>
        </p:nvSpPr>
        <p:spPr>
          <a:xfrm>
            <a:off x="2163651" y="3800735"/>
            <a:ext cx="15563850" cy="1852613"/>
          </a:xfrm>
          <a:prstGeom prst="rect">
            <a:avLst/>
          </a:prstGeom>
        </p:spPr>
        <p:txBody>
          <a:bodyPr spcFirstLastPara="1" wrap="square" lIns="137138" tIns="68550" rIns="137138" bIns="68550" anchor="t" anchorCtr="0">
            <a:normAutofit/>
          </a:bodyPr>
          <a:lstStyle/>
          <a:p>
            <a:pPr marL="0" indent="0">
              <a:buNone/>
            </a:pPr>
            <a:r>
              <a:rPr lang="en-US" sz="3200" b="0" dirty="0">
                <a:solidFill>
                  <a:schemeClr val="bg1"/>
                </a:solidFill>
              </a:rPr>
              <a:t>As services move to web, cloud, mobile, and remote access, every identity, endpoint, application, and third-party connection becomes part of the attack surface.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B17AA4-6CD9-C5A6-B047-349964A4A62C}"/>
              </a:ext>
            </a:extLst>
          </p:cNvPr>
          <p:cNvSpPr txBox="1"/>
          <p:nvPr/>
        </p:nvSpPr>
        <p:spPr>
          <a:xfrm>
            <a:off x="4533363" y="2546069"/>
            <a:ext cx="1035461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000" i="1" dirty="0">
                <a:solidFill>
                  <a:schemeClr val="bg1"/>
                </a:solidFill>
                <a:latin typeface="Proxima Nova" panose="020B0604020202020204" charset="0"/>
              </a:rPr>
              <a:t>“Cybersecurity is about protecting people, information, Environments and organizations.”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F82A5E78-21A6-EC6D-3CA6-05EA25ED4243}"/>
              </a:ext>
            </a:extLst>
          </p:cNvPr>
          <p:cNvGrpSpPr/>
          <p:nvPr/>
        </p:nvGrpSpPr>
        <p:grpSpPr>
          <a:xfrm>
            <a:off x="4713024" y="5403345"/>
            <a:ext cx="8861952" cy="3456432"/>
            <a:chOff x="822960" y="3858768"/>
            <a:chExt cx="5577840" cy="2286000"/>
          </a:xfrm>
        </p:grpSpPr>
        <p:sp>
          <p:nvSpPr>
            <p:cNvPr id="38" name="Shape 8">
              <a:extLst>
                <a:ext uri="{FF2B5EF4-FFF2-40B4-BE49-F238E27FC236}">
                  <a16:creationId xmlns:a16="http://schemas.microsoft.com/office/drawing/2014/main" id="{7336221E-F514-502B-6472-F841100528AB}"/>
                </a:ext>
              </a:extLst>
            </p:cNvPr>
            <p:cNvSpPr/>
            <p:nvPr/>
          </p:nvSpPr>
          <p:spPr>
            <a:xfrm>
              <a:off x="822960" y="3858768"/>
              <a:ext cx="2697480" cy="1005840"/>
            </a:xfrm>
            <a:prstGeom prst="roundRect">
              <a:avLst>
                <a:gd name="adj" fmla="val 4545"/>
              </a:avLst>
            </a:prstGeom>
            <a:solidFill>
              <a:srgbClr val="FFFFFF"/>
            </a:solidFill>
            <a:ln w="10160">
              <a:solidFill>
                <a:srgbClr val="D8E0E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Text 10">
              <a:extLst>
                <a:ext uri="{FF2B5EF4-FFF2-40B4-BE49-F238E27FC236}">
                  <a16:creationId xmlns:a16="http://schemas.microsoft.com/office/drawing/2014/main" id="{754FFD10-E037-67EC-2576-6C80F7A474BE}"/>
                </a:ext>
              </a:extLst>
            </p:cNvPr>
            <p:cNvSpPr/>
            <p:nvPr/>
          </p:nvSpPr>
          <p:spPr>
            <a:xfrm>
              <a:off x="1024128" y="4005072"/>
              <a:ext cx="2350008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800" b="1" dirty="0">
                  <a:solidFill>
                    <a:srgbClr val="122033"/>
                  </a:solidFill>
                  <a:latin typeface="Proxima Nova" panose="020B0604020202020204" charset="0"/>
                </a:rPr>
                <a:t>Trust</a:t>
              </a:r>
              <a:endParaRPr lang="en-US" sz="1800" dirty="0">
                <a:latin typeface="Proxima Nova" panose="020B0604020202020204" charset="0"/>
              </a:endParaRPr>
            </a:p>
          </p:txBody>
        </p:sp>
        <p:sp>
          <p:nvSpPr>
            <p:cNvPr id="40" name="Text 11">
              <a:extLst>
                <a:ext uri="{FF2B5EF4-FFF2-40B4-BE49-F238E27FC236}">
                  <a16:creationId xmlns:a16="http://schemas.microsoft.com/office/drawing/2014/main" id="{1F797318-6A7A-3736-C512-356B9BE7CDCA}"/>
                </a:ext>
              </a:extLst>
            </p:cNvPr>
            <p:cNvSpPr/>
            <p:nvPr/>
          </p:nvSpPr>
          <p:spPr>
            <a:xfrm>
              <a:off x="1024128" y="4334256"/>
              <a:ext cx="2368296" cy="4023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>
                <a:buNone/>
              </a:pPr>
              <a:r>
                <a:rPr lang="en-US" sz="1500" dirty="0">
                  <a:solidFill>
                    <a:srgbClr val="34495E"/>
                  </a:solidFill>
                  <a:latin typeface="Proxima Nova" panose="020B0604020202020204" charset="0"/>
                </a:rPr>
                <a:t>Customers, partners, and users need confidence that services and data are protected.</a:t>
              </a:r>
              <a:endParaRPr lang="en-US" sz="1500" dirty="0">
                <a:latin typeface="Proxima Nova" panose="020B0604020202020204" charset="0"/>
              </a:endParaRPr>
            </a:p>
          </p:txBody>
        </p:sp>
        <p:sp>
          <p:nvSpPr>
            <p:cNvPr id="41" name="Shape 12">
              <a:extLst>
                <a:ext uri="{FF2B5EF4-FFF2-40B4-BE49-F238E27FC236}">
                  <a16:creationId xmlns:a16="http://schemas.microsoft.com/office/drawing/2014/main" id="{A955D9D2-C645-9B0B-4737-B9FD7CEFF7DE}"/>
                </a:ext>
              </a:extLst>
            </p:cNvPr>
            <p:cNvSpPr/>
            <p:nvPr/>
          </p:nvSpPr>
          <p:spPr>
            <a:xfrm>
              <a:off x="3703320" y="3858768"/>
              <a:ext cx="2697480" cy="1005840"/>
            </a:xfrm>
            <a:prstGeom prst="roundRect">
              <a:avLst>
                <a:gd name="adj" fmla="val 4545"/>
              </a:avLst>
            </a:prstGeom>
            <a:solidFill>
              <a:srgbClr val="FFFFFF"/>
            </a:solidFill>
            <a:ln w="10160">
              <a:solidFill>
                <a:srgbClr val="D8E0EA"/>
              </a:solidFill>
              <a:prstDash val="solid"/>
            </a:ln>
          </p:spPr>
          <p:txBody>
            <a:bodyPr/>
            <a:lstStyle/>
            <a:p>
              <a:endParaRPr lang="en-US">
                <a:latin typeface="Proxima Nova" panose="020B0604020202020204" charset="0"/>
              </a:endParaRPr>
            </a:p>
          </p:txBody>
        </p:sp>
        <p:sp>
          <p:nvSpPr>
            <p:cNvPr id="42" name="Text 14">
              <a:extLst>
                <a:ext uri="{FF2B5EF4-FFF2-40B4-BE49-F238E27FC236}">
                  <a16:creationId xmlns:a16="http://schemas.microsoft.com/office/drawing/2014/main" id="{20285CCF-EC3B-7232-D1C6-60D89ED81424}"/>
                </a:ext>
              </a:extLst>
            </p:cNvPr>
            <p:cNvSpPr/>
            <p:nvPr/>
          </p:nvSpPr>
          <p:spPr>
            <a:xfrm>
              <a:off x="3904488" y="4005072"/>
              <a:ext cx="2350008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800" b="1" dirty="0">
                  <a:solidFill>
                    <a:srgbClr val="122033"/>
                  </a:solidFill>
                  <a:latin typeface="Proxima Nova" panose="020B0604020202020204" charset="0"/>
                </a:rPr>
                <a:t>Continuity</a:t>
              </a:r>
              <a:endParaRPr lang="en-US" sz="1800" dirty="0">
                <a:latin typeface="Proxima Nova" panose="020B0604020202020204" charset="0"/>
              </a:endParaRPr>
            </a:p>
          </p:txBody>
        </p:sp>
        <p:sp>
          <p:nvSpPr>
            <p:cNvPr id="43" name="Text 15">
              <a:extLst>
                <a:ext uri="{FF2B5EF4-FFF2-40B4-BE49-F238E27FC236}">
                  <a16:creationId xmlns:a16="http://schemas.microsoft.com/office/drawing/2014/main" id="{C4C5DD94-526F-F1DD-C0AC-7E1EB63D0158}"/>
                </a:ext>
              </a:extLst>
            </p:cNvPr>
            <p:cNvSpPr/>
            <p:nvPr/>
          </p:nvSpPr>
          <p:spPr>
            <a:xfrm>
              <a:off x="3904488" y="4334256"/>
              <a:ext cx="2368296" cy="4023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500" dirty="0">
                  <a:solidFill>
                    <a:srgbClr val="34495E"/>
                  </a:solidFill>
                  <a:latin typeface="Proxima Nova" panose="020B0604020202020204" charset="0"/>
                </a:rPr>
                <a:t>Security helps keep systems available and recoverable during incidents.</a:t>
              </a:r>
              <a:endParaRPr lang="en-US" sz="1500" dirty="0">
                <a:latin typeface="Proxima Nova" panose="020B0604020202020204" charset="0"/>
              </a:endParaRPr>
            </a:p>
          </p:txBody>
        </p:sp>
        <p:sp>
          <p:nvSpPr>
            <p:cNvPr id="44" name="Shape 16">
              <a:extLst>
                <a:ext uri="{FF2B5EF4-FFF2-40B4-BE49-F238E27FC236}">
                  <a16:creationId xmlns:a16="http://schemas.microsoft.com/office/drawing/2014/main" id="{7E9C1C3F-42A5-E5AB-E468-4580CE2230B6}"/>
                </a:ext>
              </a:extLst>
            </p:cNvPr>
            <p:cNvSpPr/>
            <p:nvPr/>
          </p:nvSpPr>
          <p:spPr>
            <a:xfrm>
              <a:off x="822960" y="5138928"/>
              <a:ext cx="2697480" cy="1005840"/>
            </a:xfrm>
            <a:prstGeom prst="roundRect">
              <a:avLst>
                <a:gd name="adj" fmla="val 4545"/>
              </a:avLst>
            </a:prstGeom>
            <a:solidFill>
              <a:srgbClr val="FFFFFF"/>
            </a:solidFill>
            <a:ln w="10160">
              <a:solidFill>
                <a:srgbClr val="D8E0E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Text 18">
              <a:extLst>
                <a:ext uri="{FF2B5EF4-FFF2-40B4-BE49-F238E27FC236}">
                  <a16:creationId xmlns:a16="http://schemas.microsoft.com/office/drawing/2014/main" id="{7D59363C-7ABC-9FAA-6CBD-F93F9F9DE79F}"/>
                </a:ext>
              </a:extLst>
            </p:cNvPr>
            <p:cNvSpPr/>
            <p:nvPr/>
          </p:nvSpPr>
          <p:spPr>
            <a:xfrm>
              <a:off x="1024128" y="5285232"/>
              <a:ext cx="2350008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800" b="1" dirty="0">
                  <a:solidFill>
                    <a:srgbClr val="122033"/>
                  </a:solidFill>
                  <a:latin typeface="Proxima Nova" panose="020B0604020202020204" charset="0"/>
                </a:rPr>
                <a:t>Compliance</a:t>
              </a:r>
              <a:endParaRPr lang="en-US" sz="1800" dirty="0">
                <a:latin typeface="Proxima Nova" panose="020B0604020202020204" charset="0"/>
              </a:endParaRPr>
            </a:p>
          </p:txBody>
        </p:sp>
        <p:sp>
          <p:nvSpPr>
            <p:cNvPr id="46" name="Text 19">
              <a:extLst>
                <a:ext uri="{FF2B5EF4-FFF2-40B4-BE49-F238E27FC236}">
                  <a16:creationId xmlns:a16="http://schemas.microsoft.com/office/drawing/2014/main" id="{AF605E68-2F49-2A69-8E8A-D26DDE810214}"/>
                </a:ext>
              </a:extLst>
            </p:cNvPr>
            <p:cNvSpPr/>
            <p:nvPr/>
          </p:nvSpPr>
          <p:spPr>
            <a:xfrm>
              <a:off x="1024128" y="5614416"/>
              <a:ext cx="2368296" cy="4023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500" dirty="0">
                  <a:solidFill>
                    <a:srgbClr val="34495E"/>
                  </a:solidFill>
                  <a:latin typeface="Proxima Nova" panose="020B0604020202020204" charset="0"/>
                </a:rPr>
                <a:t>Controls support legal, contractual, and policy requirements.</a:t>
              </a:r>
              <a:endParaRPr lang="en-US" sz="1500" dirty="0">
                <a:latin typeface="Proxima Nova" panose="020B0604020202020204" charset="0"/>
              </a:endParaRPr>
            </a:p>
          </p:txBody>
        </p:sp>
        <p:sp>
          <p:nvSpPr>
            <p:cNvPr id="47" name="Shape 20">
              <a:extLst>
                <a:ext uri="{FF2B5EF4-FFF2-40B4-BE49-F238E27FC236}">
                  <a16:creationId xmlns:a16="http://schemas.microsoft.com/office/drawing/2014/main" id="{A78B83E5-6454-5ACB-C385-5D793D3F5FB2}"/>
                </a:ext>
              </a:extLst>
            </p:cNvPr>
            <p:cNvSpPr/>
            <p:nvPr/>
          </p:nvSpPr>
          <p:spPr>
            <a:xfrm>
              <a:off x="3703320" y="5138928"/>
              <a:ext cx="2697480" cy="1005840"/>
            </a:xfrm>
            <a:prstGeom prst="roundRect">
              <a:avLst>
                <a:gd name="adj" fmla="val 4545"/>
              </a:avLst>
            </a:prstGeom>
            <a:solidFill>
              <a:srgbClr val="FFFFFF"/>
            </a:solidFill>
            <a:ln w="10160">
              <a:solidFill>
                <a:srgbClr val="D8E0E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Text 22">
              <a:extLst>
                <a:ext uri="{FF2B5EF4-FFF2-40B4-BE49-F238E27FC236}">
                  <a16:creationId xmlns:a16="http://schemas.microsoft.com/office/drawing/2014/main" id="{DE66FC19-3AFC-630B-B628-941332BD76AF}"/>
                </a:ext>
              </a:extLst>
            </p:cNvPr>
            <p:cNvSpPr/>
            <p:nvPr/>
          </p:nvSpPr>
          <p:spPr>
            <a:xfrm>
              <a:off x="3904488" y="5285232"/>
              <a:ext cx="2350008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800" b="1" dirty="0">
                  <a:solidFill>
                    <a:srgbClr val="122033"/>
                  </a:solidFill>
                  <a:latin typeface="Proxima Nova" panose="020B0604020202020204" charset="0"/>
                </a:rPr>
                <a:t>Decision making</a:t>
              </a:r>
              <a:endParaRPr lang="en-US" sz="1800" dirty="0">
                <a:latin typeface="Proxima Nova" panose="020B0604020202020204" charset="0"/>
              </a:endParaRPr>
            </a:p>
          </p:txBody>
        </p:sp>
        <p:sp>
          <p:nvSpPr>
            <p:cNvPr id="49" name="Text 23">
              <a:extLst>
                <a:ext uri="{FF2B5EF4-FFF2-40B4-BE49-F238E27FC236}">
                  <a16:creationId xmlns:a16="http://schemas.microsoft.com/office/drawing/2014/main" id="{9BA79AEC-2AC5-C418-B897-56632B008FDC}"/>
                </a:ext>
              </a:extLst>
            </p:cNvPr>
            <p:cNvSpPr/>
            <p:nvPr/>
          </p:nvSpPr>
          <p:spPr>
            <a:xfrm>
              <a:off x="3904488" y="5614416"/>
              <a:ext cx="2368296" cy="4023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500" dirty="0">
                  <a:solidFill>
                    <a:srgbClr val="34495E"/>
                  </a:solidFill>
                  <a:latin typeface="Proxima Nova" panose="020B0604020202020204" charset="0"/>
                </a:rPr>
                <a:t>Clear risk language helps leaders prioritize security investment.</a:t>
              </a:r>
              <a:endParaRPr lang="en-US" sz="1500" dirty="0">
                <a:latin typeface="Proxima Nova" panose="020B0604020202020204" charset="0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2">
          <a:extLst>
            <a:ext uri="{FF2B5EF4-FFF2-40B4-BE49-F238E27FC236}">
              <a16:creationId xmlns:a16="http://schemas.microsoft.com/office/drawing/2014/main" id="{259068C2-B939-FF7A-632E-EAE6D3AA4B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3be12095d08_0_0">
            <a:extLst>
              <a:ext uri="{FF2B5EF4-FFF2-40B4-BE49-F238E27FC236}">
                <a16:creationId xmlns:a16="http://schemas.microsoft.com/office/drawing/2014/main" id="{7342D071-DD9E-5A2A-9F45-CDC1193E847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57299" y="1859856"/>
            <a:ext cx="15773400" cy="1285650"/>
          </a:xfrm>
          <a:prstGeom prst="rect">
            <a:avLst/>
          </a:prstGeom>
        </p:spPr>
        <p:txBody>
          <a:bodyPr spcFirstLastPara="1" wrap="square" lIns="137138" tIns="68550" rIns="137138" bIns="68550" anchor="t" anchorCtr="0">
            <a:normAutofit/>
          </a:bodyPr>
          <a:lstStyle/>
          <a:p>
            <a:r>
              <a:rPr lang="en-US" dirty="0">
                <a:solidFill>
                  <a:schemeClr val="bg1"/>
                </a:solidFill>
                <a:latin typeface="Proxima Nova" panose="020B0604020202020204" charset="0"/>
                <a:ea typeface="Aptos Display" pitchFamily="34" charset="-122"/>
                <a:cs typeface="Proxima Nova" panose="020B0604020202020204" charset="0"/>
              </a:rPr>
              <a:t>Core Security Objectives</a:t>
            </a:r>
            <a:endParaRPr dirty="0">
              <a:solidFill>
                <a:schemeClr val="bg1"/>
              </a:solidFill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3" name="Text 4">
            <a:extLst>
              <a:ext uri="{FF2B5EF4-FFF2-40B4-BE49-F238E27FC236}">
                <a16:creationId xmlns:a16="http://schemas.microsoft.com/office/drawing/2014/main" id="{7EFAC420-1672-4BF4-28CF-B50DC90FC66D}"/>
              </a:ext>
            </a:extLst>
          </p:cNvPr>
          <p:cNvSpPr/>
          <p:nvPr/>
        </p:nvSpPr>
        <p:spPr>
          <a:xfrm>
            <a:off x="1257299" y="3490174"/>
            <a:ext cx="2953868" cy="3222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chemeClr val="bg1"/>
                </a:solidFill>
                <a:latin typeface="Proxima Nova" panose="020B0604020202020204" charset="0"/>
                <a:cs typeface="Proxima Nova" panose="020B0604020202020204" charset="0"/>
              </a:rPr>
              <a:t>CIA TRIAD</a:t>
            </a:r>
            <a:endParaRPr lang="en-US" sz="2200" dirty="0">
              <a:solidFill>
                <a:schemeClr val="bg1"/>
              </a:solidFill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67C5286D-D0E2-390C-B04C-1B0DED2C71F6}"/>
              </a:ext>
            </a:extLst>
          </p:cNvPr>
          <p:cNvSpPr/>
          <p:nvPr/>
        </p:nvSpPr>
        <p:spPr>
          <a:xfrm>
            <a:off x="10078622" y="3490174"/>
            <a:ext cx="2953868" cy="3222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chemeClr val="bg1"/>
                </a:solidFill>
                <a:latin typeface="Proxima Nova" panose="020B0604020202020204" charset="0"/>
                <a:cs typeface="Proxima Nova" panose="020B0604020202020204" charset="0"/>
              </a:rPr>
              <a:t>AAA MODEL</a:t>
            </a:r>
            <a:endParaRPr lang="en-US" sz="2200" dirty="0">
              <a:solidFill>
                <a:schemeClr val="bg1"/>
              </a:solidFill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7" name="Shape 6">
            <a:extLst>
              <a:ext uri="{FF2B5EF4-FFF2-40B4-BE49-F238E27FC236}">
                <a16:creationId xmlns:a16="http://schemas.microsoft.com/office/drawing/2014/main" id="{DEBA1F14-C3FC-2E95-8008-8DD084F0CE27}"/>
              </a:ext>
            </a:extLst>
          </p:cNvPr>
          <p:cNvSpPr/>
          <p:nvPr/>
        </p:nvSpPr>
        <p:spPr>
          <a:xfrm>
            <a:off x="1284152" y="4010736"/>
            <a:ext cx="7317536" cy="1115489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016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9" name="Text 8">
            <a:extLst>
              <a:ext uri="{FF2B5EF4-FFF2-40B4-BE49-F238E27FC236}">
                <a16:creationId xmlns:a16="http://schemas.microsoft.com/office/drawing/2014/main" id="{2B70070D-A3E5-759C-102A-17202B0ECEC3}"/>
              </a:ext>
            </a:extLst>
          </p:cNvPr>
          <p:cNvSpPr/>
          <p:nvPr/>
        </p:nvSpPr>
        <p:spPr>
          <a:xfrm>
            <a:off x="1579539" y="4209045"/>
            <a:ext cx="6807323" cy="30985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22033"/>
                </a:solidFill>
                <a:latin typeface="Proxima Nova" panose="020B0604020202020204" charset="0"/>
                <a:cs typeface="Proxima Nova" panose="020B0604020202020204" charset="0"/>
              </a:rPr>
              <a:t>Confidentiality</a:t>
            </a:r>
            <a:endParaRPr lang="en-US" sz="18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69AB738D-30FA-46D0-56E8-226845235FB4}"/>
              </a:ext>
            </a:extLst>
          </p:cNvPr>
          <p:cNvSpPr/>
          <p:nvPr/>
        </p:nvSpPr>
        <p:spPr>
          <a:xfrm>
            <a:off x="1579539" y="4655241"/>
            <a:ext cx="6834176" cy="297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34495E"/>
                </a:solidFill>
                <a:latin typeface="Proxima Nova" panose="020B0604020202020204" charset="0"/>
                <a:cs typeface="Proxima Nova" panose="020B0604020202020204" charset="0"/>
              </a:rPr>
              <a:t>Only authorized people or systems can access sensitive data.</a:t>
            </a:r>
            <a:endParaRPr lang="en-US" sz="15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F6B597F9-4A34-C918-CEA3-9635727A6EC8}"/>
              </a:ext>
            </a:extLst>
          </p:cNvPr>
          <p:cNvSpPr/>
          <p:nvPr/>
        </p:nvSpPr>
        <p:spPr>
          <a:xfrm>
            <a:off x="1284152" y="5411294"/>
            <a:ext cx="7317536" cy="1115489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016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5DE0F628-AEF1-035D-0B35-E379D4796E1F}"/>
              </a:ext>
            </a:extLst>
          </p:cNvPr>
          <p:cNvSpPr/>
          <p:nvPr/>
        </p:nvSpPr>
        <p:spPr>
          <a:xfrm>
            <a:off x="1579539" y="5609604"/>
            <a:ext cx="6807323" cy="30985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22033"/>
                </a:solidFill>
                <a:latin typeface="Proxima Nova" panose="020B0604020202020204" charset="0"/>
                <a:cs typeface="Proxima Nova" panose="020B0604020202020204" charset="0"/>
              </a:rPr>
              <a:t>Integrity</a:t>
            </a:r>
            <a:endParaRPr lang="en-US" sz="18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889F18F2-046F-FD42-C126-9BC24ED2EA54}"/>
              </a:ext>
            </a:extLst>
          </p:cNvPr>
          <p:cNvSpPr/>
          <p:nvPr/>
        </p:nvSpPr>
        <p:spPr>
          <a:xfrm>
            <a:off x="1579539" y="6055799"/>
            <a:ext cx="6834176" cy="297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34495E"/>
                </a:solidFill>
                <a:latin typeface="Proxima Nova" panose="020B0604020202020204" charset="0"/>
                <a:cs typeface="Proxima Nova" panose="020B0604020202020204" charset="0"/>
              </a:rPr>
              <a:t>Data stays accurate, complete, and protected from unauthorized change.</a:t>
            </a:r>
            <a:endParaRPr lang="en-US" sz="15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19" name="Shape 14">
            <a:extLst>
              <a:ext uri="{FF2B5EF4-FFF2-40B4-BE49-F238E27FC236}">
                <a16:creationId xmlns:a16="http://schemas.microsoft.com/office/drawing/2014/main" id="{525FC8BA-5B32-ED64-99C6-C914E7F88997}"/>
              </a:ext>
            </a:extLst>
          </p:cNvPr>
          <p:cNvSpPr/>
          <p:nvPr/>
        </p:nvSpPr>
        <p:spPr>
          <a:xfrm>
            <a:off x="1284152" y="6811853"/>
            <a:ext cx="7317536" cy="1115489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016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21" name="Text 16">
            <a:extLst>
              <a:ext uri="{FF2B5EF4-FFF2-40B4-BE49-F238E27FC236}">
                <a16:creationId xmlns:a16="http://schemas.microsoft.com/office/drawing/2014/main" id="{25E85A8D-78CA-59B1-414A-2DB094AB1CF5}"/>
              </a:ext>
            </a:extLst>
          </p:cNvPr>
          <p:cNvSpPr/>
          <p:nvPr/>
        </p:nvSpPr>
        <p:spPr>
          <a:xfrm>
            <a:off x="1579539" y="7010162"/>
            <a:ext cx="6807323" cy="30985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22033"/>
                </a:solidFill>
                <a:latin typeface="Proxima Nova" panose="020B0604020202020204" charset="0"/>
                <a:cs typeface="Proxima Nova" panose="020B0604020202020204" charset="0"/>
              </a:rPr>
              <a:t>Availability</a:t>
            </a:r>
            <a:endParaRPr lang="en-US" sz="18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23" name="Text 17">
            <a:extLst>
              <a:ext uri="{FF2B5EF4-FFF2-40B4-BE49-F238E27FC236}">
                <a16:creationId xmlns:a16="http://schemas.microsoft.com/office/drawing/2014/main" id="{CC41BDF2-68F9-0D03-684A-D0256BE02EA0}"/>
              </a:ext>
            </a:extLst>
          </p:cNvPr>
          <p:cNvSpPr/>
          <p:nvPr/>
        </p:nvSpPr>
        <p:spPr>
          <a:xfrm>
            <a:off x="1579539" y="7456358"/>
            <a:ext cx="6834176" cy="297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34495E"/>
                </a:solidFill>
                <a:latin typeface="Proxima Nova" panose="020B0604020202020204" charset="0"/>
                <a:cs typeface="Proxima Nova" panose="020B0604020202020204" charset="0"/>
              </a:rPr>
              <a:t>Systems and information remain accessible when needed.</a:t>
            </a:r>
            <a:endParaRPr lang="en-US" sz="15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25" name="Shape 18">
            <a:extLst>
              <a:ext uri="{FF2B5EF4-FFF2-40B4-BE49-F238E27FC236}">
                <a16:creationId xmlns:a16="http://schemas.microsoft.com/office/drawing/2014/main" id="{408A4A54-FC7D-0FDD-94B1-13FEEDE8665F}"/>
              </a:ext>
            </a:extLst>
          </p:cNvPr>
          <p:cNvSpPr/>
          <p:nvPr/>
        </p:nvSpPr>
        <p:spPr>
          <a:xfrm>
            <a:off x="9246169" y="3552146"/>
            <a:ext cx="0" cy="4895758"/>
          </a:xfrm>
          <a:prstGeom prst="line">
            <a:avLst/>
          </a:prstGeom>
          <a:noFill/>
          <a:ln w="1524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27" name="Shape 19">
            <a:extLst>
              <a:ext uri="{FF2B5EF4-FFF2-40B4-BE49-F238E27FC236}">
                <a16:creationId xmlns:a16="http://schemas.microsoft.com/office/drawing/2014/main" id="{FFCF9F2B-F45D-399A-7E0B-12A4E3B19D81}"/>
              </a:ext>
            </a:extLst>
          </p:cNvPr>
          <p:cNvSpPr/>
          <p:nvPr/>
        </p:nvSpPr>
        <p:spPr>
          <a:xfrm>
            <a:off x="10078622" y="4010736"/>
            <a:ext cx="6646203" cy="1115489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016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29" name="Text 21">
            <a:extLst>
              <a:ext uri="{FF2B5EF4-FFF2-40B4-BE49-F238E27FC236}">
                <a16:creationId xmlns:a16="http://schemas.microsoft.com/office/drawing/2014/main" id="{A992D597-07D0-770E-EAB7-C6321EEACFB1}"/>
              </a:ext>
            </a:extLst>
          </p:cNvPr>
          <p:cNvSpPr/>
          <p:nvPr/>
        </p:nvSpPr>
        <p:spPr>
          <a:xfrm>
            <a:off x="10374009" y="4209045"/>
            <a:ext cx="6135989" cy="30985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22033"/>
                </a:solidFill>
                <a:latin typeface="Proxima Nova" panose="020B0604020202020204" charset="0"/>
                <a:cs typeface="Proxima Nova" panose="020B0604020202020204" charset="0"/>
              </a:rPr>
              <a:t>Authentication</a:t>
            </a:r>
            <a:endParaRPr lang="en-US" sz="18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31" name="Text 22">
            <a:extLst>
              <a:ext uri="{FF2B5EF4-FFF2-40B4-BE49-F238E27FC236}">
                <a16:creationId xmlns:a16="http://schemas.microsoft.com/office/drawing/2014/main" id="{7A3CF3A4-203B-ECA7-F3D1-9E18D1CB6D63}"/>
              </a:ext>
            </a:extLst>
          </p:cNvPr>
          <p:cNvSpPr/>
          <p:nvPr/>
        </p:nvSpPr>
        <p:spPr>
          <a:xfrm>
            <a:off x="10374009" y="4655241"/>
            <a:ext cx="6162842" cy="297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34495E"/>
                </a:solidFill>
                <a:latin typeface="Proxima Nova" panose="020B0604020202020204" charset="0"/>
                <a:cs typeface="Proxima Nova" panose="020B0604020202020204" charset="0"/>
              </a:rPr>
              <a:t>Proves who or what is requesting access.</a:t>
            </a:r>
            <a:endParaRPr lang="en-US" sz="15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33" name="Shape 23">
            <a:extLst>
              <a:ext uri="{FF2B5EF4-FFF2-40B4-BE49-F238E27FC236}">
                <a16:creationId xmlns:a16="http://schemas.microsoft.com/office/drawing/2014/main" id="{BD7C5F80-AC04-F093-95CD-92B46584A57A}"/>
              </a:ext>
            </a:extLst>
          </p:cNvPr>
          <p:cNvSpPr/>
          <p:nvPr/>
        </p:nvSpPr>
        <p:spPr>
          <a:xfrm>
            <a:off x="10078622" y="5411294"/>
            <a:ext cx="6646203" cy="1115489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016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35" name="Text 25">
            <a:extLst>
              <a:ext uri="{FF2B5EF4-FFF2-40B4-BE49-F238E27FC236}">
                <a16:creationId xmlns:a16="http://schemas.microsoft.com/office/drawing/2014/main" id="{6A2336C1-D4D2-F230-F0AE-40D218AE446E}"/>
              </a:ext>
            </a:extLst>
          </p:cNvPr>
          <p:cNvSpPr/>
          <p:nvPr/>
        </p:nvSpPr>
        <p:spPr>
          <a:xfrm>
            <a:off x="10374009" y="5609604"/>
            <a:ext cx="6135989" cy="30985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22033"/>
                </a:solidFill>
                <a:latin typeface="Proxima Nova" panose="020B0604020202020204" charset="0"/>
                <a:cs typeface="Proxima Nova" panose="020B0604020202020204" charset="0"/>
              </a:rPr>
              <a:t>Authorization</a:t>
            </a:r>
            <a:endParaRPr lang="en-US" sz="18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37" name="Text 26">
            <a:extLst>
              <a:ext uri="{FF2B5EF4-FFF2-40B4-BE49-F238E27FC236}">
                <a16:creationId xmlns:a16="http://schemas.microsoft.com/office/drawing/2014/main" id="{D4CE9E2F-636F-8B4C-8D3B-14F4B3819742}"/>
              </a:ext>
            </a:extLst>
          </p:cNvPr>
          <p:cNvSpPr/>
          <p:nvPr/>
        </p:nvSpPr>
        <p:spPr>
          <a:xfrm>
            <a:off x="10374009" y="6055799"/>
            <a:ext cx="6162842" cy="297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34495E"/>
                </a:solidFill>
                <a:latin typeface="Proxima Nova" panose="020B0604020202020204" charset="0"/>
                <a:cs typeface="Proxima Nova" panose="020B0604020202020204" charset="0"/>
              </a:rPr>
              <a:t>Defines what that identity is allowed to do.</a:t>
            </a:r>
            <a:endParaRPr lang="en-US" sz="15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39" name="Shape 27">
            <a:extLst>
              <a:ext uri="{FF2B5EF4-FFF2-40B4-BE49-F238E27FC236}">
                <a16:creationId xmlns:a16="http://schemas.microsoft.com/office/drawing/2014/main" id="{D5CC7296-FFAA-4ACA-925B-BD0C57C7E325}"/>
              </a:ext>
            </a:extLst>
          </p:cNvPr>
          <p:cNvSpPr/>
          <p:nvPr/>
        </p:nvSpPr>
        <p:spPr>
          <a:xfrm>
            <a:off x="10078622" y="6811853"/>
            <a:ext cx="6646203" cy="1115489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016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41" name="Text 29">
            <a:extLst>
              <a:ext uri="{FF2B5EF4-FFF2-40B4-BE49-F238E27FC236}">
                <a16:creationId xmlns:a16="http://schemas.microsoft.com/office/drawing/2014/main" id="{BD6589FB-071D-6085-A3EA-D39E3EE5A00D}"/>
              </a:ext>
            </a:extLst>
          </p:cNvPr>
          <p:cNvSpPr/>
          <p:nvPr/>
        </p:nvSpPr>
        <p:spPr>
          <a:xfrm>
            <a:off x="10374009" y="7010162"/>
            <a:ext cx="6135989" cy="30985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22033"/>
                </a:solidFill>
                <a:latin typeface="Proxima Nova" panose="020B0604020202020204" charset="0"/>
                <a:cs typeface="Proxima Nova" panose="020B0604020202020204" charset="0"/>
              </a:rPr>
              <a:t>Accounting</a:t>
            </a:r>
            <a:endParaRPr lang="en-US" sz="18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43" name="Text 30">
            <a:extLst>
              <a:ext uri="{FF2B5EF4-FFF2-40B4-BE49-F238E27FC236}">
                <a16:creationId xmlns:a16="http://schemas.microsoft.com/office/drawing/2014/main" id="{827FD82C-B765-CA80-0CD9-ECA7C8AD0E1A}"/>
              </a:ext>
            </a:extLst>
          </p:cNvPr>
          <p:cNvSpPr/>
          <p:nvPr/>
        </p:nvSpPr>
        <p:spPr>
          <a:xfrm>
            <a:off x="10374009" y="7456358"/>
            <a:ext cx="6162842" cy="297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34495E"/>
                </a:solidFill>
                <a:latin typeface="Proxima Nova" panose="020B0604020202020204" charset="0"/>
                <a:cs typeface="Proxima Nova" panose="020B0604020202020204" charset="0"/>
              </a:rPr>
              <a:t>Records activity for audit, detection, and investigation.</a:t>
            </a:r>
            <a:endParaRPr lang="en-US" sz="15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45" name="Shape 31">
            <a:extLst>
              <a:ext uri="{FF2B5EF4-FFF2-40B4-BE49-F238E27FC236}">
                <a16:creationId xmlns:a16="http://schemas.microsoft.com/office/drawing/2014/main" id="{65075FC4-0097-3169-4437-C245078A90CC}"/>
              </a:ext>
            </a:extLst>
          </p:cNvPr>
          <p:cNvSpPr/>
          <p:nvPr/>
        </p:nvSpPr>
        <p:spPr>
          <a:xfrm>
            <a:off x="1619819" y="9067620"/>
            <a:ext cx="14702206" cy="681688"/>
          </a:xfrm>
          <a:prstGeom prst="roundRect">
            <a:avLst>
              <a:gd name="adj" fmla="val 14545"/>
            </a:avLst>
          </a:prstGeom>
          <a:solidFill>
            <a:schemeClr val="bg1">
              <a:lumMod val="95000"/>
            </a:schemeClr>
          </a:solidFill>
          <a:ln w="12700">
            <a:solidFill>
              <a:srgbClr val="0B1F3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47" name="Text 32">
            <a:extLst>
              <a:ext uri="{FF2B5EF4-FFF2-40B4-BE49-F238E27FC236}">
                <a16:creationId xmlns:a16="http://schemas.microsoft.com/office/drawing/2014/main" id="{0F56E101-16DF-CDE6-6C79-301672295FD8}"/>
              </a:ext>
            </a:extLst>
          </p:cNvPr>
          <p:cNvSpPr/>
          <p:nvPr/>
        </p:nvSpPr>
        <p:spPr>
          <a:xfrm>
            <a:off x="1888353" y="9290718"/>
            <a:ext cx="14098005" cy="21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  <a:latin typeface="Proxima Nova" panose="020B0604020202020204" charset="0"/>
                <a:cs typeface="Proxima Nova" panose="020B0604020202020204" charset="0"/>
              </a:rPr>
              <a:t>Practical meaning: protect the data, verify the identity, limit the access, and keep evidence of activity.</a:t>
            </a:r>
            <a:endParaRPr lang="en-US" sz="1200" dirty="0">
              <a:solidFill>
                <a:schemeClr val="tx1"/>
              </a:solidFill>
              <a:latin typeface="Proxima Nova" panose="020B0604020202020204" charset="0"/>
              <a:cs typeface="Proxima Nova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71158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9ED65D-3D28-3674-D3A0-C8D123394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06AC7-10A1-4688-FA69-0CE6663719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299" y="1859857"/>
            <a:ext cx="15773403" cy="587129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bg1"/>
                </a:solidFill>
                <a:latin typeface="Proxima Nova" panose="020B0604020202020204" charset="0"/>
                <a:ea typeface="Aptos Display" pitchFamily="34" charset="-122"/>
                <a:cs typeface="Proxima Nova" panose="020B0604020202020204" charset="0"/>
              </a:rPr>
              <a:t>Common Attack Patterns</a:t>
            </a:r>
            <a:endParaRPr lang="en-US" dirty="0">
              <a:solidFill>
                <a:schemeClr val="bg1"/>
              </a:solidFill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C1E33B-A324-EB88-084C-FDF9B7692D4D}"/>
              </a:ext>
            </a:extLst>
          </p:cNvPr>
          <p:cNvSpPr txBox="1"/>
          <p:nvPr/>
        </p:nvSpPr>
        <p:spPr>
          <a:xfrm>
            <a:off x="3812466" y="2528065"/>
            <a:ext cx="1066306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i="1" dirty="0">
                <a:solidFill>
                  <a:schemeClr val="bg1"/>
                </a:solidFill>
                <a:latin typeface="Proxima Nova" panose="020B0604020202020204" charset="0"/>
                <a:cs typeface="Proxima Nova" panose="020B0604020202020204" charset="0"/>
              </a:rPr>
              <a:t>“</a:t>
            </a:r>
            <a:r>
              <a:rPr lang="en-US" sz="2000" dirty="0">
                <a:solidFill>
                  <a:schemeClr val="bg1"/>
                </a:solidFill>
                <a:latin typeface="Proxima Nova" panose="020B0604020202020204" charset="0"/>
                <a:cs typeface="Proxima Nova" panose="020B0604020202020204" charset="0"/>
              </a:rPr>
              <a:t>Most incidents combine human behavior, weak identity controls, and technical exposure</a:t>
            </a:r>
            <a:r>
              <a:rPr lang="en-US" sz="2000" b="1" i="1" dirty="0">
                <a:solidFill>
                  <a:schemeClr val="bg1"/>
                </a:solidFill>
                <a:latin typeface="Proxima Nova" panose="020B0604020202020204" charset="0"/>
                <a:cs typeface="Proxima Nova" panose="020B0604020202020204" charset="0"/>
              </a:rPr>
              <a:t>”</a:t>
            </a:r>
          </a:p>
        </p:txBody>
      </p:sp>
      <p:sp>
        <p:nvSpPr>
          <p:cNvPr id="4" name="Text 4">
            <a:extLst>
              <a:ext uri="{FF2B5EF4-FFF2-40B4-BE49-F238E27FC236}">
                <a16:creationId xmlns:a16="http://schemas.microsoft.com/office/drawing/2014/main" id="{759373D4-2F76-662E-4051-D19C7B0D1AEB}"/>
              </a:ext>
            </a:extLst>
          </p:cNvPr>
          <p:cNvSpPr/>
          <p:nvPr/>
        </p:nvSpPr>
        <p:spPr>
          <a:xfrm>
            <a:off x="1476509" y="3331844"/>
            <a:ext cx="16009728" cy="6850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chemeClr val="bg1"/>
                </a:solidFill>
                <a:latin typeface="Proxima Nova" panose="020B0604020202020204" charset="0"/>
                <a:cs typeface="Proxima Nova" panose="020B0604020202020204" charset="0"/>
              </a:rPr>
              <a:t>Good security work is not only technical. It also requires clear rules, scope, evidence handling, and ethical behavior.</a:t>
            </a:r>
            <a:endParaRPr lang="en-US" sz="2200" dirty="0">
              <a:solidFill>
                <a:schemeClr val="bg1"/>
              </a:solidFill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B74F348A-156D-7FEA-CFEC-C72B630CC773}"/>
              </a:ext>
            </a:extLst>
          </p:cNvPr>
          <p:cNvSpPr/>
          <p:nvPr/>
        </p:nvSpPr>
        <p:spPr>
          <a:xfrm>
            <a:off x="2099257" y="4275290"/>
            <a:ext cx="2977454" cy="1561859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B68345E6-A16C-72D1-C3E3-A5490BF1A4FD}"/>
              </a:ext>
            </a:extLst>
          </p:cNvPr>
          <p:cNvSpPr/>
          <p:nvPr/>
        </p:nvSpPr>
        <p:spPr>
          <a:xfrm>
            <a:off x="2320720" y="4599231"/>
            <a:ext cx="2559134" cy="2545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22033"/>
                </a:solidFill>
                <a:latin typeface="Proxima Nova" panose="020B0604020202020204" charset="0"/>
                <a:cs typeface="Proxima Nova" panose="020B0604020202020204" charset="0"/>
              </a:rPr>
              <a:t>Initial contact</a:t>
            </a:r>
            <a:endParaRPr lang="en-US" sz="18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8775A0C6-C0C4-0196-43B9-516A59FD95BE}"/>
              </a:ext>
            </a:extLst>
          </p:cNvPr>
          <p:cNvSpPr/>
          <p:nvPr/>
        </p:nvSpPr>
        <p:spPr>
          <a:xfrm>
            <a:off x="2345328" y="5004157"/>
            <a:ext cx="2485313" cy="53218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34495E"/>
                </a:solidFill>
                <a:latin typeface="Proxima Nova" panose="020B0604020202020204" charset="0"/>
                <a:cs typeface="Proxima Nova" panose="020B0604020202020204" charset="0"/>
              </a:rPr>
              <a:t>Phishing, malicious link, exposed service, or stolen credential.</a:t>
            </a:r>
            <a:endParaRPr lang="en-US" sz="15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14" name="Shape 8">
            <a:extLst>
              <a:ext uri="{FF2B5EF4-FFF2-40B4-BE49-F238E27FC236}">
                <a16:creationId xmlns:a16="http://schemas.microsoft.com/office/drawing/2014/main" id="{71A8A249-7B12-294C-089F-E3E691444F9D}"/>
              </a:ext>
            </a:extLst>
          </p:cNvPr>
          <p:cNvSpPr/>
          <p:nvPr/>
        </p:nvSpPr>
        <p:spPr>
          <a:xfrm>
            <a:off x="5138228" y="5050435"/>
            <a:ext cx="529052" cy="0"/>
          </a:xfrm>
          <a:prstGeom prst="line">
            <a:avLst/>
          </a:prstGeom>
          <a:noFill/>
          <a:ln w="19050">
            <a:solidFill>
              <a:schemeClr val="bg1"/>
            </a:solidFill>
            <a:prstDash val="solid"/>
            <a:tailEnd type="triangle"/>
          </a:ln>
        </p:spPr>
        <p:txBody>
          <a:bodyPr/>
          <a:lstStyle/>
          <a:p>
            <a:endParaRPr lang="en-US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17" name="Shape 9">
            <a:extLst>
              <a:ext uri="{FF2B5EF4-FFF2-40B4-BE49-F238E27FC236}">
                <a16:creationId xmlns:a16="http://schemas.microsoft.com/office/drawing/2014/main" id="{5A435FC4-C7C8-9871-BB4A-4C79C349C89D}"/>
              </a:ext>
            </a:extLst>
          </p:cNvPr>
          <p:cNvSpPr/>
          <p:nvPr/>
        </p:nvSpPr>
        <p:spPr>
          <a:xfrm>
            <a:off x="5790315" y="4275290"/>
            <a:ext cx="2977454" cy="1561859"/>
          </a:xfrm>
          <a:prstGeom prst="roundRect">
            <a:avLst>
              <a:gd name="adj" fmla="val 2963"/>
            </a:avLst>
          </a:prstGeom>
          <a:solidFill>
            <a:srgbClr val="F9FBFD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19" name="Text 11">
            <a:extLst>
              <a:ext uri="{FF2B5EF4-FFF2-40B4-BE49-F238E27FC236}">
                <a16:creationId xmlns:a16="http://schemas.microsoft.com/office/drawing/2014/main" id="{927F8867-1ED3-FD3C-575F-09FAFA4B35F0}"/>
              </a:ext>
            </a:extLst>
          </p:cNvPr>
          <p:cNvSpPr/>
          <p:nvPr/>
        </p:nvSpPr>
        <p:spPr>
          <a:xfrm>
            <a:off x="6011779" y="4599231"/>
            <a:ext cx="2559134" cy="2545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22033"/>
                </a:solidFill>
                <a:latin typeface="Proxima Nova" panose="020B0604020202020204" charset="0"/>
                <a:cs typeface="Proxima Nova" panose="020B0604020202020204" charset="0"/>
              </a:rPr>
              <a:t>Execution</a:t>
            </a:r>
            <a:endParaRPr lang="en-US" sz="18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22" name="Text 12">
            <a:extLst>
              <a:ext uri="{FF2B5EF4-FFF2-40B4-BE49-F238E27FC236}">
                <a16:creationId xmlns:a16="http://schemas.microsoft.com/office/drawing/2014/main" id="{6884B4FD-52D9-9926-2703-B63A7C4E23D7}"/>
              </a:ext>
            </a:extLst>
          </p:cNvPr>
          <p:cNvSpPr/>
          <p:nvPr/>
        </p:nvSpPr>
        <p:spPr>
          <a:xfrm>
            <a:off x="6036386" y="5004157"/>
            <a:ext cx="2485313" cy="53218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34495E"/>
                </a:solidFill>
                <a:latin typeface="Proxima Nova" panose="020B0604020202020204" charset="0"/>
                <a:cs typeface="Proxima Nova" panose="020B0604020202020204" charset="0"/>
              </a:rPr>
              <a:t>Malware, script, exploit, or unauthorized login.</a:t>
            </a:r>
            <a:endParaRPr lang="en-US" sz="15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25" name="Shape 13">
            <a:extLst>
              <a:ext uri="{FF2B5EF4-FFF2-40B4-BE49-F238E27FC236}">
                <a16:creationId xmlns:a16="http://schemas.microsoft.com/office/drawing/2014/main" id="{9497DEFC-687C-8D4A-1DAF-5857DE1B692C}"/>
              </a:ext>
            </a:extLst>
          </p:cNvPr>
          <p:cNvSpPr/>
          <p:nvPr/>
        </p:nvSpPr>
        <p:spPr>
          <a:xfrm>
            <a:off x="8829287" y="5050435"/>
            <a:ext cx="529052" cy="0"/>
          </a:xfrm>
          <a:prstGeom prst="line">
            <a:avLst/>
          </a:prstGeom>
          <a:noFill/>
          <a:ln w="19050">
            <a:solidFill>
              <a:schemeClr val="bg1"/>
            </a:solidFill>
            <a:prstDash val="solid"/>
            <a:tailEnd type="triangle"/>
          </a:ln>
        </p:spPr>
        <p:txBody>
          <a:bodyPr/>
          <a:lstStyle/>
          <a:p>
            <a:endParaRPr lang="en-US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27" name="Shape 14">
            <a:extLst>
              <a:ext uri="{FF2B5EF4-FFF2-40B4-BE49-F238E27FC236}">
                <a16:creationId xmlns:a16="http://schemas.microsoft.com/office/drawing/2014/main" id="{86207C00-9AF1-FCA7-303D-CCB58F1E937F}"/>
              </a:ext>
            </a:extLst>
          </p:cNvPr>
          <p:cNvSpPr/>
          <p:nvPr/>
        </p:nvSpPr>
        <p:spPr>
          <a:xfrm>
            <a:off x="9481373" y="4275290"/>
            <a:ext cx="2977454" cy="1561859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30" name="Text 16">
            <a:extLst>
              <a:ext uri="{FF2B5EF4-FFF2-40B4-BE49-F238E27FC236}">
                <a16:creationId xmlns:a16="http://schemas.microsoft.com/office/drawing/2014/main" id="{7B689CE6-106B-FC15-0409-C394109DABFB}"/>
              </a:ext>
            </a:extLst>
          </p:cNvPr>
          <p:cNvSpPr/>
          <p:nvPr/>
        </p:nvSpPr>
        <p:spPr>
          <a:xfrm>
            <a:off x="9702837" y="4599231"/>
            <a:ext cx="2559134" cy="2545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22033"/>
                </a:solidFill>
                <a:latin typeface="Proxima Nova" panose="020B0604020202020204" charset="0"/>
                <a:cs typeface="Proxima Nova" panose="020B0604020202020204" charset="0"/>
              </a:rPr>
              <a:t>Privilege &amp; movement</a:t>
            </a:r>
            <a:endParaRPr lang="en-US" sz="18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33" name="Text 17">
            <a:extLst>
              <a:ext uri="{FF2B5EF4-FFF2-40B4-BE49-F238E27FC236}">
                <a16:creationId xmlns:a16="http://schemas.microsoft.com/office/drawing/2014/main" id="{BBBB7865-32ED-A645-E61E-AE8C994C7E22}"/>
              </a:ext>
            </a:extLst>
          </p:cNvPr>
          <p:cNvSpPr/>
          <p:nvPr/>
        </p:nvSpPr>
        <p:spPr>
          <a:xfrm>
            <a:off x="9727444" y="5004157"/>
            <a:ext cx="2485313" cy="53218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34495E"/>
                </a:solidFill>
                <a:latin typeface="Proxima Nova" panose="020B0604020202020204" charset="0"/>
                <a:cs typeface="Proxima Nova" panose="020B0604020202020204" charset="0"/>
              </a:rPr>
              <a:t>Access expansion, credential reuse, lateral movement.</a:t>
            </a:r>
            <a:endParaRPr lang="en-US" sz="15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35" name="Shape 18">
            <a:extLst>
              <a:ext uri="{FF2B5EF4-FFF2-40B4-BE49-F238E27FC236}">
                <a16:creationId xmlns:a16="http://schemas.microsoft.com/office/drawing/2014/main" id="{B93D3B0E-9760-76BA-8D41-8D1AB340AACE}"/>
              </a:ext>
            </a:extLst>
          </p:cNvPr>
          <p:cNvSpPr/>
          <p:nvPr/>
        </p:nvSpPr>
        <p:spPr>
          <a:xfrm>
            <a:off x="12520345" y="5050435"/>
            <a:ext cx="529052" cy="0"/>
          </a:xfrm>
          <a:prstGeom prst="line">
            <a:avLst/>
          </a:prstGeom>
          <a:noFill/>
          <a:ln w="19050">
            <a:solidFill>
              <a:schemeClr val="bg1"/>
            </a:solidFill>
            <a:prstDash val="solid"/>
            <a:tailEnd type="triangle"/>
          </a:ln>
        </p:spPr>
        <p:txBody>
          <a:bodyPr/>
          <a:lstStyle/>
          <a:p>
            <a:endParaRPr lang="en-US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38" name="Shape 19">
            <a:extLst>
              <a:ext uri="{FF2B5EF4-FFF2-40B4-BE49-F238E27FC236}">
                <a16:creationId xmlns:a16="http://schemas.microsoft.com/office/drawing/2014/main" id="{2AE9CD5B-01D6-3BE4-5601-0DCA5FF02CD7}"/>
              </a:ext>
            </a:extLst>
          </p:cNvPr>
          <p:cNvSpPr/>
          <p:nvPr/>
        </p:nvSpPr>
        <p:spPr>
          <a:xfrm>
            <a:off x="13172432" y="4275290"/>
            <a:ext cx="2977454" cy="1561859"/>
          </a:xfrm>
          <a:prstGeom prst="roundRect">
            <a:avLst>
              <a:gd name="adj" fmla="val 2963"/>
            </a:avLst>
          </a:prstGeom>
          <a:solidFill>
            <a:srgbClr val="F9FBFD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41" name="Text 21">
            <a:extLst>
              <a:ext uri="{FF2B5EF4-FFF2-40B4-BE49-F238E27FC236}">
                <a16:creationId xmlns:a16="http://schemas.microsoft.com/office/drawing/2014/main" id="{596BE242-DB32-C557-F2A3-3AD7B5406FA1}"/>
              </a:ext>
            </a:extLst>
          </p:cNvPr>
          <p:cNvSpPr/>
          <p:nvPr/>
        </p:nvSpPr>
        <p:spPr>
          <a:xfrm>
            <a:off x="13393895" y="4599231"/>
            <a:ext cx="2559134" cy="2545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22033"/>
                </a:solidFill>
                <a:latin typeface="Proxima Nova" panose="020B0604020202020204" charset="0"/>
                <a:cs typeface="Proxima Nova" panose="020B0604020202020204" charset="0"/>
              </a:rPr>
              <a:t>Impact</a:t>
            </a:r>
            <a:endParaRPr lang="en-US" sz="18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43" name="Text 22">
            <a:extLst>
              <a:ext uri="{FF2B5EF4-FFF2-40B4-BE49-F238E27FC236}">
                <a16:creationId xmlns:a16="http://schemas.microsoft.com/office/drawing/2014/main" id="{819215CD-171F-2992-D795-2236C7CCFAA6}"/>
              </a:ext>
            </a:extLst>
          </p:cNvPr>
          <p:cNvSpPr/>
          <p:nvPr/>
        </p:nvSpPr>
        <p:spPr>
          <a:xfrm>
            <a:off x="13418502" y="5004157"/>
            <a:ext cx="2485313" cy="53218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34495E"/>
                </a:solidFill>
                <a:latin typeface="Proxima Nova" panose="020B0604020202020204" charset="0"/>
                <a:cs typeface="Proxima Nova" panose="020B0604020202020204" charset="0"/>
              </a:rPr>
              <a:t>Data theft, fraud, service outage, ransomware, or persistence.</a:t>
            </a:r>
            <a:endParaRPr lang="en-US" sz="15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46" name="Text 23">
            <a:extLst>
              <a:ext uri="{FF2B5EF4-FFF2-40B4-BE49-F238E27FC236}">
                <a16:creationId xmlns:a16="http://schemas.microsoft.com/office/drawing/2014/main" id="{FA85643C-D158-26D8-1432-9D94D6E6EAE5}"/>
              </a:ext>
            </a:extLst>
          </p:cNvPr>
          <p:cNvSpPr/>
          <p:nvPr/>
        </p:nvSpPr>
        <p:spPr>
          <a:xfrm>
            <a:off x="2148470" y="6522186"/>
            <a:ext cx="3273535" cy="5066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  <a:latin typeface="Proxima Nova" panose="020B0604020202020204" charset="0"/>
                <a:cs typeface="Proxima Nova" panose="020B0604020202020204" charset="0"/>
              </a:rPr>
              <a:t>EXAMPLES TO RECOGNIZE</a:t>
            </a:r>
            <a:endParaRPr lang="en-US" sz="1600" dirty="0">
              <a:solidFill>
                <a:schemeClr val="bg1"/>
              </a:solidFill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49" name="Shape 24">
            <a:extLst>
              <a:ext uri="{FF2B5EF4-FFF2-40B4-BE49-F238E27FC236}">
                <a16:creationId xmlns:a16="http://schemas.microsoft.com/office/drawing/2014/main" id="{61B702DA-0FAB-AAB3-28F7-439C6CCB108F}"/>
              </a:ext>
            </a:extLst>
          </p:cNvPr>
          <p:cNvSpPr/>
          <p:nvPr/>
        </p:nvSpPr>
        <p:spPr>
          <a:xfrm>
            <a:off x="2148470" y="7098205"/>
            <a:ext cx="3273535" cy="0"/>
          </a:xfrm>
          <a:prstGeom prst="line">
            <a:avLst/>
          </a:prstGeom>
          <a:noFill/>
          <a:ln w="1905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US" dirty="0">
              <a:highlight>
                <a:srgbClr val="C0C0C0"/>
              </a:highlight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51" name="Shape 25">
            <a:extLst>
              <a:ext uri="{FF2B5EF4-FFF2-40B4-BE49-F238E27FC236}">
                <a16:creationId xmlns:a16="http://schemas.microsoft.com/office/drawing/2014/main" id="{64D8BB0F-B1B1-FFE2-3A6E-D742C96A23C5}"/>
              </a:ext>
            </a:extLst>
          </p:cNvPr>
          <p:cNvSpPr/>
          <p:nvPr/>
        </p:nvSpPr>
        <p:spPr>
          <a:xfrm>
            <a:off x="2160775" y="7399007"/>
            <a:ext cx="4576912" cy="1214779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016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54" name="Text 27">
            <a:extLst>
              <a:ext uri="{FF2B5EF4-FFF2-40B4-BE49-F238E27FC236}">
                <a16:creationId xmlns:a16="http://schemas.microsoft.com/office/drawing/2014/main" id="{4D6CE788-4ECC-EFE6-A803-2EAFA8DFAC36}"/>
              </a:ext>
            </a:extLst>
          </p:cNvPr>
          <p:cNvSpPr/>
          <p:nvPr/>
        </p:nvSpPr>
        <p:spPr>
          <a:xfrm>
            <a:off x="2431452" y="7584116"/>
            <a:ext cx="4109378" cy="28923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22033"/>
                </a:solidFill>
                <a:latin typeface="Proxima Nova" panose="020B0604020202020204" charset="0"/>
                <a:cs typeface="Proxima Nova" panose="020B0604020202020204" charset="0"/>
              </a:rPr>
              <a:t>Credential attacks</a:t>
            </a:r>
            <a:endParaRPr lang="en-US" sz="18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57" name="Text 28">
            <a:extLst>
              <a:ext uri="{FF2B5EF4-FFF2-40B4-BE49-F238E27FC236}">
                <a16:creationId xmlns:a16="http://schemas.microsoft.com/office/drawing/2014/main" id="{04AEE3C0-78FC-E0F8-C682-343FEE730D38}"/>
              </a:ext>
            </a:extLst>
          </p:cNvPr>
          <p:cNvSpPr/>
          <p:nvPr/>
        </p:nvSpPr>
        <p:spPr>
          <a:xfrm>
            <a:off x="2431452" y="8000612"/>
            <a:ext cx="4133985" cy="4512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34495E"/>
                </a:solidFill>
                <a:latin typeface="Proxima Nova" panose="020B0604020202020204" charset="0"/>
                <a:cs typeface="Proxima Nova" panose="020B0604020202020204" charset="0"/>
              </a:rPr>
              <a:t>Password spraying, credential stuffing, brute force, and reuse of leaked passwords.</a:t>
            </a:r>
            <a:endParaRPr lang="en-US" sz="15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60" name="Shape 29">
            <a:extLst>
              <a:ext uri="{FF2B5EF4-FFF2-40B4-BE49-F238E27FC236}">
                <a16:creationId xmlns:a16="http://schemas.microsoft.com/office/drawing/2014/main" id="{76476F28-80E2-3B6C-406B-13A731A67D8F}"/>
              </a:ext>
            </a:extLst>
          </p:cNvPr>
          <p:cNvSpPr/>
          <p:nvPr/>
        </p:nvSpPr>
        <p:spPr>
          <a:xfrm>
            <a:off x="6996061" y="7399007"/>
            <a:ext cx="4576912" cy="1214779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016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63" name="Text 31">
            <a:extLst>
              <a:ext uri="{FF2B5EF4-FFF2-40B4-BE49-F238E27FC236}">
                <a16:creationId xmlns:a16="http://schemas.microsoft.com/office/drawing/2014/main" id="{9E89C31A-BA59-8C15-EFB6-D02417C53424}"/>
              </a:ext>
            </a:extLst>
          </p:cNvPr>
          <p:cNvSpPr/>
          <p:nvPr/>
        </p:nvSpPr>
        <p:spPr>
          <a:xfrm>
            <a:off x="7266739" y="7584116"/>
            <a:ext cx="4109378" cy="28923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22033"/>
                </a:solidFill>
                <a:latin typeface="Proxima Nova" panose="020B0604020202020204" charset="0"/>
                <a:cs typeface="Proxima Nova" panose="020B0604020202020204" charset="0"/>
              </a:rPr>
              <a:t>Malware delivery</a:t>
            </a:r>
            <a:endParaRPr lang="en-US" sz="18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65" name="Text 32">
            <a:extLst>
              <a:ext uri="{FF2B5EF4-FFF2-40B4-BE49-F238E27FC236}">
                <a16:creationId xmlns:a16="http://schemas.microsoft.com/office/drawing/2014/main" id="{CE353320-0D86-AA80-B6F0-520086FD9533}"/>
              </a:ext>
            </a:extLst>
          </p:cNvPr>
          <p:cNvSpPr/>
          <p:nvPr/>
        </p:nvSpPr>
        <p:spPr>
          <a:xfrm>
            <a:off x="7266739" y="8000612"/>
            <a:ext cx="4133985" cy="4512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34495E"/>
                </a:solidFill>
                <a:latin typeface="Proxima Nova" panose="020B0604020202020204" charset="0"/>
                <a:cs typeface="Proxima Nova" panose="020B0604020202020204" charset="0"/>
              </a:rPr>
              <a:t>Ransomware, trojans, spyware, malicious documents, or drive-by downloads.</a:t>
            </a:r>
            <a:endParaRPr lang="en-US" sz="15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67" name="Shape 33">
            <a:extLst>
              <a:ext uri="{FF2B5EF4-FFF2-40B4-BE49-F238E27FC236}">
                <a16:creationId xmlns:a16="http://schemas.microsoft.com/office/drawing/2014/main" id="{805C447E-9168-C433-3F66-2D30D3086D2E}"/>
              </a:ext>
            </a:extLst>
          </p:cNvPr>
          <p:cNvSpPr/>
          <p:nvPr/>
        </p:nvSpPr>
        <p:spPr>
          <a:xfrm>
            <a:off x="11843651" y="7399007"/>
            <a:ext cx="4576912" cy="1214779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016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69" name="Text 35">
            <a:extLst>
              <a:ext uri="{FF2B5EF4-FFF2-40B4-BE49-F238E27FC236}">
                <a16:creationId xmlns:a16="http://schemas.microsoft.com/office/drawing/2014/main" id="{1211D6B4-95DD-B023-9526-C184C4066B91}"/>
              </a:ext>
            </a:extLst>
          </p:cNvPr>
          <p:cNvSpPr/>
          <p:nvPr/>
        </p:nvSpPr>
        <p:spPr>
          <a:xfrm>
            <a:off x="12114328" y="7584116"/>
            <a:ext cx="4109378" cy="28923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22033"/>
                </a:solidFill>
                <a:latin typeface="Proxima Nova" panose="020B0604020202020204" charset="0"/>
                <a:cs typeface="Proxima Nova" panose="020B0604020202020204" charset="0"/>
              </a:rPr>
              <a:t>Exploitation</a:t>
            </a:r>
            <a:endParaRPr lang="en-US" sz="18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71" name="Text 36">
            <a:extLst>
              <a:ext uri="{FF2B5EF4-FFF2-40B4-BE49-F238E27FC236}">
                <a16:creationId xmlns:a16="http://schemas.microsoft.com/office/drawing/2014/main" id="{53F82C62-A22B-309F-415C-664B0D8894BA}"/>
              </a:ext>
            </a:extLst>
          </p:cNvPr>
          <p:cNvSpPr/>
          <p:nvPr/>
        </p:nvSpPr>
        <p:spPr>
          <a:xfrm>
            <a:off x="12114328" y="8000612"/>
            <a:ext cx="4133985" cy="4512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34495E"/>
                </a:solidFill>
                <a:latin typeface="Proxima Nova" panose="020B0604020202020204" charset="0"/>
                <a:cs typeface="Proxima Nova" panose="020B0604020202020204" charset="0"/>
              </a:rPr>
              <a:t>Unpatched systems, insecure services, weak configuration, exposed admin panels.</a:t>
            </a:r>
            <a:endParaRPr lang="en-US" sz="1500" dirty="0">
              <a:latin typeface="Proxima Nova" panose="020B0604020202020204" charset="0"/>
              <a:cs typeface="Proxima Nova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17854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FF5024-5244-D7B3-8314-926FFDD780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ABDABD-F43F-4307-403C-0CDC33BED8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5342" y="1868702"/>
            <a:ext cx="15773403" cy="587129"/>
          </a:xfrm>
        </p:spPr>
        <p:txBody>
          <a:bodyPr>
            <a:noAutofit/>
          </a:bodyPr>
          <a:lstStyle/>
          <a:p>
            <a:r>
              <a:rPr lang="en-US" dirty="0">
                <a:solidFill>
                  <a:srgbClr val="F8FAFC"/>
                </a:solidFill>
                <a:latin typeface="Proxima Nova" panose="020B0604020202020204" charset="0"/>
                <a:ea typeface="Aptos Display" pitchFamily="34" charset="-122"/>
                <a:cs typeface="Proxima Nova" panose="020B0604020202020204" charset="0"/>
              </a:rPr>
              <a:t>Risk, Vulnerability, and Controls</a:t>
            </a:r>
            <a:endParaRPr lang="en-US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FAB457-64EF-9575-C106-47AB56F222BD}"/>
              </a:ext>
            </a:extLst>
          </p:cNvPr>
          <p:cNvSpPr txBox="1"/>
          <p:nvPr/>
        </p:nvSpPr>
        <p:spPr>
          <a:xfrm>
            <a:off x="5076711" y="2538572"/>
            <a:ext cx="900201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i="1" dirty="0">
                <a:solidFill>
                  <a:schemeClr val="bg1"/>
                </a:solidFill>
                <a:latin typeface="Proxima Nova" panose="020B0604020202020204" charset="0"/>
                <a:cs typeface="Proxima Nova" panose="020B0604020202020204" charset="0"/>
              </a:rPr>
              <a:t>“</a:t>
            </a:r>
            <a:r>
              <a:rPr lang="en-US" sz="2000" dirty="0">
                <a:solidFill>
                  <a:schemeClr val="bg1"/>
                </a:solidFill>
                <a:latin typeface="Proxima Nova" panose="020B0604020202020204" charset="0"/>
                <a:cs typeface="Proxima Nova" panose="020B0604020202020204" charset="0"/>
              </a:rPr>
              <a:t>Security decisions become clearer when risk is expressed consistently</a:t>
            </a:r>
            <a:r>
              <a:rPr lang="en-US" sz="2000" b="1" i="1" dirty="0">
                <a:solidFill>
                  <a:schemeClr val="bg1"/>
                </a:solidFill>
                <a:latin typeface="Proxima Nova" panose="020B0604020202020204" charset="0"/>
                <a:cs typeface="Proxima Nova" panose="020B0604020202020204" charset="0"/>
              </a:rPr>
              <a:t>”</a:t>
            </a:r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99C6DA80-841E-D511-D50C-50145E9396E9}"/>
              </a:ext>
            </a:extLst>
          </p:cNvPr>
          <p:cNvSpPr/>
          <p:nvPr/>
        </p:nvSpPr>
        <p:spPr>
          <a:xfrm>
            <a:off x="2987898" y="3420481"/>
            <a:ext cx="12144778" cy="858448"/>
          </a:xfrm>
          <a:prstGeom prst="roundRect">
            <a:avLst>
              <a:gd name="adj" fmla="val 10256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alpha val="0"/>
              </a:schemeClr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bg1"/>
              </a:solidFill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66C63210-C5A0-4C4C-482E-7E665C53F98C}"/>
              </a:ext>
            </a:extLst>
          </p:cNvPr>
          <p:cNvSpPr/>
          <p:nvPr/>
        </p:nvSpPr>
        <p:spPr>
          <a:xfrm>
            <a:off x="2066138" y="3726229"/>
            <a:ext cx="14706447" cy="25871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tx1"/>
                </a:solidFill>
                <a:latin typeface="Proxima Nova" panose="020B0604020202020204" charset="0"/>
                <a:cs typeface="Proxima Nova" panose="020B0604020202020204" charset="0"/>
              </a:rPr>
              <a:t>Risk = Threat × Vulnerability × Impact</a:t>
            </a:r>
            <a:endParaRPr lang="en-US" sz="1700" dirty="0">
              <a:solidFill>
                <a:schemeClr val="tx1"/>
              </a:solidFill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13" name="Shape 6">
            <a:extLst>
              <a:ext uri="{FF2B5EF4-FFF2-40B4-BE49-F238E27FC236}">
                <a16:creationId xmlns:a16="http://schemas.microsoft.com/office/drawing/2014/main" id="{A5C1C779-1E24-7E67-0480-E308DAD4FFD8}"/>
              </a:ext>
            </a:extLst>
          </p:cNvPr>
          <p:cNvSpPr/>
          <p:nvPr/>
        </p:nvSpPr>
        <p:spPr>
          <a:xfrm>
            <a:off x="1661373" y="4866906"/>
            <a:ext cx="4789714" cy="1387628"/>
          </a:xfrm>
          <a:prstGeom prst="roundRect">
            <a:avLst>
              <a:gd name="adj" fmla="val 4237"/>
            </a:avLst>
          </a:prstGeom>
          <a:solidFill>
            <a:srgbClr val="FFFFFF"/>
          </a:solidFill>
          <a:ln w="1016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20" name="Text 8">
            <a:extLst>
              <a:ext uri="{FF2B5EF4-FFF2-40B4-BE49-F238E27FC236}">
                <a16:creationId xmlns:a16="http://schemas.microsoft.com/office/drawing/2014/main" id="{AB2B0626-D6A4-5988-6C09-D124CFE5133E}"/>
              </a:ext>
            </a:extLst>
          </p:cNvPr>
          <p:cNvSpPr/>
          <p:nvPr/>
        </p:nvSpPr>
        <p:spPr>
          <a:xfrm>
            <a:off x="1958200" y="5055059"/>
            <a:ext cx="4277013" cy="29398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22033"/>
                </a:solidFill>
                <a:latin typeface="Proxima Nova" panose="020B0604020202020204" charset="0"/>
                <a:cs typeface="Proxima Nova" panose="020B0604020202020204" charset="0"/>
              </a:rPr>
              <a:t>Threat</a:t>
            </a:r>
            <a:endParaRPr lang="en-US" sz="18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23" name="Text 9">
            <a:extLst>
              <a:ext uri="{FF2B5EF4-FFF2-40B4-BE49-F238E27FC236}">
                <a16:creationId xmlns:a16="http://schemas.microsoft.com/office/drawing/2014/main" id="{1F45F43D-F0A4-7C1F-F2F4-57F80920B97E}"/>
              </a:ext>
            </a:extLst>
          </p:cNvPr>
          <p:cNvSpPr/>
          <p:nvPr/>
        </p:nvSpPr>
        <p:spPr>
          <a:xfrm>
            <a:off x="1958200" y="5478403"/>
            <a:ext cx="4303997" cy="61149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34495E"/>
                </a:solidFill>
                <a:latin typeface="Proxima Nova" panose="020B0604020202020204" charset="0"/>
                <a:cs typeface="Proxima Nova" panose="020B0604020202020204" charset="0"/>
              </a:rPr>
              <a:t>A source of potential harm: attacker, malware, disaster, human error, or process failure.</a:t>
            </a:r>
            <a:endParaRPr lang="en-US" sz="15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26" name="Shape 10">
            <a:extLst>
              <a:ext uri="{FF2B5EF4-FFF2-40B4-BE49-F238E27FC236}">
                <a16:creationId xmlns:a16="http://schemas.microsoft.com/office/drawing/2014/main" id="{021902C4-946F-D90E-8EBA-47BB00239C51}"/>
              </a:ext>
            </a:extLst>
          </p:cNvPr>
          <p:cNvSpPr/>
          <p:nvPr/>
        </p:nvSpPr>
        <p:spPr>
          <a:xfrm>
            <a:off x="7058234" y="4866906"/>
            <a:ext cx="4789714" cy="1387628"/>
          </a:xfrm>
          <a:prstGeom prst="roundRect">
            <a:avLst>
              <a:gd name="adj" fmla="val 4237"/>
            </a:avLst>
          </a:prstGeom>
          <a:solidFill>
            <a:srgbClr val="FFFFFF"/>
          </a:solidFill>
          <a:ln w="1016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32" name="Text 12">
            <a:extLst>
              <a:ext uri="{FF2B5EF4-FFF2-40B4-BE49-F238E27FC236}">
                <a16:creationId xmlns:a16="http://schemas.microsoft.com/office/drawing/2014/main" id="{8E929301-57A1-EFA2-AD45-93D97D98D1F1}"/>
              </a:ext>
            </a:extLst>
          </p:cNvPr>
          <p:cNvSpPr/>
          <p:nvPr/>
        </p:nvSpPr>
        <p:spPr>
          <a:xfrm>
            <a:off x="7355062" y="5055059"/>
            <a:ext cx="4277013" cy="29398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22033"/>
                </a:solidFill>
                <a:latin typeface="Proxima Nova" panose="020B0604020202020204" charset="0"/>
                <a:cs typeface="Proxima Nova" panose="020B0604020202020204" charset="0"/>
              </a:rPr>
              <a:t>Vulnerability</a:t>
            </a:r>
            <a:endParaRPr lang="en-US" sz="18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36" name="Text 13">
            <a:extLst>
              <a:ext uri="{FF2B5EF4-FFF2-40B4-BE49-F238E27FC236}">
                <a16:creationId xmlns:a16="http://schemas.microsoft.com/office/drawing/2014/main" id="{13785791-E996-6D5A-FF6E-85D14C796ABE}"/>
              </a:ext>
            </a:extLst>
          </p:cNvPr>
          <p:cNvSpPr/>
          <p:nvPr/>
        </p:nvSpPr>
        <p:spPr>
          <a:xfrm>
            <a:off x="7355062" y="5478403"/>
            <a:ext cx="4303997" cy="61149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34495E"/>
                </a:solidFill>
                <a:latin typeface="Proxima Nova" panose="020B0604020202020204" charset="0"/>
                <a:cs typeface="Proxima Nova" panose="020B0604020202020204" charset="0"/>
              </a:rPr>
              <a:t>A weakness that can be abused: missing patch, weak password, misconfiguration, or exposed service.</a:t>
            </a:r>
            <a:endParaRPr lang="en-US" sz="15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39" name="Shape 14">
            <a:extLst>
              <a:ext uri="{FF2B5EF4-FFF2-40B4-BE49-F238E27FC236}">
                <a16:creationId xmlns:a16="http://schemas.microsoft.com/office/drawing/2014/main" id="{5CDC5CA7-F095-306F-C8FD-0350E46BC75E}"/>
              </a:ext>
            </a:extLst>
          </p:cNvPr>
          <p:cNvSpPr/>
          <p:nvPr/>
        </p:nvSpPr>
        <p:spPr>
          <a:xfrm>
            <a:off x="12455096" y="4866906"/>
            <a:ext cx="4789714" cy="1387628"/>
          </a:xfrm>
          <a:prstGeom prst="roundRect">
            <a:avLst>
              <a:gd name="adj" fmla="val 4237"/>
            </a:avLst>
          </a:prstGeom>
          <a:solidFill>
            <a:srgbClr val="FFFFFF"/>
          </a:solidFill>
          <a:ln w="1016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45" name="Text 16">
            <a:extLst>
              <a:ext uri="{FF2B5EF4-FFF2-40B4-BE49-F238E27FC236}">
                <a16:creationId xmlns:a16="http://schemas.microsoft.com/office/drawing/2014/main" id="{A9641875-9AA9-93F6-38E8-16D52DF06C20}"/>
              </a:ext>
            </a:extLst>
          </p:cNvPr>
          <p:cNvSpPr/>
          <p:nvPr/>
        </p:nvSpPr>
        <p:spPr>
          <a:xfrm>
            <a:off x="12751923" y="5055059"/>
            <a:ext cx="4277013" cy="29398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22033"/>
                </a:solidFill>
                <a:latin typeface="Proxima Nova" panose="020B0604020202020204" charset="0"/>
                <a:cs typeface="Proxima Nova" panose="020B0604020202020204" charset="0"/>
              </a:rPr>
              <a:t>Impact</a:t>
            </a:r>
            <a:endParaRPr lang="en-US" sz="18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48" name="Text 17">
            <a:extLst>
              <a:ext uri="{FF2B5EF4-FFF2-40B4-BE49-F238E27FC236}">
                <a16:creationId xmlns:a16="http://schemas.microsoft.com/office/drawing/2014/main" id="{620AD8A5-66EA-0BE0-722F-0D7C883E7D9F}"/>
              </a:ext>
            </a:extLst>
          </p:cNvPr>
          <p:cNvSpPr/>
          <p:nvPr/>
        </p:nvSpPr>
        <p:spPr>
          <a:xfrm>
            <a:off x="12751923" y="5478403"/>
            <a:ext cx="4303997" cy="61149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34495E"/>
                </a:solidFill>
                <a:latin typeface="Proxima Nova" panose="020B0604020202020204" charset="0"/>
                <a:cs typeface="Proxima Nova" panose="020B0604020202020204" charset="0"/>
              </a:rPr>
              <a:t>The business consequence: downtime, data leakage, financial loss, legal exposure, or reputation damage.</a:t>
            </a:r>
            <a:endParaRPr lang="en-US" sz="15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52" name="Text 18">
            <a:extLst>
              <a:ext uri="{FF2B5EF4-FFF2-40B4-BE49-F238E27FC236}">
                <a16:creationId xmlns:a16="http://schemas.microsoft.com/office/drawing/2014/main" id="{D51B84DB-7B38-F5EB-848C-DB1EAB82512C}"/>
              </a:ext>
            </a:extLst>
          </p:cNvPr>
          <p:cNvSpPr/>
          <p:nvPr/>
        </p:nvSpPr>
        <p:spPr>
          <a:xfrm>
            <a:off x="1715342" y="7183539"/>
            <a:ext cx="3170656" cy="211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  <a:latin typeface="Proxima Nova" panose="020B0604020202020204" charset="0"/>
                <a:cs typeface="Proxima Nova" panose="020B0604020202020204" charset="0"/>
              </a:rPr>
              <a:t>CONTROL CATEGORIES</a:t>
            </a:r>
            <a:endParaRPr lang="en-US" sz="1600" dirty="0">
              <a:solidFill>
                <a:schemeClr val="bg1"/>
              </a:solidFill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55" name="Shape 19">
            <a:extLst>
              <a:ext uri="{FF2B5EF4-FFF2-40B4-BE49-F238E27FC236}">
                <a16:creationId xmlns:a16="http://schemas.microsoft.com/office/drawing/2014/main" id="{88BBC980-293C-5604-2148-598AD15D8A49}"/>
              </a:ext>
            </a:extLst>
          </p:cNvPr>
          <p:cNvSpPr/>
          <p:nvPr/>
        </p:nvSpPr>
        <p:spPr>
          <a:xfrm>
            <a:off x="1715342" y="7465768"/>
            <a:ext cx="3170656" cy="0"/>
          </a:xfrm>
          <a:prstGeom prst="line">
            <a:avLst/>
          </a:prstGeom>
          <a:noFill/>
          <a:ln w="1905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US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58" name="Text 20">
            <a:extLst>
              <a:ext uri="{FF2B5EF4-FFF2-40B4-BE49-F238E27FC236}">
                <a16:creationId xmlns:a16="http://schemas.microsoft.com/office/drawing/2014/main" id="{FA0BA8A4-1BB9-3859-80A8-55BBAB0A3D0D}"/>
              </a:ext>
            </a:extLst>
          </p:cNvPr>
          <p:cNvSpPr/>
          <p:nvPr/>
        </p:nvSpPr>
        <p:spPr>
          <a:xfrm>
            <a:off x="1863755" y="7842074"/>
            <a:ext cx="3103195" cy="2822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  <a:latin typeface="Proxima Nova" panose="020B0604020202020204" charset="0"/>
                <a:cs typeface="Proxima Nova" panose="020B0604020202020204" charset="0"/>
              </a:rPr>
              <a:t>Administrative</a:t>
            </a:r>
            <a:endParaRPr lang="en-US" sz="1800" dirty="0">
              <a:solidFill>
                <a:schemeClr val="bg1"/>
              </a:solidFill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61" name="Text 21">
            <a:extLst>
              <a:ext uri="{FF2B5EF4-FFF2-40B4-BE49-F238E27FC236}">
                <a16:creationId xmlns:a16="http://schemas.microsoft.com/office/drawing/2014/main" id="{3F6AEC59-D49D-5637-E063-623EA3AB4606}"/>
              </a:ext>
            </a:extLst>
          </p:cNvPr>
          <p:cNvSpPr/>
          <p:nvPr/>
        </p:nvSpPr>
        <p:spPr>
          <a:xfrm>
            <a:off x="1863755" y="8241899"/>
            <a:ext cx="3980185" cy="7408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  <a:latin typeface="Proxima Nova" panose="020B0604020202020204" charset="0"/>
                <a:cs typeface="Proxima Nova" panose="020B0604020202020204" charset="0"/>
              </a:rPr>
              <a:t>Policy, standards, training, risk assessment, and vendor management.</a:t>
            </a:r>
          </a:p>
        </p:txBody>
      </p:sp>
      <p:sp>
        <p:nvSpPr>
          <p:cNvPr id="64" name="Text 22">
            <a:extLst>
              <a:ext uri="{FF2B5EF4-FFF2-40B4-BE49-F238E27FC236}">
                <a16:creationId xmlns:a16="http://schemas.microsoft.com/office/drawing/2014/main" id="{64D2B0E6-2400-800A-27A1-059FB4E26FBC}"/>
              </a:ext>
            </a:extLst>
          </p:cNvPr>
          <p:cNvSpPr/>
          <p:nvPr/>
        </p:nvSpPr>
        <p:spPr>
          <a:xfrm>
            <a:off x="7328077" y="7842074"/>
            <a:ext cx="3103195" cy="2822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  <a:latin typeface="Proxima Nova" panose="020B0604020202020204" charset="0"/>
                <a:cs typeface="Proxima Nova" panose="020B0604020202020204" charset="0"/>
              </a:rPr>
              <a:t>Technical</a:t>
            </a:r>
            <a:endParaRPr lang="en-US" sz="1800" dirty="0">
              <a:solidFill>
                <a:schemeClr val="bg1"/>
              </a:solidFill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68" name="Text 23">
            <a:extLst>
              <a:ext uri="{FF2B5EF4-FFF2-40B4-BE49-F238E27FC236}">
                <a16:creationId xmlns:a16="http://schemas.microsoft.com/office/drawing/2014/main" id="{B73B3CE8-3A9B-415B-5CBF-6507257D7535}"/>
              </a:ext>
            </a:extLst>
          </p:cNvPr>
          <p:cNvSpPr/>
          <p:nvPr/>
        </p:nvSpPr>
        <p:spPr>
          <a:xfrm>
            <a:off x="7328077" y="8241899"/>
            <a:ext cx="3980185" cy="69603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  <a:latin typeface="Proxima Nova" panose="020B0604020202020204" charset="0"/>
                <a:cs typeface="Proxima Nova" panose="020B0604020202020204" charset="0"/>
              </a:rPr>
              <a:t>Firewall, MFA, encryption, logging, endpoint protection, backup, and vulnerability management.</a:t>
            </a:r>
          </a:p>
        </p:txBody>
      </p:sp>
      <p:sp>
        <p:nvSpPr>
          <p:cNvPr id="72" name="Text 24">
            <a:extLst>
              <a:ext uri="{FF2B5EF4-FFF2-40B4-BE49-F238E27FC236}">
                <a16:creationId xmlns:a16="http://schemas.microsoft.com/office/drawing/2014/main" id="{6A9B9943-0606-2DEA-2B97-FDCBFB497CFD}"/>
              </a:ext>
            </a:extLst>
          </p:cNvPr>
          <p:cNvSpPr/>
          <p:nvPr/>
        </p:nvSpPr>
        <p:spPr>
          <a:xfrm>
            <a:off x="12724939" y="7842074"/>
            <a:ext cx="3103195" cy="2822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  <a:latin typeface="Proxima Nova" panose="020B0604020202020204" charset="0"/>
                <a:cs typeface="Proxima Nova" panose="020B0604020202020204" charset="0"/>
              </a:rPr>
              <a:t>Physical</a:t>
            </a:r>
            <a:endParaRPr lang="en-US" sz="1800" dirty="0">
              <a:solidFill>
                <a:schemeClr val="bg1"/>
              </a:solidFill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74" name="Text 25">
            <a:extLst>
              <a:ext uri="{FF2B5EF4-FFF2-40B4-BE49-F238E27FC236}">
                <a16:creationId xmlns:a16="http://schemas.microsoft.com/office/drawing/2014/main" id="{AC749F45-E7A9-DAE0-FBFC-C18938C35560}"/>
              </a:ext>
            </a:extLst>
          </p:cNvPr>
          <p:cNvSpPr/>
          <p:nvPr/>
        </p:nvSpPr>
        <p:spPr>
          <a:xfrm>
            <a:off x="12724939" y="8241899"/>
            <a:ext cx="3980185" cy="3998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  <a:latin typeface="Proxima Nova" panose="020B0604020202020204" charset="0"/>
                <a:cs typeface="Proxima Nova" panose="020B0604020202020204" charset="0"/>
              </a:rPr>
              <a:t>Badges, secure rooms, CCTV, environmental controls, and asset protection.</a:t>
            </a:r>
          </a:p>
        </p:txBody>
      </p:sp>
    </p:spTree>
    <p:extLst>
      <p:ext uri="{BB962C8B-B14F-4D97-AF65-F5344CB8AC3E}">
        <p14:creationId xmlns:p14="http://schemas.microsoft.com/office/powerpoint/2010/main" val="13474081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5AA5A23-78B5-8691-83AA-0629759E04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Threat Landscape</a:t>
            </a:r>
            <a:br>
              <a:rPr lang="en-US" dirty="0">
                <a:solidFill>
                  <a:schemeClr val="bg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</a:br>
            <a:br>
              <a:rPr lang="en-US" dirty="0"/>
            </a:br>
            <a:r>
              <a:rPr lang="en-US" sz="2500" dirty="0">
                <a:solidFill>
                  <a:srgbClr val="B94A48"/>
                </a:solidFill>
              </a:rPr>
              <a:t>ACTOR CATEGORIES</a:t>
            </a:r>
            <a:endParaRPr lang="en-US" sz="25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5F7D71-87E9-A23B-446D-4FFF6AEA57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642107" y="3984172"/>
            <a:ext cx="4944473" cy="5381896"/>
          </a:xfrm>
        </p:spPr>
        <p:txBody>
          <a:bodyPr>
            <a:noAutofit/>
          </a:bodyPr>
          <a:lstStyle/>
          <a:p>
            <a:r>
              <a:rPr lang="en-US" sz="1300" b="1" dirty="0"/>
              <a:t>Cybercriminals</a:t>
            </a:r>
          </a:p>
          <a:p>
            <a:r>
              <a:rPr lang="en-US" sz="1300" dirty="0"/>
              <a:t>Financial gain, credential theft, fraud, ransomware.</a:t>
            </a:r>
          </a:p>
          <a:p>
            <a:endParaRPr lang="en-US" sz="1300" dirty="0"/>
          </a:p>
          <a:p>
            <a:r>
              <a:rPr lang="en-US" sz="1300" b="1" dirty="0"/>
              <a:t>Hacktivists</a:t>
            </a:r>
          </a:p>
          <a:p>
            <a:r>
              <a:rPr lang="en-US" sz="1300" dirty="0"/>
              <a:t>Publicity, disruption, ideological motivation.</a:t>
            </a:r>
          </a:p>
          <a:p>
            <a:endParaRPr lang="en-US" sz="1300" dirty="0"/>
          </a:p>
          <a:p>
            <a:r>
              <a:rPr lang="en-US" sz="1300" b="1" dirty="0"/>
              <a:t>Insiders</a:t>
            </a:r>
          </a:p>
          <a:p>
            <a:r>
              <a:rPr lang="en-US" sz="1300" dirty="0"/>
              <a:t>Misuse by employees, contractors, or trusted partners.</a:t>
            </a:r>
          </a:p>
          <a:p>
            <a:endParaRPr lang="en-US" sz="1300" dirty="0"/>
          </a:p>
          <a:p>
            <a:r>
              <a:rPr lang="en-US" sz="1300" b="1" dirty="0"/>
              <a:t>Nation-state groups</a:t>
            </a:r>
          </a:p>
          <a:p>
            <a:r>
              <a:rPr lang="en-US" sz="1300" dirty="0"/>
              <a:t>Espionage, intelligence gathering, sabotage, influence.</a:t>
            </a:r>
          </a:p>
          <a:p>
            <a:endParaRPr lang="en-US" sz="1300" dirty="0"/>
          </a:p>
          <a:p>
            <a:r>
              <a:rPr lang="en-US" sz="1300" b="1" dirty="0"/>
              <a:t>Opportunistic attackers</a:t>
            </a:r>
          </a:p>
          <a:p>
            <a:r>
              <a:rPr lang="en-US" sz="1300" dirty="0"/>
              <a:t>Public tools, exposed services, weak passwords.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A7A4863-8BE5-5285-F111-45BA965B3070}"/>
              </a:ext>
            </a:extLst>
          </p:cNvPr>
          <p:cNvSpPr>
            <a:spLocks noGrp="1"/>
          </p:cNvSpPr>
          <p:nvPr>
            <p:ph type="pic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50952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631189-843E-252D-1C29-1E8E7BE04D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8FF081-2351-EDE0-6257-73A7D9AAB9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299" y="1859857"/>
            <a:ext cx="15773403" cy="587129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bg1"/>
                </a:solidFill>
                <a:latin typeface="Proxima Nova" panose="020B0604020202020204" charset="0"/>
                <a:ea typeface="Aptos Display" pitchFamily="34" charset="-122"/>
                <a:cs typeface="Proxima Nova" panose="020B0604020202020204" charset="0"/>
              </a:rPr>
              <a:t>Governance, Policy, and Ethics</a:t>
            </a:r>
            <a:endParaRPr lang="en-US" dirty="0">
              <a:solidFill>
                <a:schemeClr val="bg1"/>
              </a:solidFill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EAD46F-6235-43AC-601D-DF9EB15C79E2}"/>
              </a:ext>
            </a:extLst>
          </p:cNvPr>
          <p:cNvSpPr txBox="1"/>
          <p:nvPr/>
        </p:nvSpPr>
        <p:spPr>
          <a:xfrm>
            <a:off x="5218616" y="2488608"/>
            <a:ext cx="793680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i="1" dirty="0">
                <a:solidFill>
                  <a:schemeClr val="bg1"/>
                </a:solidFill>
                <a:latin typeface="Proxima Nova" panose="020B0604020202020204" charset="0"/>
                <a:cs typeface="Proxima Nova" panose="020B0604020202020204" charset="0"/>
              </a:rPr>
              <a:t>“</a:t>
            </a:r>
            <a:r>
              <a:rPr lang="en-US" sz="2000" dirty="0">
                <a:solidFill>
                  <a:schemeClr val="bg1"/>
                </a:solidFill>
                <a:latin typeface="Proxima Nova" panose="020B0604020202020204" charset="0"/>
                <a:cs typeface="Proxima Nova" panose="020B0604020202020204" charset="0"/>
              </a:rPr>
              <a:t>Cybersecurity must be authorized, documented, and accountable</a:t>
            </a:r>
            <a:r>
              <a:rPr lang="en-US" sz="2000" b="1" i="1" dirty="0">
                <a:solidFill>
                  <a:schemeClr val="bg1"/>
                </a:solidFill>
                <a:latin typeface="Proxima Nova" panose="020B0604020202020204" charset="0"/>
                <a:cs typeface="Proxima Nova" panose="020B0604020202020204" charset="0"/>
              </a:rPr>
              <a:t>”</a:t>
            </a:r>
          </a:p>
        </p:txBody>
      </p:sp>
      <p:sp>
        <p:nvSpPr>
          <p:cNvPr id="4" name="Text 4">
            <a:extLst>
              <a:ext uri="{FF2B5EF4-FFF2-40B4-BE49-F238E27FC236}">
                <a16:creationId xmlns:a16="http://schemas.microsoft.com/office/drawing/2014/main" id="{0478B2A2-7DC7-9CA8-70CC-E4DA5C0043A5}"/>
              </a:ext>
            </a:extLst>
          </p:cNvPr>
          <p:cNvSpPr/>
          <p:nvPr/>
        </p:nvSpPr>
        <p:spPr>
          <a:xfrm>
            <a:off x="1451747" y="3590254"/>
            <a:ext cx="16009728" cy="6850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chemeClr val="bg1"/>
                </a:solidFill>
                <a:latin typeface="Proxima Nova" panose="020B0604020202020204" charset="0"/>
                <a:cs typeface="Proxima Nova" panose="020B0604020202020204" charset="0"/>
              </a:rPr>
              <a:t>Good security work is not only technical. It also requires clear rules, scope, evidence handling, and ethical behavior.</a:t>
            </a:r>
            <a:endParaRPr lang="en-US" sz="2200" dirty="0">
              <a:solidFill>
                <a:schemeClr val="bg1"/>
              </a:solidFill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F387777C-F459-3213-F76E-4264DDDC423F}"/>
              </a:ext>
            </a:extLst>
          </p:cNvPr>
          <p:cNvSpPr/>
          <p:nvPr/>
        </p:nvSpPr>
        <p:spPr>
          <a:xfrm>
            <a:off x="1451747" y="4866011"/>
            <a:ext cx="4885241" cy="1712591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016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0577E764-78E9-2A32-AE0B-91460F5C8288}"/>
              </a:ext>
            </a:extLst>
          </p:cNvPr>
          <p:cNvSpPr/>
          <p:nvPr/>
        </p:nvSpPr>
        <p:spPr>
          <a:xfrm>
            <a:off x="1742221" y="5094356"/>
            <a:ext cx="4383514" cy="35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22033"/>
                </a:solidFill>
                <a:latin typeface="Proxima Nova" panose="020B0604020202020204" charset="0"/>
                <a:cs typeface="Proxima Nova" panose="020B0604020202020204" charset="0"/>
              </a:rPr>
              <a:t>Policies and standards</a:t>
            </a:r>
            <a:endParaRPr lang="en-US" sz="18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16" name="Text 8">
            <a:extLst>
              <a:ext uri="{FF2B5EF4-FFF2-40B4-BE49-F238E27FC236}">
                <a16:creationId xmlns:a16="http://schemas.microsoft.com/office/drawing/2014/main" id="{CAEA32DC-D63E-718B-ECFC-F48079C2EF38}"/>
              </a:ext>
            </a:extLst>
          </p:cNvPr>
          <p:cNvSpPr/>
          <p:nvPr/>
        </p:nvSpPr>
        <p:spPr>
          <a:xfrm>
            <a:off x="1742221" y="5608134"/>
            <a:ext cx="4409920" cy="770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34495E"/>
                </a:solidFill>
                <a:latin typeface="Proxima Nova" panose="020B0604020202020204" charset="0"/>
                <a:cs typeface="Proxima Nova" panose="020B0604020202020204" charset="0"/>
              </a:rPr>
              <a:t>Define expectations for acceptable use, access, password, data handling, patching, and incident reporting.</a:t>
            </a:r>
            <a:endParaRPr lang="en-US" sz="15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20" name="Shape 9">
            <a:extLst>
              <a:ext uri="{FF2B5EF4-FFF2-40B4-BE49-F238E27FC236}">
                <a16:creationId xmlns:a16="http://schemas.microsoft.com/office/drawing/2014/main" id="{4F66993B-AB88-8794-2D44-D799FD299BA9}"/>
              </a:ext>
            </a:extLst>
          </p:cNvPr>
          <p:cNvSpPr/>
          <p:nvPr/>
        </p:nvSpPr>
        <p:spPr>
          <a:xfrm>
            <a:off x="6627462" y="4866011"/>
            <a:ext cx="4885241" cy="1712591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016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24" name="Text 11">
            <a:extLst>
              <a:ext uri="{FF2B5EF4-FFF2-40B4-BE49-F238E27FC236}">
                <a16:creationId xmlns:a16="http://schemas.microsoft.com/office/drawing/2014/main" id="{665D6DE4-CC3D-106C-9F11-97BD8E9E61C2}"/>
              </a:ext>
            </a:extLst>
          </p:cNvPr>
          <p:cNvSpPr/>
          <p:nvPr/>
        </p:nvSpPr>
        <p:spPr>
          <a:xfrm>
            <a:off x="6917936" y="5094356"/>
            <a:ext cx="4383514" cy="35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22033"/>
                </a:solidFill>
                <a:latin typeface="Proxima Nova" panose="020B0604020202020204" charset="0"/>
                <a:cs typeface="Proxima Nova" panose="020B0604020202020204" charset="0"/>
              </a:rPr>
              <a:t>Legal and regulatory context</a:t>
            </a:r>
            <a:endParaRPr lang="en-US" sz="18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28" name="Text 12">
            <a:extLst>
              <a:ext uri="{FF2B5EF4-FFF2-40B4-BE49-F238E27FC236}">
                <a16:creationId xmlns:a16="http://schemas.microsoft.com/office/drawing/2014/main" id="{4542DEED-F0AE-FC90-DF93-11ACCFFBF796}"/>
              </a:ext>
            </a:extLst>
          </p:cNvPr>
          <p:cNvSpPr/>
          <p:nvPr/>
        </p:nvSpPr>
        <p:spPr>
          <a:xfrm>
            <a:off x="6917936" y="5608134"/>
            <a:ext cx="4409920" cy="770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34495E"/>
                </a:solidFill>
                <a:latin typeface="Proxima Nova" panose="020B0604020202020204" charset="0"/>
                <a:cs typeface="Proxima Nova" panose="020B0604020202020204" charset="0"/>
              </a:rPr>
              <a:t>Security activities must follow law, contract, privacy requirements, and organizational authorization.</a:t>
            </a:r>
            <a:endParaRPr lang="en-US" sz="15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32" name="Shape 13">
            <a:extLst>
              <a:ext uri="{FF2B5EF4-FFF2-40B4-BE49-F238E27FC236}">
                <a16:creationId xmlns:a16="http://schemas.microsoft.com/office/drawing/2014/main" id="{C027C1F6-D6DD-0744-2BC6-107D2F2A98E7}"/>
              </a:ext>
            </a:extLst>
          </p:cNvPr>
          <p:cNvSpPr/>
          <p:nvPr/>
        </p:nvSpPr>
        <p:spPr>
          <a:xfrm>
            <a:off x="11816380" y="4866011"/>
            <a:ext cx="4885241" cy="1712591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016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36" name="Text 15">
            <a:extLst>
              <a:ext uri="{FF2B5EF4-FFF2-40B4-BE49-F238E27FC236}">
                <a16:creationId xmlns:a16="http://schemas.microsoft.com/office/drawing/2014/main" id="{DCA18309-6A79-A32D-487D-66CAF1708E9D}"/>
              </a:ext>
            </a:extLst>
          </p:cNvPr>
          <p:cNvSpPr/>
          <p:nvPr/>
        </p:nvSpPr>
        <p:spPr>
          <a:xfrm>
            <a:off x="12106854" y="5094356"/>
            <a:ext cx="4383514" cy="35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22033"/>
                </a:solidFill>
                <a:latin typeface="Proxima Nova" panose="020B0604020202020204" charset="0"/>
                <a:cs typeface="Proxima Nova" panose="020B0604020202020204" charset="0"/>
              </a:rPr>
              <a:t>Evidence and documentation</a:t>
            </a:r>
            <a:endParaRPr lang="en-US" sz="18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40" name="Text 16">
            <a:extLst>
              <a:ext uri="{FF2B5EF4-FFF2-40B4-BE49-F238E27FC236}">
                <a16:creationId xmlns:a16="http://schemas.microsoft.com/office/drawing/2014/main" id="{05F5B318-06E0-FCE6-6CE6-2B729B68F05E}"/>
              </a:ext>
            </a:extLst>
          </p:cNvPr>
          <p:cNvSpPr/>
          <p:nvPr/>
        </p:nvSpPr>
        <p:spPr>
          <a:xfrm>
            <a:off x="12106854" y="5608134"/>
            <a:ext cx="4409920" cy="770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34495E"/>
                </a:solidFill>
                <a:latin typeface="Proxima Nova" panose="020B0604020202020204" charset="0"/>
                <a:cs typeface="Proxima Nova" panose="020B0604020202020204" charset="0"/>
              </a:rPr>
              <a:t>Record what happened, when it happened, who was involved, and what actions were taken.</a:t>
            </a:r>
            <a:endParaRPr lang="en-US" sz="15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44" name="Shape 17">
            <a:extLst>
              <a:ext uri="{FF2B5EF4-FFF2-40B4-BE49-F238E27FC236}">
                <a16:creationId xmlns:a16="http://schemas.microsoft.com/office/drawing/2014/main" id="{799DAB08-0C67-B40F-1A43-AA94839990AA}"/>
              </a:ext>
            </a:extLst>
          </p:cNvPr>
          <p:cNvSpPr/>
          <p:nvPr/>
        </p:nvSpPr>
        <p:spPr>
          <a:xfrm>
            <a:off x="3086698" y="7063836"/>
            <a:ext cx="5611425" cy="178394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48" name="Text 19">
            <a:extLst>
              <a:ext uri="{FF2B5EF4-FFF2-40B4-BE49-F238E27FC236}">
                <a16:creationId xmlns:a16="http://schemas.microsoft.com/office/drawing/2014/main" id="{B58B2A78-E561-73BB-5810-EAE6C6AE4A4D}"/>
              </a:ext>
            </a:extLst>
          </p:cNvPr>
          <p:cNvSpPr/>
          <p:nvPr/>
        </p:nvSpPr>
        <p:spPr>
          <a:xfrm>
            <a:off x="3377172" y="7292182"/>
            <a:ext cx="5109698" cy="35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22033"/>
                </a:solidFill>
                <a:latin typeface="Proxima Nova" panose="020B0604020202020204" charset="0"/>
                <a:cs typeface="Proxima Nova" panose="020B0604020202020204" charset="0"/>
              </a:rPr>
              <a:t>Ethical boundaries</a:t>
            </a:r>
            <a:endParaRPr lang="en-US" sz="18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52" name="Text 20">
            <a:extLst>
              <a:ext uri="{FF2B5EF4-FFF2-40B4-BE49-F238E27FC236}">
                <a16:creationId xmlns:a16="http://schemas.microsoft.com/office/drawing/2014/main" id="{8CF04CB5-103D-E760-BD52-95D5EBCC2E74}"/>
              </a:ext>
            </a:extLst>
          </p:cNvPr>
          <p:cNvSpPr/>
          <p:nvPr/>
        </p:nvSpPr>
        <p:spPr>
          <a:xfrm>
            <a:off x="3377172" y="7805959"/>
            <a:ext cx="5136105" cy="84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34495E"/>
                </a:solidFill>
                <a:latin typeface="Proxima Nova" panose="020B0604020202020204" charset="0"/>
                <a:cs typeface="Proxima Nova" panose="020B0604020202020204" charset="0"/>
              </a:rPr>
              <a:t>Test only systems you are authorized to assess. Avoid unnecessary disruption and protect confidential data.</a:t>
            </a:r>
            <a:endParaRPr lang="en-US" sz="15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56" name="Shape 21">
            <a:extLst>
              <a:ext uri="{FF2B5EF4-FFF2-40B4-BE49-F238E27FC236}">
                <a16:creationId xmlns:a16="http://schemas.microsoft.com/office/drawing/2014/main" id="{8304135F-746F-63B8-2CEA-1D212DC1A581}"/>
              </a:ext>
            </a:extLst>
          </p:cNvPr>
          <p:cNvSpPr/>
          <p:nvPr/>
        </p:nvSpPr>
        <p:spPr>
          <a:xfrm>
            <a:off x="9187018" y="7063836"/>
            <a:ext cx="5611425" cy="178394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59" name="Text 23">
            <a:extLst>
              <a:ext uri="{FF2B5EF4-FFF2-40B4-BE49-F238E27FC236}">
                <a16:creationId xmlns:a16="http://schemas.microsoft.com/office/drawing/2014/main" id="{953E174D-EBBE-0DA4-C955-F9E6047FF641}"/>
              </a:ext>
            </a:extLst>
          </p:cNvPr>
          <p:cNvSpPr/>
          <p:nvPr/>
        </p:nvSpPr>
        <p:spPr>
          <a:xfrm>
            <a:off x="9477492" y="7292182"/>
            <a:ext cx="5109698" cy="35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22033"/>
                </a:solidFill>
                <a:latin typeface="Proxima Nova" panose="020B0604020202020204" charset="0"/>
                <a:cs typeface="Proxima Nova" panose="020B0604020202020204" charset="0"/>
              </a:rPr>
              <a:t>Business alignment</a:t>
            </a:r>
            <a:endParaRPr lang="en-US" sz="18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61" name="Text 24">
            <a:extLst>
              <a:ext uri="{FF2B5EF4-FFF2-40B4-BE49-F238E27FC236}">
                <a16:creationId xmlns:a16="http://schemas.microsoft.com/office/drawing/2014/main" id="{1485FE9C-6455-3680-F8B0-7C736BAFD5F2}"/>
              </a:ext>
            </a:extLst>
          </p:cNvPr>
          <p:cNvSpPr/>
          <p:nvPr/>
        </p:nvSpPr>
        <p:spPr>
          <a:xfrm>
            <a:off x="9477492" y="7805959"/>
            <a:ext cx="5136105" cy="84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34495E"/>
                </a:solidFill>
                <a:latin typeface="Proxima Nova" panose="020B0604020202020204" charset="0"/>
                <a:cs typeface="Proxima Nova" panose="020B0604020202020204" charset="0"/>
              </a:rPr>
              <a:t>Controls should support business objectives, reduce risk, and remain practical for users and operations.</a:t>
            </a:r>
            <a:endParaRPr lang="en-US" sz="1500" dirty="0">
              <a:latin typeface="Proxima Nova" panose="020B0604020202020204" charset="0"/>
              <a:cs typeface="Proxima Nova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10161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232321-E5EE-4A71-404E-4A25739C95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299" y="1859857"/>
            <a:ext cx="15773403" cy="587129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bg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Identity and Access Management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C0CBC22-7041-6483-79F7-C523BA5FE2E5}"/>
              </a:ext>
            </a:extLst>
          </p:cNvPr>
          <p:cNvSpPr txBox="1"/>
          <p:nvPr/>
        </p:nvSpPr>
        <p:spPr>
          <a:xfrm>
            <a:off x="4597758" y="2539216"/>
            <a:ext cx="959476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000" b="1" i="1" dirty="0">
                <a:solidFill>
                  <a:schemeClr val="bg1"/>
                </a:solidFill>
              </a:rPr>
              <a:t>“Identity is the control point for users, admins, services, and applications”</a:t>
            </a:r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AF8AFEBE-0E8D-9557-E475-E7A00B3043D8}"/>
              </a:ext>
            </a:extLst>
          </p:cNvPr>
          <p:cNvSpPr/>
          <p:nvPr/>
        </p:nvSpPr>
        <p:spPr>
          <a:xfrm>
            <a:off x="1376084" y="3966693"/>
            <a:ext cx="3237336" cy="1248703"/>
          </a:xfrm>
          <a:prstGeom prst="rect">
            <a:avLst/>
          </a:prstGeom>
          <a:solidFill>
            <a:srgbClr val="EEF5FA"/>
          </a:solidFill>
          <a:ln w="1016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0C4333FD-9CEF-8997-BD89-132C6775DE64}"/>
              </a:ext>
            </a:extLst>
          </p:cNvPr>
          <p:cNvSpPr/>
          <p:nvPr/>
        </p:nvSpPr>
        <p:spPr>
          <a:xfrm>
            <a:off x="1624051" y="4287788"/>
            <a:ext cx="2755180" cy="2616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22033"/>
                </a:solidFill>
                <a:latin typeface="Proxima Nova" panose="020B0604020202020204" charset="0"/>
                <a:cs typeface="Proxima Nova" panose="020B0604020202020204" charset="0"/>
              </a:rPr>
              <a:t>Join</a:t>
            </a:r>
            <a:endParaRPr lang="en-US" sz="18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9105E7BF-ABA5-C4BE-0AE9-23F3251A89E3}"/>
              </a:ext>
            </a:extLst>
          </p:cNvPr>
          <p:cNvSpPr/>
          <p:nvPr/>
        </p:nvSpPr>
        <p:spPr>
          <a:xfrm>
            <a:off x="1596499" y="4692130"/>
            <a:ext cx="2810283" cy="29731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34495E"/>
                </a:solidFill>
                <a:latin typeface="Proxima Nova" panose="020B0604020202020204" charset="0"/>
                <a:cs typeface="Proxima Nova" panose="020B0604020202020204" charset="0"/>
              </a:rPr>
              <a:t>Create identity and assign role-based access.</a:t>
            </a:r>
            <a:endParaRPr lang="en-US" sz="15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13" name="Shape 7">
            <a:extLst>
              <a:ext uri="{FF2B5EF4-FFF2-40B4-BE49-F238E27FC236}">
                <a16:creationId xmlns:a16="http://schemas.microsoft.com/office/drawing/2014/main" id="{C7EE58CC-D3EB-D1EE-0F7F-67FBAAB92FA4}"/>
              </a:ext>
            </a:extLst>
          </p:cNvPr>
          <p:cNvSpPr/>
          <p:nvPr/>
        </p:nvSpPr>
        <p:spPr>
          <a:xfrm>
            <a:off x="4709852" y="4596991"/>
            <a:ext cx="592364" cy="0"/>
          </a:xfrm>
          <a:prstGeom prst="line">
            <a:avLst/>
          </a:prstGeom>
          <a:noFill/>
          <a:ln w="17780">
            <a:solidFill>
              <a:srgbClr val="667085"/>
            </a:solidFill>
            <a:prstDash val="solid"/>
            <a:tailEnd type="triangle"/>
          </a:ln>
        </p:spPr>
        <p:txBody>
          <a:bodyPr/>
          <a:lstStyle/>
          <a:p>
            <a:endParaRPr lang="en-US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15" name="Shape 8">
            <a:extLst>
              <a:ext uri="{FF2B5EF4-FFF2-40B4-BE49-F238E27FC236}">
                <a16:creationId xmlns:a16="http://schemas.microsoft.com/office/drawing/2014/main" id="{11B72220-5D20-E111-2C1E-3A329F06324D}"/>
              </a:ext>
            </a:extLst>
          </p:cNvPr>
          <p:cNvSpPr/>
          <p:nvPr/>
        </p:nvSpPr>
        <p:spPr>
          <a:xfrm>
            <a:off x="5439974" y="3966693"/>
            <a:ext cx="3237336" cy="1248703"/>
          </a:xfrm>
          <a:prstGeom prst="rect">
            <a:avLst/>
          </a:prstGeom>
          <a:solidFill>
            <a:srgbClr val="F7FAFC"/>
          </a:solidFill>
          <a:ln w="1016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17" name="Text 9">
            <a:extLst>
              <a:ext uri="{FF2B5EF4-FFF2-40B4-BE49-F238E27FC236}">
                <a16:creationId xmlns:a16="http://schemas.microsoft.com/office/drawing/2014/main" id="{42AF9BE2-061D-00EB-9C15-0B4796FCAC07}"/>
              </a:ext>
            </a:extLst>
          </p:cNvPr>
          <p:cNvSpPr/>
          <p:nvPr/>
        </p:nvSpPr>
        <p:spPr>
          <a:xfrm>
            <a:off x="5687941" y="4287788"/>
            <a:ext cx="2755180" cy="2616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22033"/>
                </a:solidFill>
                <a:latin typeface="Proxima Nova" panose="020B0604020202020204" charset="0"/>
                <a:cs typeface="Proxima Nova" panose="020B0604020202020204" charset="0"/>
              </a:rPr>
              <a:t>Move</a:t>
            </a:r>
            <a:endParaRPr lang="en-US" sz="18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19" name="Text 10">
            <a:extLst>
              <a:ext uri="{FF2B5EF4-FFF2-40B4-BE49-F238E27FC236}">
                <a16:creationId xmlns:a16="http://schemas.microsoft.com/office/drawing/2014/main" id="{3C6E12AA-BDA1-4DA4-701C-04974E762A3C}"/>
              </a:ext>
            </a:extLst>
          </p:cNvPr>
          <p:cNvSpPr/>
          <p:nvPr/>
        </p:nvSpPr>
        <p:spPr>
          <a:xfrm>
            <a:off x="5660389" y="4692130"/>
            <a:ext cx="2810283" cy="29731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34495E"/>
                </a:solidFill>
                <a:latin typeface="Proxima Nova" panose="020B0604020202020204" charset="0"/>
                <a:cs typeface="Proxima Nova" panose="020B0604020202020204" charset="0"/>
              </a:rPr>
              <a:t>Review access when duties change.</a:t>
            </a:r>
            <a:endParaRPr lang="en-US" sz="15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21" name="Shape 11">
            <a:extLst>
              <a:ext uri="{FF2B5EF4-FFF2-40B4-BE49-F238E27FC236}">
                <a16:creationId xmlns:a16="http://schemas.microsoft.com/office/drawing/2014/main" id="{0765D072-1112-79B0-5E3B-69740EBE694C}"/>
              </a:ext>
            </a:extLst>
          </p:cNvPr>
          <p:cNvSpPr/>
          <p:nvPr/>
        </p:nvSpPr>
        <p:spPr>
          <a:xfrm>
            <a:off x="8773742" y="4596991"/>
            <a:ext cx="592364" cy="0"/>
          </a:xfrm>
          <a:prstGeom prst="line">
            <a:avLst/>
          </a:prstGeom>
          <a:noFill/>
          <a:ln w="17780">
            <a:solidFill>
              <a:srgbClr val="667085"/>
            </a:solidFill>
            <a:prstDash val="solid"/>
            <a:tailEnd type="triangle"/>
          </a:ln>
        </p:spPr>
        <p:txBody>
          <a:bodyPr/>
          <a:lstStyle/>
          <a:p>
            <a:endParaRPr lang="en-US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23" name="Shape 12">
            <a:extLst>
              <a:ext uri="{FF2B5EF4-FFF2-40B4-BE49-F238E27FC236}">
                <a16:creationId xmlns:a16="http://schemas.microsoft.com/office/drawing/2014/main" id="{EF7B0B8C-758C-11F0-F87F-B9D9CF0ED847}"/>
              </a:ext>
            </a:extLst>
          </p:cNvPr>
          <p:cNvSpPr/>
          <p:nvPr/>
        </p:nvSpPr>
        <p:spPr>
          <a:xfrm>
            <a:off x="9503864" y="3966693"/>
            <a:ext cx="3237336" cy="1248703"/>
          </a:xfrm>
          <a:prstGeom prst="rect">
            <a:avLst/>
          </a:prstGeom>
          <a:solidFill>
            <a:srgbClr val="EEF5FA"/>
          </a:solidFill>
          <a:ln w="1016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25" name="Text 13">
            <a:extLst>
              <a:ext uri="{FF2B5EF4-FFF2-40B4-BE49-F238E27FC236}">
                <a16:creationId xmlns:a16="http://schemas.microsoft.com/office/drawing/2014/main" id="{523D2223-9C11-FC6C-7077-8695B0F7D44E}"/>
              </a:ext>
            </a:extLst>
          </p:cNvPr>
          <p:cNvSpPr/>
          <p:nvPr/>
        </p:nvSpPr>
        <p:spPr>
          <a:xfrm>
            <a:off x="9751830" y="4287788"/>
            <a:ext cx="2755180" cy="2616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22033"/>
                </a:solidFill>
                <a:latin typeface="Proxima Nova" panose="020B0604020202020204" charset="0"/>
                <a:cs typeface="Proxima Nova" panose="020B0604020202020204" charset="0"/>
              </a:rPr>
              <a:t>Use</a:t>
            </a:r>
            <a:endParaRPr lang="en-US" sz="18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27" name="Text 14">
            <a:extLst>
              <a:ext uri="{FF2B5EF4-FFF2-40B4-BE49-F238E27FC236}">
                <a16:creationId xmlns:a16="http://schemas.microsoft.com/office/drawing/2014/main" id="{46F8CCC9-738B-FCA3-B2C5-C21BE92E3581}"/>
              </a:ext>
            </a:extLst>
          </p:cNvPr>
          <p:cNvSpPr/>
          <p:nvPr/>
        </p:nvSpPr>
        <p:spPr>
          <a:xfrm>
            <a:off x="9724279" y="4692130"/>
            <a:ext cx="2810283" cy="29731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34495E"/>
                </a:solidFill>
                <a:latin typeface="Proxima Nova" panose="020B0604020202020204" charset="0"/>
                <a:cs typeface="Proxima Nova" panose="020B0604020202020204" charset="0"/>
              </a:rPr>
              <a:t>Enforce strong authentication and monitor activity.</a:t>
            </a:r>
            <a:endParaRPr lang="en-US" sz="15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29" name="Shape 15">
            <a:extLst>
              <a:ext uri="{FF2B5EF4-FFF2-40B4-BE49-F238E27FC236}">
                <a16:creationId xmlns:a16="http://schemas.microsoft.com/office/drawing/2014/main" id="{5C3957FB-F72E-C6B0-1992-4A8856D904A4}"/>
              </a:ext>
            </a:extLst>
          </p:cNvPr>
          <p:cNvSpPr/>
          <p:nvPr/>
        </p:nvSpPr>
        <p:spPr>
          <a:xfrm>
            <a:off x="12837631" y="4596991"/>
            <a:ext cx="592364" cy="0"/>
          </a:xfrm>
          <a:prstGeom prst="line">
            <a:avLst/>
          </a:prstGeom>
          <a:noFill/>
          <a:ln w="17780">
            <a:solidFill>
              <a:srgbClr val="667085"/>
            </a:solidFill>
            <a:prstDash val="solid"/>
            <a:tailEnd type="triangle"/>
          </a:ln>
        </p:spPr>
        <p:txBody>
          <a:bodyPr/>
          <a:lstStyle/>
          <a:p>
            <a:endParaRPr lang="en-US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31" name="Shape 16">
            <a:extLst>
              <a:ext uri="{FF2B5EF4-FFF2-40B4-BE49-F238E27FC236}">
                <a16:creationId xmlns:a16="http://schemas.microsoft.com/office/drawing/2014/main" id="{10A28B25-00BE-EC3D-49E5-AFA85F10CDE4}"/>
              </a:ext>
            </a:extLst>
          </p:cNvPr>
          <p:cNvSpPr/>
          <p:nvPr/>
        </p:nvSpPr>
        <p:spPr>
          <a:xfrm>
            <a:off x="13567754" y="3966693"/>
            <a:ext cx="3237336" cy="1248703"/>
          </a:xfrm>
          <a:prstGeom prst="rect">
            <a:avLst/>
          </a:prstGeom>
          <a:solidFill>
            <a:srgbClr val="F7FAFC"/>
          </a:solidFill>
          <a:ln w="1016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33" name="Text 17">
            <a:extLst>
              <a:ext uri="{FF2B5EF4-FFF2-40B4-BE49-F238E27FC236}">
                <a16:creationId xmlns:a16="http://schemas.microsoft.com/office/drawing/2014/main" id="{03D4FBD0-E813-D994-4AC4-C45406BA9E10}"/>
              </a:ext>
            </a:extLst>
          </p:cNvPr>
          <p:cNvSpPr/>
          <p:nvPr/>
        </p:nvSpPr>
        <p:spPr>
          <a:xfrm>
            <a:off x="13815720" y="4287788"/>
            <a:ext cx="2755180" cy="2616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22033"/>
                </a:solidFill>
                <a:latin typeface="Proxima Nova" panose="020B0604020202020204" charset="0"/>
                <a:cs typeface="Proxima Nova" panose="020B0604020202020204" charset="0"/>
              </a:rPr>
              <a:t>Leave</a:t>
            </a:r>
            <a:endParaRPr lang="en-US" sz="18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35" name="Text 18">
            <a:extLst>
              <a:ext uri="{FF2B5EF4-FFF2-40B4-BE49-F238E27FC236}">
                <a16:creationId xmlns:a16="http://schemas.microsoft.com/office/drawing/2014/main" id="{46A51677-0BBC-20D1-4C83-4C87D9FBE720}"/>
              </a:ext>
            </a:extLst>
          </p:cNvPr>
          <p:cNvSpPr/>
          <p:nvPr/>
        </p:nvSpPr>
        <p:spPr>
          <a:xfrm>
            <a:off x="13788168" y="4692130"/>
            <a:ext cx="2810283" cy="29731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34495E"/>
                </a:solidFill>
                <a:latin typeface="Proxima Nova" panose="020B0604020202020204" charset="0"/>
                <a:cs typeface="Proxima Nova" panose="020B0604020202020204" charset="0"/>
              </a:rPr>
              <a:t>Remove access immediately when no longer needed.</a:t>
            </a:r>
            <a:endParaRPr lang="en-US" sz="15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37" name="Shape 19">
            <a:extLst>
              <a:ext uri="{FF2B5EF4-FFF2-40B4-BE49-F238E27FC236}">
                <a16:creationId xmlns:a16="http://schemas.microsoft.com/office/drawing/2014/main" id="{06F6353A-4FD6-7FB3-E287-095B0C51562D}"/>
              </a:ext>
            </a:extLst>
          </p:cNvPr>
          <p:cNvSpPr/>
          <p:nvPr/>
        </p:nvSpPr>
        <p:spPr>
          <a:xfrm>
            <a:off x="1307205" y="6428421"/>
            <a:ext cx="4986875" cy="1331950"/>
          </a:xfrm>
          <a:prstGeom prst="roundRect">
            <a:avLst>
              <a:gd name="adj" fmla="val 4464"/>
            </a:avLst>
          </a:prstGeom>
          <a:solidFill>
            <a:srgbClr val="FFFFFF"/>
          </a:solidFill>
          <a:ln w="1016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39" name="Text 21">
            <a:extLst>
              <a:ext uri="{FF2B5EF4-FFF2-40B4-BE49-F238E27FC236}">
                <a16:creationId xmlns:a16="http://schemas.microsoft.com/office/drawing/2014/main" id="{89FD65CF-963C-8478-DFB4-E8FDD60B06AE}"/>
              </a:ext>
            </a:extLst>
          </p:cNvPr>
          <p:cNvSpPr/>
          <p:nvPr/>
        </p:nvSpPr>
        <p:spPr>
          <a:xfrm>
            <a:off x="1610275" y="6618700"/>
            <a:ext cx="4463391" cy="29731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22033"/>
                </a:solidFill>
                <a:latin typeface="Proxima Nova" panose="020B0604020202020204" charset="0"/>
                <a:cs typeface="Proxima Nova" panose="020B0604020202020204" charset="0"/>
              </a:rPr>
              <a:t>Least privilege</a:t>
            </a:r>
            <a:endParaRPr lang="en-US" sz="18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41" name="Text 22">
            <a:extLst>
              <a:ext uri="{FF2B5EF4-FFF2-40B4-BE49-F238E27FC236}">
                <a16:creationId xmlns:a16="http://schemas.microsoft.com/office/drawing/2014/main" id="{2CC937AB-CB82-E4D6-33A8-96EE3390EF73}"/>
              </a:ext>
            </a:extLst>
          </p:cNvPr>
          <p:cNvSpPr/>
          <p:nvPr/>
        </p:nvSpPr>
        <p:spPr>
          <a:xfrm>
            <a:off x="1610275" y="7046826"/>
            <a:ext cx="4490943" cy="5470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34495E"/>
                </a:solidFill>
                <a:latin typeface="Proxima Nova" panose="020B0604020202020204" charset="0"/>
                <a:cs typeface="Proxima Nova" panose="020B0604020202020204" charset="0"/>
              </a:rPr>
              <a:t>Give users, administrators, service accounts, and applications only the access needed to perform their work.</a:t>
            </a:r>
            <a:endParaRPr lang="en-US" sz="15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43" name="Shape 23">
            <a:extLst>
              <a:ext uri="{FF2B5EF4-FFF2-40B4-BE49-F238E27FC236}">
                <a16:creationId xmlns:a16="http://schemas.microsoft.com/office/drawing/2014/main" id="{1BFA479A-3A69-A62A-9FFD-6870053799E4}"/>
              </a:ext>
            </a:extLst>
          </p:cNvPr>
          <p:cNvSpPr/>
          <p:nvPr/>
        </p:nvSpPr>
        <p:spPr>
          <a:xfrm>
            <a:off x="6693581" y="6428421"/>
            <a:ext cx="4986875" cy="1331950"/>
          </a:xfrm>
          <a:prstGeom prst="roundRect">
            <a:avLst>
              <a:gd name="adj" fmla="val 4464"/>
            </a:avLst>
          </a:prstGeom>
          <a:solidFill>
            <a:srgbClr val="FFFFFF"/>
          </a:solidFill>
          <a:ln w="1016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45" name="Text 25">
            <a:extLst>
              <a:ext uri="{FF2B5EF4-FFF2-40B4-BE49-F238E27FC236}">
                <a16:creationId xmlns:a16="http://schemas.microsoft.com/office/drawing/2014/main" id="{85F6F626-64AB-6312-0E03-864C22730063}"/>
              </a:ext>
            </a:extLst>
          </p:cNvPr>
          <p:cNvSpPr/>
          <p:nvPr/>
        </p:nvSpPr>
        <p:spPr>
          <a:xfrm>
            <a:off x="6996651" y="6618700"/>
            <a:ext cx="4463391" cy="29731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22033"/>
                </a:solidFill>
                <a:latin typeface="Proxima Nova" panose="020B0604020202020204" charset="0"/>
                <a:cs typeface="Proxima Nova" panose="020B0604020202020204" charset="0"/>
              </a:rPr>
              <a:t>Separation of duties</a:t>
            </a:r>
            <a:endParaRPr lang="en-US" sz="18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47" name="Text 26">
            <a:extLst>
              <a:ext uri="{FF2B5EF4-FFF2-40B4-BE49-F238E27FC236}">
                <a16:creationId xmlns:a16="http://schemas.microsoft.com/office/drawing/2014/main" id="{F5DFF9BD-8BFD-4E54-7932-4B85FA6160FC}"/>
              </a:ext>
            </a:extLst>
          </p:cNvPr>
          <p:cNvSpPr/>
          <p:nvPr/>
        </p:nvSpPr>
        <p:spPr>
          <a:xfrm>
            <a:off x="6996651" y="7046826"/>
            <a:ext cx="4490943" cy="5470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34495E"/>
                </a:solidFill>
                <a:latin typeface="Proxima Nova" panose="020B0604020202020204" charset="0"/>
                <a:cs typeface="Proxima Nova" panose="020B0604020202020204" charset="0"/>
              </a:rPr>
              <a:t>Separate critical functions so one account does not control every step of a sensitive process.</a:t>
            </a:r>
            <a:endParaRPr lang="en-US" sz="15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49" name="Shape 27">
            <a:extLst>
              <a:ext uri="{FF2B5EF4-FFF2-40B4-BE49-F238E27FC236}">
                <a16:creationId xmlns:a16="http://schemas.microsoft.com/office/drawing/2014/main" id="{75D3042D-3CA6-0D5C-7BD4-0687639EF6E4}"/>
              </a:ext>
            </a:extLst>
          </p:cNvPr>
          <p:cNvSpPr/>
          <p:nvPr/>
        </p:nvSpPr>
        <p:spPr>
          <a:xfrm>
            <a:off x="12093733" y="6428421"/>
            <a:ext cx="4986875" cy="1331950"/>
          </a:xfrm>
          <a:prstGeom prst="roundRect">
            <a:avLst>
              <a:gd name="adj" fmla="val 4464"/>
            </a:avLst>
          </a:prstGeom>
          <a:solidFill>
            <a:srgbClr val="FFFFFF"/>
          </a:solidFill>
          <a:ln w="1016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51" name="Text 29">
            <a:extLst>
              <a:ext uri="{FF2B5EF4-FFF2-40B4-BE49-F238E27FC236}">
                <a16:creationId xmlns:a16="http://schemas.microsoft.com/office/drawing/2014/main" id="{BE9A7506-296B-F3E3-2E34-B33C02558531}"/>
              </a:ext>
            </a:extLst>
          </p:cNvPr>
          <p:cNvSpPr/>
          <p:nvPr/>
        </p:nvSpPr>
        <p:spPr>
          <a:xfrm>
            <a:off x="12396803" y="6618700"/>
            <a:ext cx="4463391" cy="29731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22033"/>
                </a:solidFill>
                <a:latin typeface="Proxima Nova" panose="020B0604020202020204" charset="0"/>
                <a:cs typeface="Proxima Nova" panose="020B0604020202020204" charset="0"/>
              </a:rPr>
              <a:t>Multi-Factor Authentication</a:t>
            </a:r>
            <a:endParaRPr lang="en-US" sz="18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53" name="Text 30">
            <a:extLst>
              <a:ext uri="{FF2B5EF4-FFF2-40B4-BE49-F238E27FC236}">
                <a16:creationId xmlns:a16="http://schemas.microsoft.com/office/drawing/2014/main" id="{9F8B9F13-6CC0-57CD-443F-3DFB4DE91B4D}"/>
              </a:ext>
            </a:extLst>
          </p:cNvPr>
          <p:cNvSpPr/>
          <p:nvPr/>
        </p:nvSpPr>
        <p:spPr>
          <a:xfrm>
            <a:off x="12396803" y="7046826"/>
            <a:ext cx="4490943" cy="5470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34495E"/>
                </a:solidFill>
                <a:latin typeface="Proxima Nova" panose="020B0604020202020204" charset="0"/>
                <a:cs typeface="Proxima Nova" panose="020B0604020202020204" charset="0"/>
              </a:rPr>
              <a:t>Reduce password-only risk by requiring another factor such as authenticator app, token, or biometric validation.</a:t>
            </a:r>
            <a:endParaRPr lang="en-US" sz="15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55" name="Shape 31">
            <a:extLst>
              <a:ext uri="{FF2B5EF4-FFF2-40B4-BE49-F238E27FC236}">
                <a16:creationId xmlns:a16="http://schemas.microsoft.com/office/drawing/2014/main" id="{0ED72AE7-FF47-8B93-5060-D1E29AE5C010}"/>
              </a:ext>
            </a:extLst>
          </p:cNvPr>
          <p:cNvSpPr/>
          <p:nvPr/>
        </p:nvSpPr>
        <p:spPr>
          <a:xfrm>
            <a:off x="2318750" y="8842580"/>
            <a:ext cx="13736536" cy="749220"/>
          </a:xfrm>
          <a:prstGeom prst="roundRect">
            <a:avLst>
              <a:gd name="adj" fmla="val 10000"/>
            </a:avLst>
          </a:prstGeom>
          <a:solidFill>
            <a:schemeClr val="bg1">
              <a:lumMod val="95000"/>
            </a:schemeClr>
          </a:solidFill>
          <a:ln w="1016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 dirty="0">
              <a:solidFill>
                <a:srgbClr val="002060"/>
              </a:solidFill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57" name="Text 32">
            <a:extLst>
              <a:ext uri="{FF2B5EF4-FFF2-40B4-BE49-F238E27FC236}">
                <a16:creationId xmlns:a16="http://schemas.microsoft.com/office/drawing/2014/main" id="{DAEEF675-3195-A3DC-C21E-551C1DE6B84C}"/>
              </a:ext>
            </a:extLst>
          </p:cNvPr>
          <p:cNvSpPr/>
          <p:nvPr/>
        </p:nvSpPr>
        <p:spPr>
          <a:xfrm>
            <a:off x="1789361" y="9116105"/>
            <a:ext cx="14671331" cy="17838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22033"/>
                </a:solidFill>
                <a:latin typeface="Proxima Nova" panose="020B0604020202020204" charset="0"/>
                <a:cs typeface="Proxima Nova" panose="020B0604020202020204" charset="0"/>
              </a:rPr>
              <a:t>Operational habit: review privileged accounts regularly and remove temporary access after the task is complete.</a:t>
            </a:r>
            <a:endParaRPr lang="en-US" sz="1200" dirty="0">
              <a:latin typeface="Proxima Nova" panose="020B0604020202020204" charset="0"/>
              <a:cs typeface="Proxima Nova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69908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64FA6EA-318C-433D-BC59-12956D8F7DF1}"/>
              </a:ext>
            </a:extLst>
          </p:cNvPr>
          <p:cNvSpPr txBox="1"/>
          <p:nvPr/>
        </p:nvSpPr>
        <p:spPr>
          <a:xfrm>
            <a:off x="4948706" y="1449861"/>
            <a:ext cx="8807941" cy="7540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4300" b="1" dirty="0">
                <a:solidFill>
                  <a:srgbClr val="F8FAFC"/>
                </a:solidFill>
                <a:latin typeface="Proxima Nova" panose="020B0604020202020204" charset="0"/>
                <a:ea typeface="Aptos Display" pitchFamily="34" charset="-122"/>
                <a:cs typeface="Proxima Nova" panose="020B0604020202020204" charset="0"/>
              </a:rPr>
              <a:t>Network Security Fundamentals</a:t>
            </a:r>
            <a:endParaRPr lang="en-US" sz="43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863086C-DAA7-47DE-D2F7-2212FCAE31D1}"/>
              </a:ext>
            </a:extLst>
          </p:cNvPr>
          <p:cNvSpPr txBox="1"/>
          <p:nvPr/>
        </p:nvSpPr>
        <p:spPr>
          <a:xfrm>
            <a:off x="5412345" y="2280858"/>
            <a:ext cx="785289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  <a:latin typeface="Proxima Nova" panose="020B0604020202020204" charset="0"/>
                <a:cs typeface="Proxima Nova" panose="020B0604020202020204" charset="0"/>
              </a:rPr>
              <a:t>“The network carries data, so it must be understood and protected”</a:t>
            </a:r>
          </a:p>
        </p:txBody>
      </p:sp>
      <p:sp>
        <p:nvSpPr>
          <p:cNvPr id="11" name="Shape 3">
            <a:extLst>
              <a:ext uri="{FF2B5EF4-FFF2-40B4-BE49-F238E27FC236}">
                <a16:creationId xmlns:a16="http://schemas.microsoft.com/office/drawing/2014/main" id="{0FD3F3A6-E689-E8D6-1E1A-B938C43C2BD0}"/>
              </a:ext>
            </a:extLst>
          </p:cNvPr>
          <p:cNvSpPr/>
          <p:nvPr/>
        </p:nvSpPr>
        <p:spPr>
          <a:xfrm>
            <a:off x="10072494" y="3127025"/>
            <a:ext cx="3132783" cy="1638406"/>
          </a:xfrm>
          <a:prstGeom prst="roundRect">
            <a:avLst>
              <a:gd name="adj" fmla="val 5556"/>
            </a:avLst>
          </a:prstGeom>
          <a:solidFill>
            <a:srgbClr val="09213F">
              <a:alpha val="82000"/>
            </a:srgbClr>
          </a:solidFill>
          <a:ln w="13970">
            <a:solidFill>
              <a:srgbClr val="38BDF8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19" name="Text 7">
            <a:extLst>
              <a:ext uri="{FF2B5EF4-FFF2-40B4-BE49-F238E27FC236}">
                <a16:creationId xmlns:a16="http://schemas.microsoft.com/office/drawing/2014/main" id="{F42E7B85-7D5F-78D0-4699-70D7138B487C}"/>
              </a:ext>
            </a:extLst>
          </p:cNvPr>
          <p:cNvSpPr/>
          <p:nvPr/>
        </p:nvSpPr>
        <p:spPr>
          <a:xfrm>
            <a:off x="10648926" y="3415262"/>
            <a:ext cx="1979919" cy="348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8FAFC"/>
                </a:solidFill>
                <a:latin typeface="Proxima Nova" panose="020B0604020202020204" charset="0"/>
                <a:cs typeface="Proxima Nova" panose="020B0604020202020204" charset="0"/>
              </a:rPr>
              <a:t>OSI &amp; TCP/IP</a:t>
            </a:r>
            <a:endParaRPr lang="en-US" sz="18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21" name="Text 8">
            <a:extLst>
              <a:ext uri="{FF2B5EF4-FFF2-40B4-BE49-F238E27FC236}">
                <a16:creationId xmlns:a16="http://schemas.microsoft.com/office/drawing/2014/main" id="{0B0C8FA6-2ED8-AC61-9591-F925A09F7773}"/>
              </a:ext>
            </a:extLst>
          </p:cNvPr>
          <p:cNvSpPr/>
          <p:nvPr/>
        </p:nvSpPr>
        <p:spPr>
          <a:xfrm>
            <a:off x="10348178" y="3991740"/>
            <a:ext cx="2606476" cy="546135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DDEBFF"/>
                </a:solidFill>
                <a:latin typeface="Proxima Nova" panose="020B0604020202020204" charset="0"/>
                <a:cs typeface="Proxima Nova" panose="020B0604020202020204" charset="0"/>
              </a:rPr>
              <a:t>Communication is organized by layers, from physical to application.</a:t>
            </a:r>
            <a:endParaRPr lang="en-US" sz="15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23" name="Shape 9">
            <a:extLst>
              <a:ext uri="{FF2B5EF4-FFF2-40B4-BE49-F238E27FC236}">
                <a16:creationId xmlns:a16="http://schemas.microsoft.com/office/drawing/2014/main" id="{103D7638-FDB0-B0E2-EA5C-E03D0F09768B}"/>
              </a:ext>
            </a:extLst>
          </p:cNvPr>
          <p:cNvSpPr/>
          <p:nvPr/>
        </p:nvSpPr>
        <p:spPr>
          <a:xfrm>
            <a:off x="13480962" y="3127025"/>
            <a:ext cx="3132783" cy="1638406"/>
          </a:xfrm>
          <a:prstGeom prst="roundRect">
            <a:avLst>
              <a:gd name="adj" fmla="val 5556"/>
            </a:avLst>
          </a:prstGeom>
          <a:solidFill>
            <a:srgbClr val="09213F">
              <a:alpha val="82000"/>
            </a:srgbClr>
          </a:solidFill>
          <a:ln w="13970">
            <a:solidFill>
              <a:srgbClr val="2DD4B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31" name="Text 13">
            <a:extLst>
              <a:ext uri="{FF2B5EF4-FFF2-40B4-BE49-F238E27FC236}">
                <a16:creationId xmlns:a16="http://schemas.microsoft.com/office/drawing/2014/main" id="{1678062B-C5EE-65DF-C661-48231DB1E5FC}"/>
              </a:ext>
            </a:extLst>
          </p:cNvPr>
          <p:cNvSpPr/>
          <p:nvPr/>
        </p:nvSpPr>
        <p:spPr>
          <a:xfrm>
            <a:off x="14057394" y="3415262"/>
            <a:ext cx="1979919" cy="348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8FAFC"/>
                </a:solidFill>
                <a:latin typeface="Proxima Nova" panose="020B0604020202020204" charset="0"/>
                <a:cs typeface="Proxima Nova" panose="020B0604020202020204" charset="0"/>
              </a:rPr>
              <a:t>IPv4 / IPv6</a:t>
            </a:r>
            <a:endParaRPr lang="en-US" sz="18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33" name="Text 14">
            <a:extLst>
              <a:ext uri="{FF2B5EF4-FFF2-40B4-BE49-F238E27FC236}">
                <a16:creationId xmlns:a16="http://schemas.microsoft.com/office/drawing/2014/main" id="{84E7C26A-5B79-EBF2-12C1-7746D3CD59B5}"/>
              </a:ext>
            </a:extLst>
          </p:cNvPr>
          <p:cNvSpPr/>
          <p:nvPr/>
        </p:nvSpPr>
        <p:spPr>
          <a:xfrm>
            <a:off x="13756647" y="3991740"/>
            <a:ext cx="2606476" cy="546135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DDEBFF"/>
                </a:solidFill>
                <a:latin typeface="Proxima Nova" panose="020B0604020202020204" charset="0"/>
                <a:cs typeface="Proxima Nova" panose="020B0604020202020204" charset="0"/>
              </a:rPr>
              <a:t>Network addressing used to identify hosts and route packets.</a:t>
            </a:r>
            <a:endParaRPr lang="en-US" sz="15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35" name="Shape 15">
            <a:extLst>
              <a:ext uri="{FF2B5EF4-FFF2-40B4-BE49-F238E27FC236}">
                <a16:creationId xmlns:a16="http://schemas.microsoft.com/office/drawing/2014/main" id="{D02F81D7-8B50-0FEE-AFF6-F4E6B72CB7BE}"/>
              </a:ext>
            </a:extLst>
          </p:cNvPr>
          <p:cNvSpPr/>
          <p:nvPr/>
        </p:nvSpPr>
        <p:spPr>
          <a:xfrm>
            <a:off x="10072494" y="5099181"/>
            <a:ext cx="3132783" cy="1638406"/>
          </a:xfrm>
          <a:prstGeom prst="roundRect">
            <a:avLst>
              <a:gd name="adj" fmla="val 5556"/>
            </a:avLst>
          </a:prstGeom>
          <a:solidFill>
            <a:srgbClr val="09213F">
              <a:alpha val="82000"/>
            </a:srgbClr>
          </a:solidFill>
          <a:ln w="13970">
            <a:solidFill>
              <a:srgbClr val="38BDF8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41" name="Text 18">
            <a:extLst>
              <a:ext uri="{FF2B5EF4-FFF2-40B4-BE49-F238E27FC236}">
                <a16:creationId xmlns:a16="http://schemas.microsoft.com/office/drawing/2014/main" id="{F43422C0-56D5-ABC6-C92F-80D1CC9B9830}"/>
              </a:ext>
            </a:extLst>
          </p:cNvPr>
          <p:cNvSpPr/>
          <p:nvPr/>
        </p:nvSpPr>
        <p:spPr>
          <a:xfrm>
            <a:off x="10323116" y="5441426"/>
            <a:ext cx="476183" cy="2867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12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43" name="Text 19">
            <a:extLst>
              <a:ext uri="{FF2B5EF4-FFF2-40B4-BE49-F238E27FC236}">
                <a16:creationId xmlns:a16="http://schemas.microsoft.com/office/drawing/2014/main" id="{7C062AFD-4A01-58AF-C4C4-333A5829F4C7}"/>
              </a:ext>
            </a:extLst>
          </p:cNvPr>
          <p:cNvSpPr/>
          <p:nvPr/>
        </p:nvSpPr>
        <p:spPr>
          <a:xfrm>
            <a:off x="10648926" y="5387417"/>
            <a:ext cx="1979919" cy="348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8FAFC"/>
                </a:solidFill>
                <a:latin typeface="Proxima Nova" panose="020B0604020202020204" charset="0"/>
                <a:cs typeface="Proxima Nova" panose="020B0604020202020204" charset="0"/>
              </a:rPr>
              <a:t>Firewall</a:t>
            </a:r>
            <a:endParaRPr lang="en-US" sz="18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45" name="Text 20">
            <a:extLst>
              <a:ext uri="{FF2B5EF4-FFF2-40B4-BE49-F238E27FC236}">
                <a16:creationId xmlns:a16="http://schemas.microsoft.com/office/drawing/2014/main" id="{AE7FC26A-5553-FEBE-C1F1-470388860E19}"/>
              </a:ext>
            </a:extLst>
          </p:cNvPr>
          <p:cNvSpPr/>
          <p:nvPr/>
        </p:nvSpPr>
        <p:spPr>
          <a:xfrm>
            <a:off x="10348178" y="5963895"/>
            <a:ext cx="2606476" cy="546135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DDEBFF"/>
                </a:solidFill>
                <a:latin typeface="Proxima Nova" panose="020B0604020202020204" charset="0"/>
                <a:cs typeface="Proxima Nova" panose="020B0604020202020204" charset="0"/>
              </a:rPr>
              <a:t>Traffic control based on port, protocol, application, and policy.</a:t>
            </a:r>
            <a:endParaRPr lang="en-US" sz="15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47" name="Shape 21">
            <a:extLst>
              <a:ext uri="{FF2B5EF4-FFF2-40B4-BE49-F238E27FC236}">
                <a16:creationId xmlns:a16="http://schemas.microsoft.com/office/drawing/2014/main" id="{AAC01996-FDAA-A32D-F5D5-FE018D7CFE25}"/>
              </a:ext>
            </a:extLst>
          </p:cNvPr>
          <p:cNvSpPr/>
          <p:nvPr/>
        </p:nvSpPr>
        <p:spPr>
          <a:xfrm>
            <a:off x="13480962" y="5099181"/>
            <a:ext cx="3132783" cy="1638406"/>
          </a:xfrm>
          <a:prstGeom prst="roundRect">
            <a:avLst>
              <a:gd name="adj" fmla="val 5556"/>
            </a:avLst>
          </a:prstGeom>
          <a:solidFill>
            <a:srgbClr val="09213F">
              <a:alpha val="82000"/>
            </a:srgbClr>
          </a:solidFill>
          <a:ln w="13970">
            <a:solidFill>
              <a:srgbClr val="2DD4B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53" name="Text 24">
            <a:extLst>
              <a:ext uri="{FF2B5EF4-FFF2-40B4-BE49-F238E27FC236}">
                <a16:creationId xmlns:a16="http://schemas.microsoft.com/office/drawing/2014/main" id="{45894692-1861-6DA1-FDF4-26E4F4377712}"/>
              </a:ext>
            </a:extLst>
          </p:cNvPr>
          <p:cNvSpPr/>
          <p:nvPr/>
        </p:nvSpPr>
        <p:spPr>
          <a:xfrm>
            <a:off x="13731584" y="5441426"/>
            <a:ext cx="476183" cy="2867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12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55" name="Text 25">
            <a:extLst>
              <a:ext uri="{FF2B5EF4-FFF2-40B4-BE49-F238E27FC236}">
                <a16:creationId xmlns:a16="http://schemas.microsoft.com/office/drawing/2014/main" id="{25CB8829-EFC1-049A-03B1-2F67AA3521D5}"/>
              </a:ext>
            </a:extLst>
          </p:cNvPr>
          <p:cNvSpPr/>
          <p:nvPr/>
        </p:nvSpPr>
        <p:spPr>
          <a:xfrm>
            <a:off x="14057394" y="5387417"/>
            <a:ext cx="1979919" cy="348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8FAFC"/>
                </a:solidFill>
                <a:latin typeface="Proxima Nova" panose="020B0604020202020204" charset="0"/>
                <a:cs typeface="Proxima Nova" panose="020B0604020202020204" charset="0"/>
              </a:rPr>
              <a:t>VPN</a:t>
            </a:r>
            <a:endParaRPr lang="en-US" sz="18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57" name="Text 26">
            <a:extLst>
              <a:ext uri="{FF2B5EF4-FFF2-40B4-BE49-F238E27FC236}">
                <a16:creationId xmlns:a16="http://schemas.microsoft.com/office/drawing/2014/main" id="{68C064AF-53AD-601B-4C22-1EC80CE3283F}"/>
              </a:ext>
            </a:extLst>
          </p:cNvPr>
          <p:cNvSpPr/>
          <p:nvPr/>
        </p:nvSpPr>
        <p:spPr>
          <a:xfrm>
            <a:off x="13756647" y="5963895"/>
            <a:ext cx="2606476" cy="546135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DDEBFF"/>
                </a:solidFill>
                <a:latin typeface="Proxima Nova" panose="020B0604020202020204" charset="0"/>
                <a:cs typeface="Proxima Nova" panose="020B0604020202020204" charset="0"/>
              </a:rPr>
              <a:t>Encrypted tunnel for remote access or site-to-site connectivity.</a:t>
            </a:r>
            <a:endParaRPr lang="en-US" sz="15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59" name="Shape 27">
            <a:extLst>
              <a:ext uri="{FF2B5EF4-FFF2-40B4-BE49-F238E27FC236}">
                <a16:creationId xmlns:a16="http://schemas.microsoft.com/office/drawing/2014/main" id="{89C1DB5D-2B28-76C0-188B-2A7F3C881267}"/>
              </a:ext>
            </a:extLst>
          </p:cNvPr>
          <p:cNvSpPr/>
          <p:nvPr/>
        </p:nvSpPr>
        <p:spPr>
          <a:xfrm>
            <a:off x="10072494" y="7071336"/>
            <a:ext cx="3132783" cy="1638406"/>
          </a:xfrm>
          <a:prstGeom prst="roundRect">
            <a:avLst>
              <a:gd name="adj" fmla="val 5556"/>
            </a:avLst>
          </a:prstGeom>
          <a:solidFill>
            <a:srgbClr val="09213F">
              <a:alpha val="82000"/>
            </a:srgbClr>
          </a:solidFill>
          <a:ln w="13970">
            <a:solidFill>
              <a:srgbClr val="38BDF8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67" name="Text 31">
            <a:extLst>
              <a:ext uri="{FF2B5EF4-FFF2-40B4-BE49-F238E27FC236}">
                <a16:creationId xmlns:a16="http://schemas.microsoft.com/office/drawing/2014/main" id="{71A2B514-28DF-BB45-3412-CBFAF0511B69}"/>
              </a:ext>
            </a:extLst>
          </p:cNvPr>
          <p:cNvSpPr/>
          <p:nvPr/>
        </p:nvSpPr>
        <p:spPr>
          <a:xfrm>
            <a:off x="10648926" y="7359573"/>
            <a:ext cx="1979919" cy="348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8FAFC"/>
                </a:solidFill>
                <a:latin typeface="Proxima Nova" panose="020B0604020202020204" charset="0"/>
                <a:cs typeface="Proxima Nova" panose="020B0604020202020204" charset="0"/>
              </a:rPr>
              <a:t>Wireless</a:t>
            </a:r>
            <a:endParaRPr lang="en-US" sz="18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69" name="Text 32">
            <a:extLst>
              <a:ext uri="{FF2B5EF4-FFF2-40B4-BE49-F238E27FC236}">
                <a16:creationId xmlns:a16="http://schemas.microsoft.com/office/drawing/2014/main" id="{EED2EB09-E08D-986C-53D9-BD17854A3EEF}"/>
              </a:ext>
            </a:extLst>
          </p:cNvPr>
          <p:cNvSpPr/>
          <p:nvPr/>
        </p:nvSpPr>
        <p:spPr>
          <a:xfrm>
            <a:off x="10348178" y="7936050"/>
            <a:ext cx="2606476" cy="546135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DDEBFF"/>
                </a:solidFill>
                <a:latin typeface="Proxima Nova" panose="020B0604020202020204" charset="0"/>
                <a:cs typeface="Proxima Nova" panose="020B0604020202020204" charset="0"/>
              </a:rPr>
              <a:t>Wi‑Fi and Bluetooth must be secured against unauthorized access.</a:t>
            </a:r>
            <a:endParaRPr lang="en-US" sz="15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71" name="Shape 33">
            <a:extLst>
              <a:ext uri="{FF2B5EF4-FFF2-40B4-BE49-F238E27FC236}">
                <a16:creationId xmlns:a16="http://schemas.microsoft.com/office/drawing/2014/main" id="{F3B937AC-D7FB-E34C-EE13-4B845720E2EF}"/>
              </a:ext>
            </a:extLst>
          </p:cNvPr>
          <p:cNvSpPr/>
          <p:nvPr/>
        </p:nvSpPr>
        <p:spPr>
          <a:xfrm>
            <a:off x="13480962" y="7071336"/>
            <a:ext cx="3132783" cy="1638406"/>
          </a:xfrm>
          <a:prstGeom prst="roundRect">
            <a:avLst>
              <a:gd name="adj" fmla="val 5556"/>
            </a:avLst>
          </a:prstGeom>
          <a:solidFill>
            <a:srgbClr val="09213F">
              <a:alpha val="82000"/>
            </a:srgbClr>
          </a:solidFill>
          <a:ln w="13970">
            <a:solidFill>
              <a:srgbClr val="2DD4B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77" name="Text 36">
            <a:extLst>
              <a:ext uri="{FF2B5EF4-FFF2-40B4-BE49-F238E27FC236}">
                <a16:creationId xmlns:a16="http://schemas.microsoft.com/office/drawing/2014/main" id="{906A409B-CB10-B230-02B1-D024A511C39E}"/>
              </a:ext>
            </a:extLst>
          </p:cNvPr>
          <p:cNvSpPr/>
          <p:nvPr/>
        </p:nvSpPr>
        <p:spPr>
          <a:xfrm>
            <a:off x="13731584" y="7413582"/>
            <a:ext cx="476183" cy="2867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12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79" name="Text 37">
            <a:extLst>
              <a:ext uri="{FF2B5EF4-FFF2-40B4-BE49-F238E27FC236}">
                <a16:creationId xmlns:a16="http://schemas.microsoft.com/office/drawing/2014/main" id="{F94B6D1E-03B6-364E-B8AE-7DDCA51B37CF}"/>
              </a:ext>
            </a:extLst>
          </p:cNvPr>
          <p:cNvSpPr/>
          <p:nvPr/>
        </p:nvSpPr>
        <p:spPr>
          <a:xfrm>
            <a:off x="14057394" y="7359573"/>
            <a:ext cx="1979919" cy="348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8FAFC"/>
                </a:solidFill>
                <a:latin typeface="Proxima Nova" panose="020B0604020202020204" charset="0"/>
                <a:cs typeface="Proxima Nova" panose="020B0604020202020204" charset="0"/>
              </a:rPr>
              <a:t>IoT / ICS</a:t>
            </a:r>
            <a:endParaRPr lang="en-US" sz="18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81" name="Text 38">
            <a:extLst>
              <a:ext uri="{FF2B5EF4-FFF2-40B4-BE49-F238E27FC236}">
                <a16:creationId xmlns:a16="http://schemas.microsoft.com/office/drawing/2014/main" id="{65044DE7-55A8-2476-2A4B-B9725F8B7A52}"/>
              </a:ext>
            </a:extLst>
          </p:cNvPr>
          <p:cNvSpPr/>
          <p:nvPr/>
        </p:nvSpPr>
        <p:spPr>
          <a:xfrm>
            <a:off x="13756647" y="7936050"/>
            <a:ext cx="2606476" cy="546135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DDEBFF"/>
                </a:solidFill>
                <a:latin typeface="Proxima Nova" panose="020B0604020202020204" charset="0"/>
                <a:cs typeface="Proxima Nova" panose="020B0604020202020204" charset="0"/>
              </a:rPr>
              <a:t>Embedded and industrial devices need segmentation and monitoring.</a:t>
            </a:r>
            <a:endParaRPr lang="en-US" sz="1500" dirty="0">
              <a:latin typeface="Proxima Nova" panose="020B0604020202020204" charset="0"/>
              <a:cs typeface="Proxima Nova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293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44EEE7-A70D-8387-BE47-F04D151E66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4B4A0BA6-4120-9F21-2D1D-82B7816A01DD}"/>
              </a:ext>
            </a:extLst>
          </p:cNvPr>
          <p:cNvSpPr/>
          <p:nvPr/>
        </p:nvSpPr>
        <p:spPr>
          <a:xfrm>
            <a:off x="4288601" y="1249297"/>
            <a:ext cx="11050138" cy="6794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4300" b="1" dirty="0">
                <a:solidFill>
                  <a:srgbClr val="F8FAFC"/>
                </a:solidFill>
                <a:latin typeface="Proxima Nova" panose="020B0604020202020204" charset="0"/>
                <a:ea typeface="Aptos Display" pitchFamily="34" charset="-122"/>
                <a:cs typeface="Proxima Nova" panose="020B0604020202020204" charset="0"/>
              </a:rPr>
              <a:t>Security Operations &amp; Incident Response</a:t>
            </a:r>
            <a:endParaRPr lang="en-US" sz="43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E5A0E4BE-1CCF-A921-6FCA-8990A0CBD5F9}"/>
              </a:ext>
            </a:extLst>
          </p:cNvPr>
          <p:cNvSpPr/>
          <p:nvPr/>
        </p:nvSpPr>
        <p:spPr>
          <a:xfrm>
            <a:off x="6836930" y="1928727"/>
            <a:ext cx="5428111" cy="49052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  <a:latin typeface="Proxima Nova" panose="020B0604020202020204" charset="0"/>
                <a:cs typeface="Proxima Nova" panose="020B0604020202020204" charset="0"/>
              </a:rPr>
              <a:t>“Turning alerts into decisions and actions”</a:t>
            </a:r>
          </a:p>
        </p:txBody>
      </p:sp>
      <p:sp>
        <p:nvSpPr>
          <p:cNvPr id="14" name="Shape 3">
            <a:extLst>
              <a:ext uri="{FF2B5EF4-FFF2-40B4-BE49-F238E27FC236}">
                <a16:creationId xmlns:a16="http://schemas.microsoft.com/office/drawing/2014/main" id="{DD7544FA-936F-766D-EBE1-4BDE30305299}"/>
              </a:ext>
            </a:extLst>
          </p:cNvPr>
          <p:cNvSpPr/>
          <p:nvPr/>
        </p:nvSpPr>
        <p:spPr>
          <a:xfrm>
            <a:off x="10145048" y="2802644"/>
            <a:ext cx="6996732" cy="1171809"/>
          </a:xfrm>
          <a:prstGeom prst="roundRect">
            <a:avLst>
              <a:gd name="adj" fmla="val 6667"/>
            </a:avLst>
          </a:prstGeom>
          <a:solidFill>
            <a:srgbClr val="09213F">
              <a:alpha val="84000"/>
            </a:srgbClr>
          </a:solidFill>
          <a:ln w="13970">
            <a:solidFill>
              <a:srgbClr val="38BDF8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22" name="Text 6">
            <a:extLst>
              <a:ext uri="{FF2B5EF4-FFF2-40B4-BE49-F238E27FC236}">
                <a16:creationId xmlns:a16="http://schemas.microsoft.com/office/drawing/2014/main" id="{033E7A0E-CBC4-9EDA-6A11-206FD7E99B00}"/>
              </a:ext>
            </a:extLst>
          </p:cNvPr>
          <p:cNvSpPr/>
          <p:nvPr/>
        </p:nvSpPr>
        <p:spPr>
          <a:xfrm>
            <a:off x="10409075" y="3096378"/>
            <a:ext cx="501653" cy="24608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12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26" name="Text 7">
            <a:extLst>
              <a:ext uri="{FF2B5EF4-FFF2-40B4-BE49-F238E27FC236}">
                <a16:creationId xmlns:a16="http://schemas.microsoft.com/office/drawing/2014/main" id="{456EBFDB-EE49-99CF-A5DE-B9039B752911}"/>
              </a:ext>
            </a:extLst>
          </p:cNvPr>
          <p:cNvSpPr/>
          <p:nvPr/>
        </p:nvSpPr>
        <p:spPr>
          <a:xfrm>
            <a:off x="10631907" y="3042997"/>
            <a:ext cx="5782205" cy="2994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8FAFC"/>
                </a:solidFill>
                <a:latin typeface="Proxima Nova" panose="020B0604020202020204" charset="0"/>
                <a:cs typeface="Proxima Nova" panose="020B0604020202020204" charset="0"/>
              </a:rPr>
              <a:t>Collect</a:t>
            </a:r>
            <a:endParaRPr lang="en-US" sz="18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28" name="Text 8">
            <a:extLst>
              <a:ext uri="{FF2B5EF4-FFF2-40B4-BE49-F238E27FC236}">
                <a16:creationId xmlns:a16="http://schemas.microsoft.com/office/drawing/2014/main" id="{CD51634B-4A3D-2E4C-D985-2C12A0C90CD9}"/>
              </a:ext>
            </a:extLst>
          </p:cNvPr>
          <p:cNvSpPr/>
          <p:nvPr/>
        </p:nvSpPr>
        <p:spPr>
          <a:xfrm>
            <a:off x="10435478" y="3544790"/>
            <a:ext cx="6442274" cy="23436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DDEBFF"/>
                </a:solidFill>
                <a:latin typeface="Proxima Nova" panose="020B0604020202020204" charset="0"/>
                <a:cs typeface="Proxima Nova" panose="020B0604020202020204" charset="0"/>
              </a:rPr>
              <a:t>Logs from endpoint, network, cloud, identity, and applications</a:t>
            </a:r>
            <a:endParaRPr lang="en-US" sz="15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30" name="Shape 9">
            <a:extLst>
              <a:ext uri="{FF2B5EF4-FFF2-40B4-BE49-F238E27FC236}">
                <a16:creationId xmlns:a16="http://schemas.microsoft.com/office/drawing/2014/main" id="{0BF8FB18-01D7-09F4-3813-1B7DC622B12F}"/>
              </a:ext>
            </a:extLst>
          </p:cNvPr>
          <p:cNvSpPr/>
          <p:nvPr/>
        </p:nvSpPr>
        <p:spPr>
          <a:xfrm>
            <a:off x="10145048" y="4143715"/>
            <a:ext cx="6996732" cy="1171809"/>
          </a:xfrm>
          <a:prstGeom prst="roundRect">
            <a:avLst>
              <a:gd name="adj" fmla="val 6667"/>
            </a:avLst>
          </a:prstGeom>
          <a:solidFill>
            <a:srgbClr val="09213F">
              <a:alpha val="84000"/>
            </a:srgbClr>
          </a:solidFill>
          <a:ln w="13970">
            <a:solidFill>
              <a:srgbClr val="EF444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40" name="Text 12">
            <a:extLst>
              <a:ext uri="{FF2B5EF4-FFF2-40B4-BE49-F238E27FC236}">
                <a16:creationId xmlns:a16="http://schemas.microsoft.com/office/drawing/2014/main" id="{156C41A7-25BA-B31C-D7A3-C3F5F97E7D51}"/>
              </a:ext>
            </a:extLst>
          </p:cNvPr>
          <p:cNvSpPr/>
          <p:nvPr/>
        </p:nvSpPr>
        <p:spPr>
          <a:xfrm>
            <a:off x="10409075" y="4437449"/>
            <a:ext cx="501653" cy="24608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12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44" name="Text 13">
            <a:extLst>
              <a:ext uri="{FF2B5EF4-FFF2-40B4-BE49-F238E27FC236}">
                <a16:creationId xmlns:a16="http://schemas.microsoft.com/office/drawing/2014/main" id="{3E96DBA8-0CB7-0603-0E2B-48784F14B4A1}"/>
              </a:ext>
            </a:extLst>
          </p:cNvPr>
          <p:cNvSpPr/>
          <p:nvPr/>
        </p:nvSpPr>
        <p:spPr>
          <a:xfrm>
            <a:off x="10631907" y="4384068"/>
            <a:ext cx="5782205" cy="2994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8FAFC"/>
                </a:solidFill>
                <a:latin typeface="Proxima Nova" panose="020B0604020202020204" charset="0"/>
                <a:cs typeface="Proxima Nova" panose="020B0604020202020204" charset="0"/>
              </a:rPr>
              <a:t>Detect</a:t>
            </a:r>
            <a:endParaRPr lang="en-US" sz="18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48" name="Text 14">
            <a:extLst>
              <a:ext uri="{FF2B5EF4-FFF2-40B4-BE49-F238E27FC236}">
                <a16:creationId xmlns:a16="http://schemas.microsoft.com/office/drawing/2014/main" id="{99A5C43F-683F-FFEC-F0F4-8D0B8037E47A}"/>
              </a:ext>
            </a:extLst>
          </p:cNvPr>
          <p:cNvSpPr/>
          <p:nvPr/>
        </p:nvSpPr>
        <p:spPr>
          <a:xfrm>
            <a:off x="10435478" y="4885861"/>
            <a:ext cx="6442274" cy="23436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DDEBFF"/>
                </a:solidFill>
                <a:latin typeface="Proxima Nova" panose="020B0604020202020204" charset="0"/>
                <a:cs typeface="Proxima Nova" panose="020B0604020202020204" charset="0"/>
              </a:rPr>
              <a:t>Correlation rules, anomaly detection, and threat intelligence</a:t>
            </a:r>
            <a:endParaRPr lang="en-US" sz="15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51" name="Shape 15">
            <a:extLst>
              <a:ext uri="{FF2B5EF4-FFF2-40B4-BE49-F238E27FC236}">
                <a16:creationId xmlns:a16="http://schemas.microsoft.com/office/drawing/2014/main" id="{645FF2E9-A83A-D086-2394-EC461608B8C6}"/>
              </a:ext>
            </a:extLst>
          </p:cNvPr>
          <p:cNvSpPr/>
          <p:nvPr/>
        </p:nvSpPr>
        <p:spPr>
          <a:xfrm>
            <a:off x="10145048" y="5484786"/>
            <a:ext cx="6996732" cy="1171809"/>
          </a:xfrm>
          <a:prstGeom prst="roundRect">
            <a:avLst>
              <a:gd name="adj" fmla="val 6667"/>
            </a:avLst>
          </a:prstGeom>
          <a:solidFill>
            <a:srgbClr val="09213F">
              <a:alpha val="84000"/>
            </a:srgbClr>
          </a:solidFill>
          <a:ln w="13970">
            <a:solidFill>
              <a:srgbClr val="FBBF2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62" name="Text 18">
            <a:extLst>
              <a:ext uri="{FF2B5EF4-FFF2-40B4-BE49-F238E27FC236}">
                <a16:creationId xmlns:a16="http://schemas.microsoft.com/office/drawing/2014/main" id="{E50834B8-266E-1562-4B7E-341AA4BD25B6}"/>
              </a:ext>
            </a:extLst>
          </p:cNvPr>
          <p:cNvSpPr/>
          <p:nvPr/>
        </p:nvSpPr>
        <p:spPr>
          <a:xfrm>
            <a:off x="10409075" y="5778520"/>
            <a:ext cx="501653" cy="24608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12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64" name="Text 19">
            <a:extLst>
              <a:ext uri="{FF2B5EF4-FFF2-40B4-BE49-F238E27FC236}">
                <a16:creationId xmlns:a16="http://schemas.microsoft.com/office/drawing/2014/main" id="{02B03A03-CDC2-AA76-A77F-DA74DCBE1997}"/>
              </a:ext>
            </a:extLst>
          </p:cNvPr>
          <p:cNvSpPr/>
          <p:nvPr/>
        </p:nvSpPr>
        <p:spPr>
          <a:xfrm>
            <a:off x="10631907" y="5725139"/>
            <a:ext cx="5782205" cy="2994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8FAFC"/>
                </a:solidFill>
                <a:latin typeface="Proxima Nova" panose="020B0604020202020204" charset="0"/>
                <a:cs typeface="Proxima Nova" panose="020B0604020202020204" charset="0"/>
              </a:rPr>
              <a:t>Triage</a:t>
            </a:r>
            <a:endParaRPr lang="en-US" sz="18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66" name="Text 20">
            <a:extLst>
              <a:ext uri="{FF2B5EF4-FFF2-40B4-BE49-F238E27FC236}">
                <a16:creationId xmlns:a16="http://schemas.microsoft.com/office/drawing/2014/main" id="{BF46758F-0CA8-9CB1-77C1-5A584D9E4B19}"/>
              </a:ext>
            </a:extLst>
          </p:cNvPr>
          <p:cNvSpPr/>
          <p:nvPr/>
        </p:nvSpPr>
        <p:spPr>
          <a:xfrm>
            <a:off x="10435478" y="6226931"/>
            <a:ext cx="6442274" cy="23436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DDEBFF"/>
                </a:solidFill>
                <a:latin typeface="Proxima Nova" panose="020B0604020202020204" charset="0"/>
                <a:cs typeface="Proxima Nova" panose="020B0604020202020204" charset="0"/>
              </a:rPr>
              <a:t>Prioritize by impact, confidence, and affected assets</a:t>
            </a:r>
            <a:endParaRPr lang="en-US" sz="15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70" name="Shape 21">
            <a:extLst>
              <a:ext uri="{FF2B5EF4-FFF2-40B4-BE49-F238E27FC236}">
                <a16:creationId xmlns:a16="http://schemas.microsoft.com/office/drawing/2014/main" id="{1869DB11-AA87-1E57-9698-F47445D989BB}"/>
              </a:ext>
            </a:extLst>
          </p:cNvPr>
          <p:cNvSpPr/>
          <p:nvPr/>
        </p:nvSpPr>
        <p:spPr>
          <a:xfrm>
            <a:off x="10145048" y="6825856"/>
            <a:ext cx="6996732" cy="1171809"/>
          </a:xfrm>
          <a:prstGeom prst="roundRect">
            <a:avLst>
              <a:gd name="adj" fmla="val 6667"/>
            </a:avLst>
          </a:prstGeom>
          <a:solidFill>
            <a:srgbClr val="09213F">
              <a:alpha val="84000"/>
            </a:srgbClr>
          </a:solidFill>
          <a:ln w="13970">
            <a:solidFill>
              <a:srgbClr val="22C55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80" name="Text 24">
            <a:extLst>
              <a:ext uri="{FF2B5EF4-FFF2-40B4-BE49-F238E27FC236}">
                <a16:creationId xmlns:a16="http://schemas.microsoft.com/office/drawing/2014/main" id="{EC857DAF-E2F2-7B01-130E-FACAF26D0F10}"/>
              </a:ext>
            </a:extLst>
          </p:cNvPr>
          <p:cNvSpPr/>
          <p:nvPr/>
        </p:nvSpPr>
        <p:spPr>
          <a:xfrm>
            <a:off x="10409075" y="7119590"/>
            <a:ext cx="501653" cy="24608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12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83" name="Text 25">
            <a:extLst>
              <a:ext uri="{FF2B5EF4-FFF2-40B4-BE49-F238E27FC236}">
                <a16:creationId xmlns:a16="http://schemas.microsoft.com/office/drawing/2014/main" id="{A9C28C92-83AB-BFF9-9207-9A5E0F9EA975}"/>
              </a:ext>
            </a:extLst>
          </p:cNvPr>
          <p:cNvSpPr/>
          <p:nvPr/>
        </p:nvSpPr>
        <p:spPr>
          <a:xfrm>
            <a:off x="10631907" y="7066209"/>
            <a:ext cx="5782205" cy="2994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8FAFC"/>
                </a:solidFill>
                <a:latin typeface="Proxima Nova" panose="020B0604020202020204" charset="0"/>
                <a:cs typeface="Proxima Nova" panose="020B0604020202020204" charset="0"/>
              </a:rPr>
              <a:t>Respond</a:t>
            </a:r>
            <a:endParaRPr lang="en-US" sz="18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85" name="Text 26">
            <a:extLst>
              <a:ext uri="{FF2B5EF4-FFF2-40B4-BE49-F238E27FC236}">
                <a16:creationId xmlns:a16="http://schemas.microsoft.com/office/drawing/2014/main" id="{AFFEC0F2-1C95-098A-9E2B-CAF4A2E449F4}"/>
              </a:ext>
            </a:extLst>
          </p:cNvPr>
          <p:cNvSpPr/>
          <p:nvPr/>
        </p:nvSpPr>
        <p:spPr>
          <a:xfrm>
            <a:off x="10435478" y="7568002"/>
            <a:ext cx="6442274" cy="23436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DDEBFF"/>
                </a:solidFill>
                <a:latin typeface="Proxima Nova" panose="020B0604020202020204" charset="0"/>
                <a:cs typeface="Proxima Nova" panose="020B0604020202020204" charset="0"/>
              </a:rPr>
              <a:t>Contain, eradicate, recover, and document</a:t>
            </a:r>
            <a:endParaRPr lang="en-US" sz="15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87" name="Shape 27">
            <a:extLst>
              <a:ext uri="{FF2B5EF4-FFF2-40B4-BE49-F238E27FC236}">
                <a16:creationId xmlns:a16="http://schemas.microsoft.com/office/drawing/2014/main" id="{AD5DF4E8-4DEE-B5C8-D6DB-678940D23F31}"/>
              </a:ext>
            </a:extLst>
          </p:cNvPr>
          <p:cNvSpPr/>
          <p:nvPr/>
        </p:nvSpPr>
        <p:spPr>
          <a:xfrm>
            <a:off x="2026198" y="8479409"/>
            <a:ext cx="14983568" cy="716106"/>
          </a:xfrm>
          <a:prstGeom prst="roundRect">
            <a:avLst>
              <a:gd name="adj" fmla="val 9091"/>
            </a:avLst>
          </a:prstGeom>
          <a:solidFill>
            <a:schemeClr val="bg1">
              <a:lumMod val="95000"/>
              <a:alpha val="95000"/>
            </a:schemeClr>
          </a:solidFill>
          <a:ln w="12700">
            <a:solidFill>
              <a:srgbClr val="38BDF8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89" name="Text 28">
            <a:extLst>
              <a:ext uri="{FF2B5EF4-FFF2-40B4-BE49-F238E27FC236}">
                <a16:creationId xmlns:a16="http://schemas.microsoft.com/office/drawing/2014/main" id="{D16B05B6-DC51-F5B2-B203-A7A6E6688A0D}"/>
              </a:ext>
            </a:extLst>
          </p:cNvPr>
          <p:cNvSpPr/>
          <p:nvPr/>
        </p:nvSpPr>
        <p:spPr>
          <a:xfrm>
            <a:off x="2184615" y="8635651"/>
            <a:ext cx="462048" cy="4557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3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91" name="Text 29">
            <a:extLst>
              <a:ext uri="{FF2B5EF4-FFF2-40B4-BE49-F238E27FC236}">
                <a16:creationId xmlns:a16="http://schemas.microsoft.com/office/drawing/2014/main" id="{670F9648-AA68-FE36-128C-E0B8099B0300}"/>
              </a:ext>
            </a:extLst>
          </p:cNvPr>
          <p:cNvSpPr/>
          <p:nvPr/>
        </p:nvSpPr>
        <p:spPr>
          <a:xfrm>
            <a:off x="2381043" y="8687732"/>
            <a:ext cx="14033069" cy="40362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  <a:latin typeface="Proxima Nova" panose="020B0604020202020204" charset="0"/>
                <a:cs typeface="Proxima Nova" panose="020B0604020202020204" charset="0"/>
              </a:rPr>
              <a:t>Security operations output: validated cases, clear evidence, understood impact, and documented remediation and mitigation actions.</a:t>
            </a:r>
          </a:p>
        </p:txBody>
      </p:sp>
    </p:spTree>
    <p:extLst>
      <p:ext uri="{BB962C8B-B14F-4D97-AF65-F5344CB8AC3E}">
        <p14:creationId xmlns:p14="http://schemas.microsoft.com/office/powerpoint/2010/main" val="5828309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DEF36E-5318-D39B-1993-C10A0A951E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>
            <a:extLst>
              <a:ext uri="{FF2B5EF4-FFF2-40B4-BE49-F238E27FC236}">
                <a16:creationId xmlns:a16="http://schemas.microsoft.com/office/drawing/2014/main" id="{317EF47F-A479-3170-D06F-031AB438877F}"/>
              </a:ext>
            </a:extLst>
          </p:cNvPr>
          <p:cNvSpPr/>
          <p:nvPr/>
        </p:nvSpPr>
        <p:spPr>
          <a:xfrm>
            <a:off x="3622127" y="1291034"/>
            <a:ext cx="12392960" cy="63781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4300" b="1" dirty="0" err="1">
                <a:solidFill>
                  <a:srgbClr val="F8FAFC"/>
                </a:solidFill>
                <a:latin typeface="Proxima Nova" panose="020B0604020202020204" charset="0"/>
                <a:ea typeface="Aptos Display" pitchFamily="34" charset="-122"/>
                <a:cs typeface="Proxima Nova" panose="020B0604020202020204" charset="0"/>
              </a:rPr>
              <a:t>Artifical</a:t>
            </a:r>
            <a:r>
              <a:rPr lang="en-US" sz="4300" b="1" dirty="0">
                <a:solidFill>
                  <a:srgbClr val="F8FAFC"/>
                </a:solidFill>
                <a:latin typeface="Proxima Nova" panose="020B0604020202020204" charset="0"/>
                <a:ea typeface="Aptos Display" pitchFamily="34" charset="-122"/>
                <a:cs typeface="Proxima Nova" panose="020B0604020202020204" charset="0"/>
              </a:rPr>
              <a:t> Intelligence in Modern Cybersecurity</a:t>
            </a:r>
            <a:endParaRPr lang="en-US" sz="43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3CE7F9EC-88BB-45CD-AB59-7C5F9DF7DF11}"/>
              </a:ext>
            </a:extLst>
          </p:cNvPr>
          <p:cNvSpPr/>
          <p:nvPr/>
        </p:nvSpPr>
        <p:spPr>
          <a:xfrm>
            <a:off x="6474951" y="2046065"/>
            <a:ext cx="7081431" cy="3620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  <a:latin typeface="Proxima Nova" panose="020B0604020202020204" charset="0"/>
                <a:cs typeface="Proxima Nova" panose="020B0604020202020204" charset="0"/>
              </a:rPr>
              <a:t>“AI improves detection, but also creates new risks to manage”</a:t>
            </a:r>
          </a:p>
        </p:txBody>
      </p:sp>
      <p:sp>
        <p:nvSpPr>
          <p:cNvPr id="9" name="Shape 3">
            <a:extLst>
              <a:ext uri="{FF2B5EF4-FFF2-40B4-BE49-F238E27FC236}">
                <a16:creationId xmlns:a16="http://schemas.microsoft.com/office/drawing/2014/main" id="{83D7D4C6-E0CA-2906-988E-EC3C6E121981}"/>
              </a:ext>
            </a:extLst>
          </p:cNvPr>
          <p:cNvSpPr/>
          <p:nvPr/>
        </p:nvSpPr>
        <p:spPr>
          <a:xfrm>
            <a:off x="1453110" y="3004552"/>
            <a:ext cx="4640435" cy="2187401"/>
          </a:xfrm>
          <a:prstGeom prst="roundRect">
            <a:avLst>
              <a:gd name="adj" fmla="val 4138"/>
            </a:avLst>
          </a:prstGeom>
          <a:solidFill>
            <a:srgbClr val="09213F">
              <a:alpha val="95000"/>
            </a:srgbClr>
          </a:solidFill>
          <a:ln w="13970">
            <a:solidFill>
              <a:srgbClr val="38BDF8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 sz="180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18" name="Text 6">
            <a:extLst>
              <a:ext uri="{FF2B5EF4-FFF2-40B4-BE49-F238E27FC236}">
                <a16:creationId xmlns:a16="http://schemas.microsoft.com/office/drawing/2014/main" id="{6F2D3FFB-F9BF-40B0-1B4C-6B1A743C5128}"/>
              </a:ext>
            </a:extLst>
          </p:cNvPr>
          <p:cNvSpPr/>
          <p:nvPr/>
        </p:nvSpPr>
        <p:spPr>
          <a:xfrm>
            <a:off x="1707380" y="3344882"/>
            <a:ext cx="483114" cy="28511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18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20" name="Text 7">
            <a:extLst>
              <a:ext uri="{FF2B5EF4-FFF2-40B4-BE49-F238E27FC236}">
                <a16:creationId xmlns:a16="http://schemas.microsoft.com/office/drawing/2014/main" id="{6AFE1278-761C-CBCA-53E9-A39C45491AC9}"/>
              </a:ext>
            </a:extLst>
          </p:cNvPr>
          <p:cNvSpPr/>
          <p:nvPr/>
        </p:nvSpPr>
        <p:spPr>
          <a:xfrm>
            <a:off x="1936224" y="3351519"/>
            <a:ext cx="3470791" cy="3469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8FAFC"/>
                </a:solidFill>
                <a:latin typeface="Proxima Nova" panose="020B0604020202020204" charset="0"/>
                <a:cs typeface="Proxima Nova" panose="020B0604020202020204" charset="0"/>
              </a:rPr>
              <a:t>AI helps defenders</a:t>
            </a:r>
            <a:endParaRPr lang="en-US" sz="18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23" name="Text 8">
            <a:extLst>
              <a:ext uri="{FF2B5EF4-FFF2-40B4-BE49-F238E27FC236}">
                <a16:creationId xmlns:a16="http://schemas.microsoft.com/office/drawing/2014/main" id="{CA8DC433-B3BB-EB1E-76AF-B482BC726B61}"/>
              </a:ext>
            </a:extLst>
          </p:cNvPr>
          <p:cNvSpPr/>
          <p:nvPr/>
        </p:nvSpPr>
        <p:spPr>
          <a:xfrm>
            <a:off x="1732807" y="3864427"/>
            <a:ext cx="4106467" cy="110124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DDEBFF"/>
                </a:solidFill>
                <a:latin typeface="Proxima Nova" panose="020B0604020202020204" charset="0"/>
                <a:cs typeface="Proxima Nova" panose="020B0604020202020204" charset="0"/>
              </a:rPr>
              <a:t>Alert correlation, anomaly detection, log analysis, threat intelligence enrichment, and early triage automation.</a:t>
            </a:r>
            <a:endParaRPr lang="en-US" sz="15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25" name="Shape 9">
            <a:extLst>
              <a:ext uri="{FF2B5EF4-FFF2-40B4-BE49-F238E27FC236}">
                <a16:creationId xmlns:a16="http://schemas.microsoft.com/office/drawing/2014/main" id="{B9B8A39D-F1E4-2449-57EC-A07B4FAB425C}"/>
              </a:ext>
            </a:extLst>
          </p:cNvPr>
          <p:cNvSpPr/>
          <p:nvPr/>
        </p:nvSpPr>
        <p:spPr>
          <a:xfrm>
            <a:off x="6474951" y="3004552"/>
            <a:ext cx="4640435" cy="2187401"/>
          </a:xfrm>
          <a:prstGeom prst="roundRect">
            <a:avLst>
              <a:gd name="adj" fmla="val 4138"/>
            </a:avLst>
          </a:prstGeom>
          <a:solidFill>
            <a:srgbClr val="09213F">
              <a:alpha val="95000"/>
            </a:srgbClr>
          </a:solidFill>
          <a:ln w="13970">
            <a:solidFill>
              <a:srgbClr val="EF444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 sz="180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35" name="Text 12">
            <a:extLst>
              <a:ext uri="{FF2B5EF4-FFF2-40B4-BE49-F238E27FC236}">
                <a16:creationId xmlns:a16="http://schemas.microsoft.com/office/drawing/2014/main" id="{68B1287A-DEA3-B777-8CA0-82475EC93155}"/>
              </a:ext>
            </a:extLst>
          </p:cNvPr>
          <p:cNvSpPr/>
          <p:nvPr/>
        </p:nvSpPr>
        <p:spPr>
          <a:xfrm>
            <a:off x="6729221" y="3344882"/>
            <a:ext cx="483114" cy="28511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18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37" name="Text 13">
            <a:extLst>
              <a:ext uri="{FF2B5EF4-FFF2-40B4-BE49-F238E27FC236}">
                <a16:creationId xmlns:a16="http://schemas.microsoft.com/office/drawing/2014/main" id="{453E3DE2-6422-0E75-9A03-A598C30F0FD2}"/>
              </a:ext>
            </a:extLst>
          </p:cNvPr>
          <p:cNvSpPr/>
          <p:nvPr/>
        </p:nvSpPr>
        <p:spPr>
          <a:xfrm>
            <a:off x="6958064" y="3351519"/>
            <a:ext cx="3470791" cy="3469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8FAFC"/>
                </a:solidFill>
                <a:latin typeface="Proxima Nova" panose="020B0604020202020204" charset="0"/>
                <a:cs typeface="Proxima Nova" panose="020B0604020202020204" charset="0"/>
              </a:rPr>
              <a:t>AI helps attackers</a:t>
            </a:r>
            <a:endParaRPr lang="en-US" sz="18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39" name="Text 14">
            <a:extLst>
              <a:ext uri="{FF2B5EF4-FFF2-40B4-BE49-F238E27FC236}">
                <a16:creationId xmlns:a16="http://schemas.microsoft.com/office/drawing/2014/main" id="{A2ACC68F-6395-B5B2-6749-EF612909BB24}"/>
              </a:ext>
            </a:extLst>
          </p:cNvPr>
          <p:cNvSpPr/>
          <p:nvPr/>
        </p:nvSpPr>
        <p:spPr>
          <a:xfrm>
            <a:off x="6754648" y="3864427"/>
            <a:ext cx="4106467" cy="110124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DDEBFF"/>
                </a:solidFill>
                <a:latin typeface="Proxima Nova" panose="020B0604020202020204" charset="0"/>
                <a:cs typeface="Proxima Nova" panose="020B0604020202020204" charset="0"/>
              </a:rPr>
              <a:t>More convincing phishing, deepfakes, automated reconnaissance, and more adaptive malware.</a:t>
            </a:r>
            <a:endParaRPr lang="en-US" sz="15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42" name="Shape 15">
            <a:extLst>
              <a:ext uri="{FF2B5EF4-FFF2-40B4-BE49-F238E27FC236}">
                <a16:creationId xmlns:a16="http://schemas.microsoft.com/office/drawing/2014/main" id="{1747EA00-9239-56D8-374C-FB679C5D0764}"/>
              </a:ext>
            </a:extLst>
          </p:cNvPr>
          <p:cNvSpPr/>
          <p:nvPr/>
        </p:nvSpPr>
        <p:spPr>
          <a:xfrm>
            <a:off x="11496792" y="3004552"/>
            <a:ext cx="4640435" cy="2187401"/>
          </a:xfrm>
          <a:prstGeom prst="roundRect">
            <a:avLst>
              <a:gd name="adj" fmla="val 4138"/>
            </a:avLst>
          </a:prstGeom>
          <a:solidFill>
            <a:srgbClr val="09213F">
              <a:alpha val="95000"/>
            </a:srgbClr>
          </a:solidFill>
          <a:ln w="13970">
            <a:solidFill>
              <a:srgbClr val="8B5CF6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 sz="180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50" name="Text 18">
            <a:extLst>
              <a:ext uri="{FF2B5EF4-FFF2-40B4-BE49-F238E27FC236}">
                <a16:creationId xmlns:a16="http://schemas.microsoft.com/office/drawing/2014/main" id="{E994C16B-AA0D-4A18-5E6D-5C194EA5D648}"/>
              </a:ext>
            </a:extLst>
          </p:cNvPr>
          <p:cNvSpPr/>
          <p:nvPr/>
        </p:nvSpPr>
        <p:spPr>
          <a:xfrm>
            <a:off x="11751062" y="3344882"/>
            <a:ext cx="483114" cy="28511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18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53" name="Text 19">
            <a:extLst>
              <a:ext uri="{FF2B5EF4-FFF2-40B4-BE49-F238E27FC236}">
                <a16:creationId xmlns:a16="http://schemas.microsoft.com/office/drawing/2014/main" id="{FC70E320-3C3E-A2CB-CA27-B1DFF44A0D2A}"/>
              </a:ext>
            </a:extLst>
          </p:cNvPr>
          <p:cNvSpPr/>
          <p:nvPr/>
        </p:nvSpPr>
        <p:spPr>
          <a:xfrm>
            <a:off x="11979905" y="3351519"/>
            <a:ext cx="3470791" cy="3469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8FAFC"/>
                </a:solidFill>
                <a:latin typeface="Proxima Nova" panose="020B0604020202020204" charset="0"/>
                <a:cs typeface="Proxima Nova" panose="020B0604020202020204" charset="0"/>
              </a:rPr>
              <a:t>AI as an asset</a:t>
            </a:r>
            <a:endParaRPr lang="en-US" sz="18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56" name="Text 20">
            <a:extLst>
              <a:ext uri="{FF2B5EF4-FFF2-40B4-BE49-F238E27FC236}">
                <a16:creationId xmlns:a16="http://schemas.microsoft.com/office/drawing/2014/main" id="{EB93D7CD-CE9C-351B-340A-2180E0FA2BBB}"/>
              </a:ext>
            </a:extLst>
          </p:cNvPr>
          <p:cNvSpPr/>
          <p:nvPr/>
        </p:nvSpPr>
        <p:spPr>
          <a:xfrm>
            <a:off x="11776489" y="3864427"/>
            <a:ext cx="4106467" cy="110124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DDEBFF"/>
                </a:solidFill>
                <a:latin typeface="Proxima Nova" panose="020B0604020202020204" charset="0"/>
                <a:cs typeface="Proxima Nova" panose="020B0604020202020204" charset="0"/>
              </a:rPr>
              <a:t>Models, datasets, prompts, outputs, plugins, and APIs should be included in asset inventory and risk assessment.</a:t>
            </a:r>
            <a:endParaRPr lang="en-US" sz="15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58" name="Shape 21">
            <a:extLst>
              <a:ext uri="{FF2B5EF4-FFF2-40B4-BE49-F238E27FC236}">
                <a16:creationId xmlns:a16="http://schemas.microsoft.com/office/drawing/2014/main" id="{E5F50159-8A6D-06F6-76A7-D1FCAD05F70F}"/>
              </a:ext>
            </a:extLst>
          </p:cNvPr>
          <p:cNvSpPr/>
          <p:nvPr/>
        </p:nvSpPr>
        <p:spPr>
          <a:xfrm>
            <a:off x="1707380" y="6323367"/>
            <a:ext cx="13921306" cy="0"/>
          </a:xfrm>
          <a:prstGeom prst="line">
            <a:avLst/>
          </a:prstGeom>
          <a:noFill/>
          <a:ln w="17780">
            <a:solidFill>
              <a:schemeClr val="bg1">
                <a:alpha val="75000"/>
              </a:schemeClr>
            </a:solidFill>
            <a:prstDash val="solid"/>
          </a:ln>
        </p:spPr>
        <p:txBody>
          <a:bodyPr/>
          <a:lstStyle/>
          <a:p>
            <a:endParaRPr lang="en-US" sz="180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60" name="Shape 22">
            <a:extLst>
              <a:ext uri="{FF2B5EF4-FFF2-40B4-BE49-F238E27FC236}">
                <a16:creationId xmlns:a16="http://schemas.microsoft.com/office/drawing/2014/main" id="{70E1CA10-909D-E88D-44FD-32706C0D6F84}"/>
              </a:ext>
            </a:extLst>
          </p:cNvPr>
          <p:cNvSpPr/>
          <p:nvPr/>
        </p:nvSpPr>
        <p:spPr>
          <a:xfrm>
            <a:off x="1453110" y="7122900"/>
            <a:ext cx="3241948" cy="1930947"/>
          </a:xfrm>
          <a:prstGeom prst="roundRect">
            <a:avLst>
              <a:gd name="adj" fmla="val 4688"/>
            </a:avLst>
          </a:prstGeom>
          <a:solidFill>
            <a:srgbClr val="09213F">
              <a:alpha val="82000"/>
            </a:srgbClr>
          </a:solidFill>
          <a:ln w="13970">
            <a:solidFill>
              <a:srgbClr val="2DD4B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 sz="180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69" name="Text 25">
            <a:extLst>
              <a:ext uri="{FF2B5EF4-FFF2-40B4-BE49-F238E27FC236}">
                <a16:creationId xmlns:a16="http://schemas.microsoft.com/office/drawing/2014/main" id="{2CF96ECD-3700-25F2-B1C5-22A27C0AFCCA}"/>
              </a:ext>
            </a:extLst>
          </p:cNvPr>
          <p:cNvSpPr/>
          <p:nvPr/>
        </p:nvSpPr>
        <p:spPr>
          <a:xfrm>
            <a:off x="1707380" y="7463230"/>
            <a:ext cx="483114" cy="28511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18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72" name="Text 26">
            <a:extLst>
              <a:ext uri="{FF2B5EF4-FFF2-40B4-BE49-F238E27FC236}">
                <a16:creationId xmlns:a16="http://schemas.microsoft.com/office/drawing/2014/main" id="{E6EEDF55-8B75-BFA8-87E3-EA7CE567236B}"/>
              </a:ext>
            </a:extLst>
          </p:cNvPr>
          <p:cNvSpPr/>
          <p:nvPr/>
        </p:nvSpPr>
        <p:spPr>
          <a:xfrm>
            <a:off x="1936224" y="7469866"/>
            <a:ext cx="2072304" cy="3469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8FAFC"/>
                </a:solidFill>
                <a:latin typeface="Proxima Nova" panose="020B0604020202020204" charset="0"/>
                <a:cs typeface="Proxima Nova" panose="020B0604020202020204" charset="0"/>
              </a:rPr>
              <a:t>Data integrity</a:t>
            </a:r>
            <a:endParaRPr lang="en-US" sz="18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75" name="Text 27">
            <a:extLst>
              <a:ext uri="{FF2B5EF4-FFF2-40B4-BE49-F238E27FC236}">
                <a16:creationId xmlns:a16="http://schemas.microsoft.com/office/drawing/2014/main" id="{3A8CBCAF-28EB-4279-1F2D-3B025DB113F2}"/>
              </a:ext>
            </a:extLst>
          </p:cNvPr>
          <p:cNvSpPr/>
          <p:nvPr/>
        </p:nvSpPr>
        <p:spPr>
          <a:xfrm>
            <a:off x="1732807" y="7982775"/>
            <a:ext cx="2707980" cy="844789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DDEBFF"/>
                </a:solidFill>
                <a:latin typeface="Proxima Nova" panose="020B0604020202020204" charset="0"/>
                <a:cs typeface="Proxima Nova" panose="020B0604020202020204" charset="0"/>
              </a:rPr>
              <a:t>Prevent poisoning and unauthorized dataset changes.</a:t>
            </a:r>
            <a:endParaRPr lang="en-US" sz="15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77" name="Shape 28">
            <a:extLst>
              <a:ext uri="{FF2B5EF4-FFF2-40B4-BE49-F238E27FC236}">
                <a16:creationId xmlns:a16="http://schemas.microsoft.com/office/drawing/2014/main" id="{4B0AC900-46ED-45C2-9538-7ACA78D94599}"/>
              </a:ext>
            </a:extLst>
          </p:cNvPr>
          <p:cNvSpPr/>
          <p:nvPr/>
        </p:nvSpPr>
        <p:spPr>
          <a:xfrm>
            <a:off x="5267166" y="7122900"/>
            <a:ext cx="3241948" cy="1930947"/>
          </a:xfrm>
          <a:prstGeom prst="roundRect">
            <a:avLst>
              <a:gd name="adj" fmla="val 4688"/>
            </a:avLst>
          </a:prstGeom>
          <a:solidFill>
            <a:srgbClr val="09213F">
              <a:alpha val="82000"/>
            </a:srgbClr>
          </a:solidFill>
          <a:ln w="13970">
            <a:solidFill>
              <a:srgbClr val="22C55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 sz="180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86" name="Text 31">
            <a:extLst>
              <a:ext uri="{FF2B5EF4-FFF2-40B4-BE49-F238E27FC236}">
                <a16:creationId xmlns:a16="http://schemas.microsoft.com/office/drawing/2014/main" id="{F5C8A71C-DF30-4994-F91C-4A495F906781}"/>
              </a:ext>
            </a:extLst>
          </p:cNvPr>
          <p:cNvSpPr/>
          <p:nvPr/>
        </p:nvSpPr>
        <p:spPr>
          <a:xfrm>
            <a:off x="5521437" y="7463230"/>
            <a:ext cx="483114" cy="28511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18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90" name="Text 32">
            <a:extLst>
              <a:ext uri="{FF2B5EF4-FFF2-40B4-BE49-F238E27FC236}">
                <a16:creationId xmlns:a16="http://schemas.microsoft.com/office/drawing/2014/main" id="{3F0BC18D-9596-0CD5-5AE0-94E7B4B5FED9}"/>
              </a:ext>
            </a:extLst>
          </p:cNvPr>
          <p:cNvSpPr/>
          <p:nvPr/>
        </p:nvSpPr>
        <p:spPr>
          <a:xfrm>
            <a:off x="5750280" y="7469866"/>
            <a:ext cx="2072304" cy="3469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8FAFC"/>
                </a:solidFill>
                <a:latin typeface="Proxima Nova" panose="020B0604020202020204" charset="0"/>
                <a:cs typeface="Proxima Nova" panose="020B0604020202020204" charset="0"/>
              </a:rPr>
              <a:t>Privacy</a:t>
            </a:r>
            <a:endParaRPr lang="en-US" sz="18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93" name="Text 33">
            <a:extLst>
              <a:ext uri="{FF2B5EF4-FFF2-40B4-BE49-F238E27FC236}">
                <a16:creationId xmlns:a16="http://schemas.microsoft.com/office/drawing/2014/main" id="{502F3A17-FF5C-F41A-D16D-BED391ECB97C}"/>
              </a:ext>
            </a:extLst>
          </p:cNvPr>
          <p:cNvSpPr/>
          <p:nvPr/>
        </p:nvSpPr>
        <p:spPr>
          <a:xfrm>
            <a:off x="5546864" y="7982775"/>
            <a:ext cx="2707980" cy="844789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DDEBFF"/>
                </a:solidFill>
                <a:latin typeface="Proxima Nova" panose="020B0604020202020204" charset="0"/>
                <a:cs typeface="Proxima Nova" panose="020B0604020202020204" charset="0"/>
              </a:rPr>
              <a:t>Avoid sending sensitive data into public AI services.</a:t>
            </a:r>
            <a:endParaRPr lang="en-US" sz="15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95" name="Shape 34">
            <a:extLst>
              <a:ext uri="{FF2B5EF4-FFF2-40B4-BE49-F238E27FC236}">
                <a16:creationId xmlns:a16="http://schemas.microsoft.com/office/drawing/2014/main" id="{C9DA502B-22A1-1406-7A21-78CE08165A93}"/>
              </a:ext>
            </a:extLst>
          </p:cNvPr>
          <p:cNvSpPr/>
          <p:nvPr/>
        </p:nvSpPr>
        <p:spPr>
          <a:xfrm>
            <a:off x="9081223" y="7122900"/>
            <a:ext cx="3241948" cy="1930947"/>
          </a:xfrm>
          <a:prstGeom prst="roundRect">
            <a:avLst>
              <a:gd name="adj" fmla="val 4688"/>
            </a:avLst>
          </a:prstGeom>
          <a:solidFill>
            <a:srgbClr val="09213F">
              <a:alpha val="82000"/>
            </a:srgbClr>
          </a:solidFill>
          <a:ln w="13970">
            <a:solidFill>
              <a:srgbClr val="2DD4B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 sz="180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101" name="Text 37">
            <a:extLst>
              <a:ext uri="{FF2B5EF4-FFF2-40B4-BE49-F238E27FC236}">
                <a16:creationId xmlns:a16="http://schemas.microsoft.com/office/drawing/2014/main" id="{B329AB14-4713-4EEF-E4A2-4B1B7E116F79}"/>
              </a:ext>
            </a:extLst>
          </p:cNvPr>
          <p:cNvSpPr/>
          <p:nvPr/>
        </p:nvSpPr>
        <p:spPr>
          <a:xfrm>
            <a:off x="9335493" y="7463230"/>
            <a:ext cx="483114" cy="28511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18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103" name="Text 38">
            <a:extLst>
              <a:ext uri="{FF2B5EF4-FFF2-40B4-BE49-F238E27FC236}">
                <a16:creationId xmlns:a16="http://schemas.microsoft.com/office/drawing/2014/main" id="{20C61334-E3F9-CB3B-2EDD-D9F25E2F2593}"/>
              </a:ext>
            </a:extLst>
          </p:cNvPr>
          <p:cNvSpPr/>
          <p:nvPr/>
        </p:nvSpPr>
        <p:spPr>
          <a:xfrm>
            <a:off x="9564336" y="7469866"/>
            <a:ext cx="2072304" cy="3469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8FAFC"/>
                </a:solidFill>
                <a:latin typeface="Proxima Nova" panose="020B0604020202020204" charset="0"/>
                <a:cs typeface="Proxima Nova" panose="020B0604020202020204" charset="0"/>
              </a:rPr>
              <a:t>Access control</a:t>
            </a:r>
            <a:endParaRPr lang="en-US" sz="18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105" name="Text 39">
            <a:extLst>
              <a:ext uri="{FF2B5EF4-FFF2-40B4-BE49-F238E27FC236}">
                <a16:creationId xmlns:a16="http://schemas.microsoft.com/office/drawing/2014/main" id="{4E1612E3-1E08-373C-7507-11AC779A29F2}"/>
              </a:ext>
            </a:extLst>
          </p:cNvPr>
          <p:cNvSpPr/>
          <p:nvPr/>
        </p:nvSpPr>
        <p:spPr>
          <a:xfrm>
            <a:off x="9360920" y="7982775"/>
            <a:ext cx="2707980" cy="844789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DDEBFF"/>
                </a:solidFill>
                <a:latin typeface="Proxima Nova" panose="020B0604020202020204" charset="0"/>
                <a:cs typeface="Proxima Nova" panose="020B0604020202020204" charset="0"/>
              </a:rPr>
              <a:t>Service accounts and bots still require PoLP and review.</a:t>
            </a:r>
            <a:endParaRPr lang="en-US" sz="15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107" name="Shape 40">
            <a:extLst>
              <a:ext uri="{FF2B5EF4-FFF2-40B4-BE49-F238E27FC236}">
                <a16:creationId xmlns:a16="http://schemas.microsoft.com/office/drawing/2014/main" id="{5C7AB93C-4448-7538-9E7E-6BFF208F69FB}"/>
              </a:ext>
            </a:extLst>
          </p:cNvPr>
          <p:cNvSpPr/>
          <p:nvPr/>
        </p:nvSpPr>
        <p:spPr>
          <a:xfrm>
            <a:off x="12895279" y="7122900"/>
            <a:ext cx="3241948" cy="1930947"/>
          </a:xfrm>
          <a:prstGeom prst="roundRect">
            <a:avLst>
              <a:gd name="adj" fmla="val 4688"/>
            </a:avLst>
          </a:prstGeom>
          <a:solidFill>
            <a:srgbClr val="09213F">
              <a:alpha val="82000"/>
            </a:srgbClr>
          </a:solidFill>
          <a:ln w="13970">
            <a:solidFill>
              <a:srgbClr val="22C55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 sz="180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113" name="Text 43">
            <a:extLst>
              <a:ext uri="{FF2B5EF4-FFF2-40B4-BE49-F238E27FC236}">
                <a16:creationId xmlns:a16="http://schemas.microsoft.com/office/drawing/2014/main" id="{18FD86D0-F05D-B3C1-CB5C-7CF1A7954855}"/>
              </a:ext>
            </a:extLst>
          </p:cNvPr>
          <p:cNvSpPr/>
          <p:nvPr/>
        </p:nvSpPr>
        <p:spPr>
          <a:xfrm>
            <a:off x="13149550" y="7463230"/>
            <a:ext cx="483114" cy="28511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18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115" name="Text 44">
            <a:extLst>
              <a:ext uri="{FF2B5EF4-FFF2-40B4-BE49-F238E27FC236}">
                <a16:creationId xmlns:a16="http://schemas.microsoft.com/office/drawing/2014/main" id="{DBCE9F62-B7A2-81F6-C4C4-320821A97C76}"/>
              </a:ext>
            </a:extLst>
          </p:cNvPr>
          <p:cNvSpPr/>
          <p:nvPr/>
        </p:nvSpPr>
        <p:spPr>
          <a:xfrm>
            <a:off x="13378393" y="7469866"/>
            <a:ext cx="2072304" cy="3469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8FAFC"/>
                </a:solidFill>
                <a:latin typeface="Proxima Nova" panose="020B0604020202020204" charset="0"/>
                <a:cs typeface="Proxima Nova" panose="020B0604020202020204" charset="0"/>
              </a:rPr>
              <a:t>BC/DR</a:t>
            </a:r>
            <a:endParaRPr lang="en-US" sz="18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117" name="Text 45">
            <a:extLst>
              <a:ext uri="{FF2B5EF4-FFF2-40B4-BE49-F238E27FC236}">
                <a16:creationId xmlns:a16="http://schemas.microsoft.com/office/drawing/2014/main" id="{A66479B1-2BD4-56B1-2208-B5B91C45B4CB}"/>
              </a:ext>
            </a:extLst>
          </p:cNvPr>
          <p:cNvSpPr/>
          <p:nvPr/>
        </p:nvSpPr>
        <p:spPr>
          <a:xfrm>
            <a:off x="13174977" y="7982775"/>
            <a:ext cx="2707980" cy="844789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DDEBFF"/>
                </a:solidFill>
                <a:latin typeface="Proxima Nova" panose="020B0604020202020204" charset="0"/>
                <a:cs typeface="Proxima Nova" panose="020B0604020202020204" charset="0"/>
              </a:rPr>
              <a:t>Back up important configurations, models, pipelines, and datasets.</a:t>
            </a:r>
            <a:endParaRPr lang="en-US" sz="1500" dirty="0">
              <a:latin typeface="Proxima Nova" panose="020B0604020202020204" charset="0"/>
              <a:cs typeface="Proxima Nova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11795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53C668-0222-F98E-C91C-B233C83259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1">
            <a:extLst>
              <a:ext uri="{FF2B5EF4-FFF2-40B4-BE49-F238E27FC236}">
                <a16:creationId xmlns:a16="http://schemas.microsoft.com/office/drawing/2014/main" id="{DEE70402-2685-E3F7-31BA-591EFFDB3FE9}"/>
              </a:ext>
            </a:extLst>
          </p:cNvPr>
          <p:cNvSpPr/>
          <p:nvPr/>
        </p:nvSpPr>
        <p:spPr>
          <a:xfrm>
            <a:off x="5455325" y="1228506"/>
            <a:ext cx="8227668" cy="74220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300" b="1" dirty="0">
                <a:solidFill>
                  <a:srgbClr val="F8FAFC"/>
                </a:solidFill>
                <a:latin typeface="Proxima Nova" panose="020B0604020202020204" charset="0"/>
                <a:ea typeface="Aptos Display" pitchFamily="34" charset="-122"/>
                <a:cs typeface="Proxima Nova" panose="020B0604020202020204" charset="0"/>
              </a:rPr>
              <a:t>Learning and Certification Path</a:t>
            </a:r>
            <a:endParaRPr lang="en-US" sz="43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10" name="Text 2">
            <a:extLst>
              <a:ext uri="{FF2B5EF4-FFF2-40B4-BE49-F238E27FC236}">
                <a16:creationId xmlns:a16="http://schemas.microsoft.com/office/drawing/2014/main" id="{20907405-732C-3190-9EF0-F1402822ABE9}"/>
              </a:ext>
            </a:extLst>
          </p:cNvPr>
          <p:cNvSpPr/>
          <p:nvPr/>
        </p:nvSpPr>
        <p:spPr>
          <a:xfrm>
            <a:off x="6765762" y="1879725"/>
            <a:ext cx="5800759" cy="38787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  <a:latin typeface="Proxima Nova" panose="020B0604020202020204" charset="0"/>
                <a:cs typeface="Proxima Nova" panose="020B0604020202020204" charset="0"/>
              </a:rPr>
              <a:t>“From awareness to entry-level cybersecurity roles”</a:t>
            </a:r>
          </a:p>
        </p:txBody>
      </p:sp>
      <p:sp>
        <p:nvSpPr>
          <p:cNvPr id="19" name="Shape 6">
            <a:extLst>
              <a:ext uri="{FF2B5EF4-FFF2-40B4-BE49-F238E27FC236}">
                <a16:creationId xmlns:a16="http://schemas.microsoft.com/office/drawing/2014/main" id="{C1343E24-6DA2-E206-A389-ED04B84A0AB4}"/>
              </a:ext>
            </a:extLst>
          </p:cNvPr>
          <p:cNvSpPr/>
          <p:nvPr/>
        </p:nvSpPr>
        <p:spPr>
          <a:xfrm>
            <a:off x="1557555" y="3495407"/>
            <a:ext cx="2258661" cy="1707076"/>
          </a:xfrm>
          <a:prstGeom prst="roundRect">
            <a:avLst>
              <a:gd name="adj" fmla="val 5217"/>
            </a:avLst>
          </a:prstGeom>
          <a:solidFill>
            <a:srgbClr val="09213F">
              <a:alpha val="80000"/>
            </a:srgbClr>
          </a:solidFill>
          <a:ln w="13970">
            <a:solidFill>
              <a:srgbClr val="38BDF8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30" name="Text 10">
            <a:extLst>
              <a:ext uri="{FF2B5EF4-FFF2-40B4-BE49-F238E27FC236}">
                <a16:creationId xmlns:a16="http://schemas.microsoft.com/office/drawing/2014/main" id="{70588AF0-2441-6BAB-87BA-8166A6EA3DD2}"/>
              </a:ext>
            </a:extLst>
          </p:cNvPr>
          <p:cNvSpPr/>
          <p:nvPr/>
        </p:nvSpPr>
        <p:spPr>
          <a:xfrm>
            <a:off x="2009287" y="3792290"/>
            <a:ext cx="1036327" cy="3414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8FAFC"/>
                </a:solidFill>
                <a:latin typeface="Proxima Nova" panose="020B0604020202020204" charset="0"/>
                <a:cs typeface="Proxima Nova" panose="020B0604020202020204" charset="0"/>
              </a:rPr>
              <a:t>Start</a:t>
            </a:r>
            <a:endParaRPr lang="en-US" sz="18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32" name="Text 11">
            <a:extLst>
              <a:ext uri="{FF2B5EF4-FFF2-40B4-BE49-F238E27FC236}">
                <a16:creationId xmlns:a16="http://schemas.microsoft.com/office/drawing/2014/main" id="{9433765E-D311-785E-1F54-769EF965B23E}"/>
              </a:ext>
            </a:extLst>
          </p:cNvPr>
          <p:cNvSpPr/>
          <p:nvPr/>
        </p:nvSpPr>
        <p:spPr>
          <a:xfrm>
            <a:off x="1849852" y="4341523"/>
            <a:ext cx="1700639" cy="63829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  <a:latin typeface="Proxima Nova" panose="020B0604020202020204" charset="0"/>
                <a:cs typeface="Proxima Nova" panose="020B0604020202020204" charset="0"/>
              </a:rPr>
              <a:t>Intro to Cybersecurity</a:t>
            </a:r>
          </a:p>
        </p:txBody>
      </p:sp>
      <p:sp>
        <p:nvSpPr>
          <p:cNvPr id="41" name="Shape 14">
            <a:extLst>
              <a:ext uri="{FF2B5EF4-FFF2-40B4-BE49-F238E27FC236}">
                <a16:creationId xmlns:a16="http://schemas.microsoft.com/office/drawing/2014/main" id="{C8CE6967-21C4-217D-F253-2A1A12B24440}"/>
              </a:ext>
            </a:extLst>
          </p:cNvPr>
          <p:cNvSpPr/>
          <p:nvPr/>
        </p:nvSpPr>
        <p:spPr>
          <a:xfrm>
            <a:off x="4772826" y="3495407"/>
            <a:ext cx="2258661" cy="1707076"/>
          </a:xfrm>
          <a:prstGeom prst="roundRect">
            <a:avLst>
              <a:gd name="adj" fmla="val 5217"/>
            </a:avLst>
          </a:prstGeom>
          <a:solidFill>
            <a:srgbClr val="09213F">
              <a:alpha val="80000"/>
            </a:srgbClr>
          </a:solidFill>
          <a:ln w="13970">
            <a:solidFill>
              <a:srgbClr val="38BDF8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51" name="Text 18">
            <a:extLst>
              <a:ext uri="{FF2B5EF4-FFF2-40B4-BE49-F238E27FC236}">
                <a16:creationId xmlns:a16="http://schemas.microsoft.com/office/drawing/2014/main" id="{E089FB36-4890-82C4-FE22-FE001E00B035}"/>
              </a:ext>
            </a:extLst>
          </p:cNvPr>
          <p:cNvSpPr/>
          <p:nvPr/>
        </p:nvSpPr>
        <p:spPr>
          <a:xfrm>
            <a:off x="5224558" y="3792290"/>
            <a:ext cx="1036327" cy="3414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8FAFC"/>
                </a:solidFill>
                <a:latin typeface="Proxima Nova" panose="020B0604020202020204" charset="0"/>
                <a:cs typeface="Proxima Nova" panose="020B0604020202020204" charset="0"/>
              </a:rPr>
              <a:t>Build</a:t>
            </a:r>
            <a:endParaRPr lang="en-US" sz="18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54" name="Text 19">
            <a:extLst>
              <a:ext uri="{FF2B5EF4-FFF2-40B4-BE49-F238E27FC236}">
                <a16:creationId xmlns:a16="http://schemas.microsoft.com/office/drawing/2014/main" id="{1F5EFFDC-FB37-B5C5-53C6-691673F80906}"/>
              </a:ext>
            </a:extLst>
          </p:cNvPr>
          <p:cNvSpPr/>
          <p:nvPr/>
        </p:nvSpPr>
        <p:spPr>
          <a:xfrm>
            <a:off x="5065123" y="4341523"/>
            <a:ext cx="1700639" cy="63829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  <a:latin typeface="Proxima Nova" panose="020B0604020202020204" charset="0"/>
                <a:cs typeface="Proxima Nova" panose="020B0604020202020204" charset="0"/>
              </a:rPr>
              <a:t>Networking Basics + Linux</a:t>
            </a:r>
          </a:p>
        </p:txBody>
      </p:sp>
      <p:sp>
        <p:nvSpPr>
          <p:cNvPr id="63" name="Shape 22">
            <a:extLst>
              <a:ext uri="{FF2B5EF4-FFF2-40B4-BE49-F238E27FC236}">
                <a16:creationId xmlns:a16="http://schemas.microsoft.com/office/drawing/2014/main" id="{8CAD79EC-E0C7-7CFD-1AB4-96A575DEF8BC}"/>
              </a:ext>
            </a:extLst>
          </p:cNvPr>
          <p:cNvSpPr/>
          <p:nvPr/>
        </p:nvSpPr>
        <p:spPr>
          <a:xfrm>
            <a:off x="7988097" y="3495407"/>
            <a:ext cx="2258661" cy="1707076"/>
          </a:xfrm>
          <a:prstGeom prst="roundRect">
            <a:avLst>
              <a:gd name="adj" fmla="val 5217"/>
            </a:avLst>
          </a:prstGeom>
          <a:solidFill>
            <a:srgbClr val="09213F">
              <a:alpha val="80000"/>
            </a:srgbClr>
          </a:solidFill>
          <a:ln w="13970">
            <a:solidFill>
              <a:srgbClr val="38BDF8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73" name="Text 26">
            <a:extLst>
              <a:ext uri="{FF2B5EF4-FFF2-40B4-BE49-F238E27FC236}">
                <a16:creationId xmlns:a16="http://schemas.microsoft.com/office/drawing/2014/main" id="{42162993-DBFE-9CFF-83F1-BC5672C283A7}"/>
              </a:ext>
            </a:extLst>
          </p:cNvPr>
          <p:cNvSpPr/>
          <p:nvPr/>
        </p:nvSpPr>
        <p:spPr>
          <a:xfrm>
            <a:off x="8439829" y="3792290"/>
            <a:ext cx="1036327" cy="3414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8FAFC"/>
                </a:solidFill>
                <a:latin typeface="Proxima Nova" panose="020B0604020202020204" charset="0"/>
                <a:cs typeface="Proxima Nova" panose="020B0604020202020204" charset="0"/>
              </a:rPr>
              <a:t>Practice</a:t>
            </a:r>
            <a:endParaRPr lang="en-US" sz="18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76" name="Text 27">
            <a:extLst>
              <a:ext uri="{FF2B5EF4-FFF2-40B4-BE49-F238E27FC236}">
                <a16:creationId xmlns:a16="http://schemas.microsoft.com/office/drawing/2014/main" id="{6E65E2D7-DA43-D852-C0EF-8659C1DCA3DE}"/>
              </a:ext>
            </a:extLst>
          </p:cNvPr>
          <p:cNvSpPr/>
          <p:nvPr/>
        </p:nvSpPr>
        <p:spPr>
          <a:xfrm>
            <a:off x="8280394" y="4341523"/>
            <a:ext cx="1700639" cy="63829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  <a:latin typeface="Proxima Nova" panose="020B0604020202020204" charset="0"/>
                <a:cs typeface="Proxima Nova" panose="020B0604020202020204" charset="0"/>
              </a:rPr>
              <a:t>Labs: logs, scanning, hardening</a:t>
            </a:r>
          </a:p>
        </p:txBody>
      </p:sp>
      <p:sp>
        <p:nvSpPr>
          <p:cNvPr id="83" name="Shape 30">
            <a:extLst>
              <a:ext uri="{FF2B5EF4-FFF2-40B4-BE49-F238E27FC236}">
                <a16:creationId xmlns:a16="http://schemas.microsoft.com/office/drawing/2014/main" id="{6B2EA79B-6461-F39B-9C56-C5BFC61202E5}"/>
              </a:ext>
            </a:extLst>
          </p:cNvPr>
          <p:cNvSpPr/>
          <p:nvPr/>
        </p:nvSpPr>
        <p:spPr>
          <a:xfrm>
            <a:off x="11203368" y="3495407"/>
            <a:ext cx="2258661" cy="1707076"/>
          </a:xfrm>
          <a:prstGeom prst="roundRect">
            <a:avLst>
              <a:gd name="adj" fmla="val 5217"/>
            </a:avLst>
          </a:prstGeom>
          <a:solidFill>
            <a:srgbClr val="09213F">
              <a:alpha val="80000"/>
            </a:srgbClr>
          </a:solidFill>
          <a:ln w="13970">
            <a:solidFill>
              <a:srgbClr val="F97316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94" name="Text 34">
            <a:extLst>
              <a:ext uri="{FF2B5EF4-FFF2-40B4-BE49-F238E27FC236}">
                <a16:creationId xmlns:a16="http://schemas.microsoft.com/office/drawing/2014/main" id="{0713E945-E977-2843-3DC1-3F1B4A6686A1}"/>
              </a:ext>
            </a:extLst>
          </p:cNvPr>
          <p:cNvSpPr/>
          <p:nvPr/>
        </p:nvSpPr>
        <p:spPr>
          <a:xfrm>
            <a:off x="11655100" y="3792290"/>
            <a:ext cx="1036327" cy="3414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8FAFC"/>
                </a:solidFill>
                <a:latin typeface="Proxima Nova" panose="020B0604020202020204" charset="0"/>
                <a:cs typeface="Proxima Nova" panose="020B0604020202020204" charset="0"/>
              </a:rPr>
              <a:t>Validate</a:t>
            </a:r>
            <a:endParaRPr lang="en-US" sz="18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97" name="Text 35">
            <a:extLst>
              <a:ext uri="{FF2B5EF4-FFF2-40B4-BE49-F238E27FC236}">
                <a16:creationId xmlns:a16="http://schemas.microsoft.com/office/drawing/2014/main" id="{114B96F5-59DB-A117-9B21-ADED2F0A4D5C}"/>
              </a:ext>
            </a:extLst>
          </p:cNvPr>
          <p:cNvSpPr/>
          <p:nvPr/>
        </p:nvSpPr>
        <p:spPr>
          <a:xfrm>
            <a:off x="11495665" y="4341523"/>
            <a:ext cx="1700639" cy="63829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  <a:latin typeface="Proxima Nova" panose="020B0604020202020204" charset="0"/>
                <a:cs typeface="Proxima Nova" panose="020B0604020202020204" charset="0"/>
              </a:rPr>
              <a:t>entry certification</a:t>
            </a:r>
          </a:p>
        </p:txBody>
      </p:sp>
      <p:sp>
        <p:nvSpPr>
          <p:cNvPr id="106" name="Shape 38">
            <a:extLst>
              <a:ext uri="{FF2B5EF4-FFF2-40B4-BE49-F238E27FC236}">
                <a16:creationId xmlns:a16="http://schemas.microsoft.com/office/drawing/2014/main" id="{927451B2-1DB3-BA34-C924-27950DA6DE08}"/>
              </a:ext>
            </a:extLst>
          </p:cNvPr>
          <p:cNvSpPr/>
          <p:nvPr/>
        </p:nvSpPr>
        <p:spPr>
          <a:xfrm>
            <a:off x="14418639" y="3495407"/>
            <a:ext cx="2258661" cy="1707076"/>
          </a:xfrm>
          <a:prstGeom prst="roundRect">
            <a:avLst>
              <a:gd name="adj" fmla="val 5217"/>
            </a:avLst>
          </a:prstGeom>
          <a:solidFill>
            <a:srgbClr val="09213F">
              <a:alpha val="80000"/>
            </a:srgbClr>
          </a:solidFill>
          <a:ln w="13970">
            <a:solidFill>
              <a:srgbClr val="38BDF8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118" name="Text 42">
            <a:extLst>
              <a:ext uri="{FF2B5EF4-FFF2-40B4-BE49-F238E27FC236}">
                <a16:creationId xmlns:a16="http://schemas.microsoft.com/office/drawing/2014/main" id="{225D7006-6814-3194-C9BF-A1BB528D8353}"/>
              </a:ext>
            </a:extLst>
          </p:cNvPr>
          <p:cNvSpPr/>
          <p:nvPr/>
        </p:nvSpPr>
        <p:spPr>
          <a:xfrm>
            <a:off x="14870371" y="3792290"/>
            <a:ext cx="1036327" cy="3414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8FAFC"/>
                </a:solidFill>
                <a:latin typeface="Proxima Nova" panose="020B0604020202020204" charset="0"/>
                <a:cs typeface="Proxima Nova" panose="020B0604020202020204" charset="0"/>
              </a:rPr>
              <a:t>Role</a:t>
            </a:r>
            <a:endParaRPr lang="en-US" sz="18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120" name="Text 43">
            <a:extLst>
              <a:ext uri="{FF2B5EF4-FFF2-40B4-BE49-F238E27FC236}">
                <a16:creationId xmlns:a16="http://schemas.microsoft.com/office/drawing/2014/main" id="{A7599DD1-6879-15EE-D6B7-69E97BE1417D}"/>
              </a:ext>
            </a:extLst>
          </p:cNvPr>
          <p:cNvSpPr/>
          <p:nvPr/>
        </p:nvSpPr>
        <p:spPr>
          <a:xfrm>
            <a:off x="14710936" y="4341523"/>
            <a:ext cx="1700639" cy="63829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  <a:latin typeface="Proxima Nova" panose="020B0604020202020204" charset="0"/>
                <a:cs typeface="Proxima Nova" panose="020B0604020202020204" charset="0"/>
              </a:rPr>
              <a:t>SOC, IT security, security analyst, </a:t>
            </a:r>
            <a:r>
              <a:rPr lang="en-US" sz="1500" dirty="0" err="1">
                <a:solidFill>
                  <a:schemeClr val="bg1"/>
                </a:solidFill>
                <a:latin typeface="Proxima Nova" panose="020B0604020202020204" charset="0"/>
                <a:cs typeface="Proxima Nova" panose="020B0604020202020204" charset="0"/>
              </a:rPr>
              <a:t>pentester</a:t>
            </a:r>
            <a:r>
              <a:rPr lang="en-US" sz="1500" dirty="0">
                <a:solidFill>
                  <a:schemeClr val="bg1"/>
                </a:solidFill>
                <a:latin typeface="Proxima Nova" panose="020B0604020202020204" charset="0"/>
                <a:cs typeface="Proxima Nova" panose="020B0604020202020204" charset="0"/>
              </a:rPr>
              <a:t>, DFIR</a:t>
            </a:r>
          </a:p>
        </p:txBody>
      </p:sp>
      <p:sp>
        <p:nvSpPr>
          <p:cNvPr id="122" name="Shape 44">
            <a:extLst>
              <a:ext uri="{FF2B5EF4-FFF2-40B4-BE49-F238E27FC236}">
                <a16:creationId xmlns:a16="http://schemas.microsoft.com/office/drawing/2014/main" id="{3B917E88-7312-94E0-80E8-0B55E02C2A74}"/>
              </a:ext>
            </a:extLst>
          </p:cNvPr>
          <p:cNvSpPr/>
          <p:nvPr/>
        </p:nvSpPr>
        <p:spPr>
          <a:xfrm>
            <a:off x="1716990" y="6464235"/>
            <a:ext cx="4517323" cy="1855517"/>
          </a:xfrm>
          <a:prstGeom prst="roundRect">
            <a:avLst>
              <a:gd name="adj" fmla="val 4800"/>
            </a:avLst>
          </a:prstGeom>
          <a:solidFill>
            <a:srgbClr val="09213F">
              <a:alpha val="95000"/>
            </a:srgbClr>
          </a:solidFill>
          <a:ln w="13970">
            <a:solidFill>
              <a:srgbClr val="38BDF8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132" name="Text 49">
            <a:extLst>
              <a:ext uri="{FF2B5EF4-FFF2-40B4-BE49-F238E27FC236}">
                <a16:creationId xmlns:a16="http://schemas.microsoft.com/office/drawing/2014/main" id="{06048684-7200-417A-7423-DACA008516DF}"/>
              </a:ext>
            </a:extLst>
          </p:cNvPr>
          <p:cNvSpPr/>
          <p:nvPr/>
        </p:nvSpPr>
        <p:spPr>
          <a:xfrm>
            <a:off x="2064872" y="7071926"/>
            <a:ext cx="3959301" cy="786739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  <a:latin typeface="Proxima Nova" panose="020B0604020202020204" charset="0"/>
                <a:cs typeface="Proxima Nova" panose="020B0604020202020204" charset="0"/>
              </a:rPr>
              <a:t>Introduction to Cybersecurity is a beginner course designed to introduce the cybersecurity field.</a:t>
            </a:r>
          </a:p>
        </p:txBody>
      </p:sp>
      <p:sp>
        <p:nvSpPr>
          <p:cNvPr id="134" name="Shape 50">
            <a:extLst>
              <a:ext uri="{FF2B5EF4-FFF2-40B4-BE49-F238E27FC236}">
                <a16:creationId xmlns:a16="http://schemas.microsoft.com/office/drawing/2014/main" id="{51675003-A7B6-33CF-BF23-AD471F530FB7}"/>
              </a:ext>
            </a:extLst>
          </p:cNvPr>
          <p:cNvSpPr/>
          <p:nvPr/>
        </p:nvSpPr>
        <p:spPr>
          <a:xfrm>
            <a:off x="6965056" y="6464235"/>
            <a:ext cx="4517323" cy="1855517"/>
          </a:xfrm>
          <a:prstGeom prst="roundRect">
            <a:avLst>
              <a:gd name="adj" fmla="val 4800"/>
            </a:avLst>
          </a:prstGeom>
          <a:solidFill>
            <a:srgbClr val="09213F">
              <a:alpha val="95000"/>
            </a:srgbClr>
          </a:solidFill>
          <a:ln w="13970">
            <a:solidFill>
              <a:srgbClr val="22C55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144" name="Text 55">
            <a:extLst>
              <a:ext uri="{FF2B5EF4-FFF2-40B4-BE49-F238E27FC236}">
                <a16:creationId xmlns:a16="http://schemas.microsoft.com/office/drawing/2014/main" id="{6BD45779-F829-9BDF-5F98-0AAC12DC67B3}"/>
              </a:ext>
            </a:extLst>
          </p:cNvPr>
          <p:cNvSpPr/>
          <p:nvPr/>
        </p:nvSpPr>
        <p:spPr>
          <a:xfrm>
            <a:off x="7244067" y="6998623"/>
            <a:ext cx="3959301" cy="786739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  <a:latin typeface="Proxima Nova" panose="020B0604020202020204" charset="0"/>
                <a:cs typeface="Proxima Nova" panose="020B0604020202020204" charset="0"/>
              </a:rPr>
              <a:t>An entry-level credential covering security principles, governance, IAM, network/ cloud, and operations/IR.</a:t>
            </a:r>
          </a:p>
        </p:txBody>
      </p:sp>
      <p:sp>
        <p:nvSpPr>
          <p:cNvPr id="146" name="Shape 56">
            <a:extLst>
              <a:ext uri="{FF2B5EF4-FFF2-40B4-BE49-F238E27FC236}">
                <a16:creationId xmlns:a16="http://schemas.microsoft.com/office/drawing/2014/main" id="{EAC51EAF-C2D5-4318-5243-8E95CA561372}"/>
              </a:ext>
            </a:extLst>
          </p:cNvPr>
          <p:cNvSpPr/>
          <p:nvPr/>
        </p:nvSpPr>
        <p:spPr>
          <a:xfrm>
            <a:off x="12213122" y="6464235"/>
            <a:ext cx="4517323" cy="1855517"/>
          </a:xfrm>
          <a:prstGeom prst="roundRect">
            <a:avLst>
              <a:gd name="adj" fmla="val 4800"/>
            </a:avLst>
          </a:prstGeom>
          <a:solidFill>
            <a:srgbClr val="09213F">
              <a:alpha val="95000"/>
            </a:srgbClr>
          </a:solidFill>
          <a:ln w="13970">
            <a:solidFill>
              <a:srgbClr val="8B5CF6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154" name="Text 60">
            <a:extLst>
              <a:ext uri="{FF2B5EF4-FFF2-40B4-BE49-F238E27FC236}">
                <a16:creationId xmlns:a16="http://schemas.microsoft.com/office/drawing/2014/main" id="{9BF9BF14-8D47-1EE7-6CC9-D511220853F4}"/>
              </a:ext>
            </a:extLst>
          </p:cNvPr>
          <p:cNvSpPr/>
          <p:nvPr/>
        </p:nvSpPr>
        <p:spPr>
          <a:xfrm>
            <a:off x="12664855" y="6761118"/>
            <a:ext cx="3294988" cy="3414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8FAFC"/>
                </a:solidFill>
                <a:latin typeface="Proxima Nova" panose="020B0604020202020204" charset="0"/>
                <a:cs typeface="Proxima Nova" panose="020B0604020202020204" charset="0"/>
              </a:rPr>
              <a:t>Practice focus</a:t>
            </a:r>
            <a:endParaRPr lang="en-US" sz="18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156" name="Text 61">
            <a:extLst>
              <a:ext uri="{FF2B5EF4-FFF2-40B4-BE49-F238E27FC236}">
                <a16:creationId xmlns:a16="http://schemas.microsoft.com/office/drawing/2014/main" id="{BDD13388-1CAF-D6A3-A2FE-80B058B63EB9}"/>
              </a:ext>
            </a:extLst>
          </p:cNvPr>
          <p:cNvSpPr/>
          <p:nvPr/>
        </p:nvSpPr>
        <p:spPr>
          <a:xfrm>
            <a:off x="12566521" y="7192204"/>
            <a:ext cx="3959301" cy="786739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  <a:latin typeface="Proxima Nova" panose="020B0604020202020204" charset="0"/>
                <a:cs typeface="Proxima Nova" panose="020B0604020202020204" charset="0"/>
              </a:rPr>
              <a:t>Build a portfolio: lab write-ups, basic hardening, log analysis, network fundamentals, and incident notes.</a:t>
            </a:r>
          </a:p>
        </p:txBody>
      </p:sp>
    </p:spTree>
    <p:extLst>
      <p:ext uri="{BB962C8B-B14F-4D97-AF65-F5344CB8AC3E}">
        <p14:creationId xmlns:p14="http://schemas.microsoft.com/office/powerpoint/2010/main" val="7491471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2F900C-266B-7644-037B-8CA635EEB3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D210EA27-846F-76A8-183B-B831DDA4E4C7}"/>
              </a:ext>
            </a:extLst>
          </p:cNvPr>
          <p:cNvSpPr/>
          <p:nvPr/>
        </p:nvSpPr>
        <p:spPr>
          <a:xfrm>
            <a:off x="747727" y="1344658"/>
            <a:ext cx="4536419" cy="58196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4300" b="1" dirty="0">
                <a:solidFill>
                  <a:srgbClr val="F8FAFC"/>
                </a:solidFill>
                <a:latin typeface="Proxima Nova" panose="020B0604020202020204" charset="0"/>
                <a:ea typeface="Aptos Display" pitchFamily="34" charset="-122"/>
                <a:cs typeface="Proxima Nova" panose="020B0604020202020204" charset="0"/>
              </a:rPr>
              <a:t>Key Takeaways</a:t>
            </a:r>
            <a:endParaRPr lang="en-US" sz="43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AB119C98-7117-2238-0561-C6AD23A5D322}"/>
              </a:ext>
            </a:extLst>
          </p:cNvPr>
          <p:cNvSpPr/>
          <p:nvPr/>
        </p:nvSpPr>
        <p:spPr>
          <a:xfrm>
            <a:off x="5551216" y="2030999"/>
            <a:ext cx="7976189" cy="2783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000" i="1" dirty="0">
                <a:solidFill>
                  <a:schemeClr val="bg1"/>
                </a:solidFill>
                <a:latin typeface="Proxima Nova" panose="020B0604020202020204" charset="0"/>
                <a:cs typeface="Proxima Nova" panose="020B0604020202020204" charset="0"/>
              </a:rPr>
              <a:t>Cybersecurity Connects People, Processes, Technology, and Risk</a:t>
            </a:r>
          </a:p>
        </p:txBody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2943BCAF-00F7-DCAB-942C-118F969ED627}"/>
              </a:ext>
            </a:extLst>
          </p:cNvPr>
          <p:cNvSpPr/>
          <p:nvPr/>
        </p:nvSpPr>
        <p:spPr>
          <a:xfrm>
            <a:off x="3803996" y="2884973"/>
            <a:ext cx="3877749" cy="303635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8FAFC"/>
                </a:solidFill>
                <a:latin typeface="Proxima Nova" panose="020B0604020202020204" charset="0"/>
                <a:cs typeface="Proxima Nova" panose="020B0604020202020204" charset="0"/>
              </a:rPr>
              <a:t>Protect CIA</a:t>
            </a:r>
            <a:endParaRPr lang="en-US" sz="18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15" name="Text 6">
            <a:extLst>
              <a:ext uri="{FF2B5EF4-FFF2-40B4-BE49-F238E27FC236}">
                <a16:creationId xmlns:a16="http://schemas.microsoft.com/office/drawing/2014/main" id="{E29DE6E8-9B27-E2BC-EC6A-C78B8840B059}"/>
              </a:ext>
            </a:extLst>
          </p:cNvPr>
          <p:cNvSpPr/>
          <p:nvPr/>
        </p:nvSpPr>
        <p:spPr>
          <a:xfrm>
            <a:off x="7806834" y="2910276"/>
            <a:ext cx="9068930" cy="354241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DDEBFF"/>
                </a:solidFill>
                <a:latin typeface="Proxima Nova" panose="020B0604020202020204" charset="0"/>
                <a:cs typeface="Proxima Nova" panose="020B0604020202020204" charset="0"/>
              </a:rPr>
              <a:t>Confidentiality, Integrity, and Availability are the foundation for security decisions.</a:t>
            </a:r>
            <a:endParaRPr lang="en-US" sz="15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6F449E4A-92A4-2D91-4AFA-0FBDA7A7ED1F}"/>
              </a:ext>
            </a:extLst>
          </p:cNvPr>
          <p:cNvSpPr/>
          <p:nvPr/>
        </p:nvSpPr>
        <p:spPr>
          <a:xfrm>
            <a:off x="3803996" y="4175423"/>
            <a:ext cx="3877749" cy="303635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8FAFC"/>
                </a:solidFill>
                <a:latin typeface="Proxima Nova" panose="020B0604020202020204" charset="0"/>
                <a:cs typeface="Proxima Nova" panose="020B0604020202020204" charset="0"/>
              </a:rPr>
              <a:t>Understand risk</a:t>
            </a:r>
            <a:endParaRPr lang="en-US" sz="18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24" name="Text 10">
            <a:extLst>
              <a:ext uri="{FF2B5EF4-FFF2-40B4-BE49-F238E27FC236}">
                <a16:creationId xmlns:a16="http://schemas.microsoft.com/office/drawing/2014/main" id="{5038238B-5D16-FC23-8B7C-C13DDBA9F71D}"/>
              </a:ext>
            </a:extLst>
          </p:cNvPr>
          <p:cNvSpPr/>
          <p:nvPr/>
        </p:nvSpPr>
        <p:spPr>
          <a:xfrm>
            <a:off x="7806834" y="4200726"/>
            <a:ext cx="9068930" cy="354241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DDEBFF"/>
                </a:solidFill>
                <a:latin typeface="Proxima Nova" panose="020B0604020202020204" charset="0"/>
                <a:cs typeface="Proxima Nova" panose="020B0604020202020204" charset="0"/>
              </a:rPr>
              <a:t>Threat, vulnerability, and impact determine which controls are prioritized.</a:t>
            </a:r>
            <a:endParaRPr lang="en-US" sz="15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31" name="Text 13">
            <a:extLst>
              <a:ext uri="{FF2B5EF4-FFF2-40B4-BE49-F238E27FC236}">
                <a16:creationId xmlns:a16="http://schemas.microsoft.com/office/drawing/2014/main" id="{F22DC759-A458-CCC0-E250-60BDECD5AF0B}"/>
              </a:ext>
            </a:extLst>
          </p:cNvPr>
          <p:cNvSpPr/>
          <p:nvPr/>
        </p:nvSpPr>
        <p:spPr>
          <a:xfrm>
            <a:off x="3803996" y="5465873"/>
            <a:ext cx="3877749" cy="303635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8FAFC"/>
                </a:solidFill>
                <a:latin typeface="Proxima Nova" panose="020B0604020202020204" charset="0"/>
                <a:cs typeface="Proxima Nova" panose="020B0604020202020204" charset="0"/>
              </a:rPr>
              <a:t>Identity matters</a:t>
            </a:r>
            <a:endParaRPr lang="en-US" sz="18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34" name="Text 14">
            <a:extLst>
              <a:ext uri="{FF2B5EF4-FFF2-40B4-BE49-F238E27FC236}">
                <a16:creationId xmlns:a16="http://schemas.microsoft.com/office/drawing/2014/main" id="{1700E713-7360-1637-1C7A-2A1E99316294}"/>
              </a:ext>
            </a:extLst>
          </p:cNvPr>
          <p:cNvSpPr/>
          <p:nvPr/>
        </p:nvSpPr>
        <p:spPr>
          <a:xfrm>
            <a:off x="7806834" y="5491176"/>
            <a:ext cx="9068930" cy="354241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DDEBFF"/>
                </a:solidFill>
                <a:latin typeface="Proxima Nova" panose="020B0604020202020204" charset="0"/>
                <a:cs typeface="Proxima Nova" panose="020B0604020202020204" charset="0"/>
              </a:rPr>
              <a:t>IAM, MFA, least privilege, and access reviews reduce unauthorized access.</a:t>
            </a:r>
            <a:endParaRPr lang="en-US" sz="15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38" name="Text 16">
            <a:extLst>
              <a:ext uri="{FF2B5EF4-FFF2-40B4-BE49-F238E27FC236}">
                <a16:creationId xmlns:a16="http://schemas.microsoft.com/office/drawing/2014/main" id="{B6576335-28B0-A7B1-681B-5AEFC3E274C1}"/>
              </a:ext>
            </a:extLst>
          </p:cNvPr>
          <p:cNvSpPr/>
          <p:nvPr/>
        </p:nvSpPr>
        <p:spPr>
          <a:xfrm>
            <a:off x="3015937" y="6957734"/>
            <a:ext cx="500355" cy="2504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12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40" name="Text 17">
            <a:extLst>
              <a:ext uri="{FF2B5EF4-FFF2-40B4-BE49-F238E27FC236}">
                <a16:creationId xmlns:a16="http://schemas.microsoft.com/office/drawing/2014/main" id="{32775CDE-A546-E2F0-0CAA-11DC46E59356}"/>
              </a:ext>
            </a:extLst>
          </p:cNvPr>
          <p:cNvSpPr/>
          <p:nvPr/>
        </p:nvSpPr>
        <p:spPr>
          <a:xfrm>
            <a:off x="3803996" y="6756323"/>
            <a:ext cx="3877749" cy="303635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8FAFC"/>
                </a:solidFill>
                <a:latin typeface="Proxima Nova" panose="020B0604020202020204" charset="0"/>
                <a:cs typeface="Proxima Nova" panose="020B0604020202020204" charset="0"/>
              </a:rPr>
              <a:t>Design secure network &amp; cloud architecture</a:t>
            </a:r>
            <a:endParaRPr lang="en-US" sz="18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43" name="Text 18">
            <a:extLst>
              <a:ext uri="{FF2B5EF4-FFF2-40B4-BE49-F238E27FC236}">
                <a16:creationId xmlns:a16="http://schemas.microsoft.com/office/drawing/2014/main" id="{AF59090E-BE79-0D32-6B7B-EDB96FFC5263}"/>
              </a:ext>
            </a:extLst>
          </p:cNvPr>
          <p:cNvSpPr/>
          <p:nvPr/>
        </p:nvSpPr>
        <p:spPr>
          <a:xfrm>
            <a:off x="7806834" y="6781626"/>
            <a:ext cx="9068930" cy="354241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DDEBFF"/>
                </a:solidFill>
                <a:latin typeface="Proxima Nova" panose="020B0604020202020204" charset="0"/>
                <a:cs typeface="Proxima Nova" panose="020B0604020202020204" charset="0"/>
              </a:rPr>
              <a:t>Segmentation, defense in depth, Zero Trust, and shared responsibility are essential.</a:t>
            </a:r>
            <a:endParaRPr lang="en-US" sz="15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49" name="Text 21">
            <a:extLst>
              <a:ext uri="{FF2B5EF4-FFF2-40B4-BE49-F238E27FC236}">
                <a16:creationId xmlns:a16="http://schemas.microsoft.com/office/drawing/2014/main" id="{3AFD937D-4F14-6D1D-83FA-18308143E8EE}"/>
              </a:ext>
            </a:extLst>
          </p:cNvPr>
          <p:cNvSpPr/>
          <p:nvPr/>
        </p:nvSpPr>
        <p:spPr>
          <a:xfrm>
            <a:off x="3803996" y="8046773"/>
            <a:ext cx="3877749" cy="303635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8FAFC"/>
                </a:solidFill>
                <a:latin typeface="Proxima Nova" panose="020B0604020202020204" charset="0"/>
                <a:cs typeface="Proxima Nova" panose="020B0604020202020204" charset="0"/>
              </a:rPr>
              <a:t>Make operations measurable</a:t>
            </a:r>
            <a:endParaRPr lang="en-US" sz="18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52" name="Text 22">
            <a:extLst>
              <a:ext uri="{FF2B5EF4-FFF2-40B4-BE49-F238E27FC236}">
                <a16:creationId xmlns:a16="http://schemas.microsoft.com/office/drawing/2014/main" id="{0459BAF7-A4D1-ED35-D931-9217F8EC301C}"/>
              </a:ext>
            </a:extLst>
          </p:cNvPr>
          <p:cNvSpPr/>
          <p:nvPr/>
        </p:nvSpPr>
        <p:spPr>
          <a:xfrm>
            <a:off x="7806834" y="8072076"/>
            <a:ext cx="9068930" cy="354241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DDEBFF"/>
                </a:solidFill>
                <a:latin typeface="Proxima Nova" panose="020B0604020202020204" charset="0"/>
                <a:cs typeface="Proxima Nova" panose="020B0604020202020204" charset="0"/>
              </a:rPr>
              <a:t>Logging, monitoring, triage, and incident response make security real.</a:t>
            </a:r>
            <a:endParaRPr lang="en-US" sz="15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55" name="Shape 23">
            <a:extLst>
              <a:ext uri="{FF2B5EF4-FFF2-40B4-BE49-F238E27FC236}">
                <a16:creationId xmlns:a16="http://schemas.microsoft.com/office/drawing/2014/main" id="{5F94F40C-6D26-7051-31CE-7595ACAA7CCA}"/>
              </a:ext>
            </a:extLst>
          </p:cNvPr>
          <p:cNvSpPr/>
          <p:nvPr/>
        </p:nvSpPr>
        <p:spPr>
          <a:xfrm>
            <a:off x="2327949" y="9052566"/>
            <a:ext cx="13947389" cy="645225"/>
          </a:xfrm>
          <a:prstGeom prst="roundRect">
            <a:avLst>
              <a:gd name="adj" fmla="val 11364"/>
            </a:avLst>
          </a:prstGeom>
          <a:solidFill>
            <a:schemeClr val="bg1">
              <a:lumMod val="95000"/>
              <a:alpha val="95000"/>
            </a:schemeClr>
          </a:solidFill>
          <a:ln w="12700">
            <a:solidFill>
              <a:srgbClr val="38BDF8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57" name="Text 24">
            <a:extLst>
              <a:ext uri="{FF2B5EF4-FFF2-40B4-BE49-F238E27FC236}">
                <a16:creationId xmlns:a16="http://schemas.microsoft.com/office/drawing/2014/main" id="{B0ECA963-1DC3-EB50-6FCC-AA4C7F6B4A2A}"/>
              </a:ext>
            </a:extLst>
          </p:cNvPr>
          <p:cNvSpPr/>
          <p:nvPr/>
        </p:nvSpPr>
        <p:spPr>
          <a:xfrm>
            <a:off x="2478056" y="9204384"/>
            <a:ext cx="437810" cy="3036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3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59" name="Text 25">
            <a:extLst>
              <a:ext uri="{FF2B5EF4-FFF2-40B4-BE49-F238E27FC236}">
                <a16:creationId xmlns:a16="http://schemas.microsoft.com/office/drawing/2014/main" id="{45B7BEAD-24D9-682D-57B7-85EA6BE052C5}"/>
              </a:ext>
            </a:extLst>
          </p:cNvPr>
          <p:cNvSpPr/>
          <p:nvPr/>
        </p:nvSpPr>
        <p:spPr>
          <a:xfrm>
            <a:off x="3015937" y="9229687"/>
            <a:ext cx="13046750" cy="25302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  <a:latin typeface="Proxima Nova" panose="020B0604020202020204" charset="0"/>
                <a:cs typeface="Proxima Nova" panose="020B0604020202020204" charset="0"/>
              </a:rPr>
              <a:t>“Cybersecurity is not just tools., it is the discipline of understanding risk and protecting assets continuously.”</a:t>
            </a:r>
          </a:p>
        </p:txBody>
      </p:sp>
      <p:sp>
        <p:nvSpPr>
          <p:cNvPr id="61" name="Shape 27">
            <a:extLst>
              <a:ext uri="{FF2B5EF4-FFF2-40B4-BE49-F238E27FC236}">
                <a16:creationId xmlns:a16="http://schemas.microsoft.com/office/drawing/2014/main" id="{23AE7208-3148-FD19-D829-8FFB9DEBD69D}"/>
              </a:ext>
            </a:extLst>
          </p:cNvPr>
          <p:cNvSpPr/>
          <p:nvPr/>
        </p:nvSpPr>
        <p:spPr>
          <a:xfrm>
            <a:off x="1765050" y="9697791"/>
            <a:ext cx="15260820" cy="0"/>
          </a:xfrm>
          <a:prstGeom prst="line">
            <a:avLst/>
          </a:prstGeom>
          <a:noFill/>
          <a:ln w="10160">
            <a:solidFill>
              <a:srgbClr val="17395F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Proxima Nova" panose="020B0604020202020204" charset="0"/>
              <a:cs typeface="Proxima Nova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07859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1D64DC-BBAB-87CD-1156-FD3E98191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D2B0DD-427F-8435-2707-410EAB9D4F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299" y="1859857"/>
            <a:ext cx="15773403" cy="587129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bg1"/>
                </a:solidFill>
                <a:latin typeface="Proxima Nova" panose="020B0604020202020204" charset="0"/>
                <a:ea typeface="Aptos Display" pitchFamily="34" charset="-122"/>
                <a:cs typeface="Proxima Nova" panose="020B0604020202020204" charset="0"/>
              </a:rPr>
              <a:t>Summary and Source Alignment</a:t>
            </a:r>
            <a:endParaRPr lang="en-US" dirty="0">
              <a:solidFill>
                <a:schemeClr val="bg1"/>
              </a:solidFill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F331D2-2EDD-594B-A3B5-0DBEE6048E4D}"/>
              </a:ext>
            </a:extLst>
          </p:cNvPr>
          <p:cNvSpPr txBox="1"/>
          <p:nvPr/>
        </p:nvSpPr>
        <p:spPr>
          <a:xfrm>
            <a:off x="5509090" y="2489548"/>
            <a:ext cx="793680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i="1" dirty="0">
                <a:solidFill>
                  <a:schemeClr val="bg1"/>
                </a:solidFill>
                <a:latin typeface="Proxima Nova" panose="020B0604020202020204" charset="0"/>
                <a:cs typeface="Proxima Nova" panose="020B0604020202020204" charset="0"/>
              </a:rPr>
              <a:t>“</a:t>
            </a:r>
            <a:r>
              <a:rPr lang="en-US" sz="2000" dirty="0">
                <a:solidFill>
                  <a:schemeClr val="bg1"/>
                </a:solidFill>
                <a:latin typeface="Proxima Nova" panose="020B0604020202020204" charset="0"/>
                <a:cs typeface="Proxima Nova" panose="020B0604020202020204" charset="0"/>
              </a:rPr>
              <a:t>Key takeaways for an introductory cybersecurity presentation</a:t>
            </a:r>
            <a:r>
              <a:rPr lang="en-US" sz="2000" b="1" i="1" dirty="0">
                <a:solidFill>
                  <a:schemeClr val="bg1"/>
                </a:solidFill>
                <a:latin typeface="Proxima Nova" panose="020B0604020202020204" charset="0"/>
                <a:cs typeface="Proxima Nova" panose="020B0604020202020204" charset="0"/>
              </a:rPr>
              <a:t>”</a:t>
            </a: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7A917425-BC92-7830-1B69-709A2FCA5AEA}"/>
              </a:ext>
            </a:extLst>
          </p:cNvPr>
          <p:cNvSpPr/>
          <p:nvPr/>
        </p:nvSpPr>
        <p:spPr>
          <a:xfrm>
            <a:off x="2577698" y="3624250"/>
            <a:ext cx="13070958" cy="67985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  <a:latin typeface="Proxima Nova" panose="020B0604020202020204" charset="0"/>
                <a:cs typeface="Proxima Nova" panose="020B0604020202020204" charset="0"/>
              </a:rPr>
              <a:t>Cybersecurity is a continuous process of protecting data, identities, systems, networks, and business operations by reducing risk.</a:t>
            </a:r>
            <a:endParaRPr lang="en-US" sz="1800" dirty="0">
              <a:solidFill>
                <a:schemeClr val="bg1"/>
              </a:solidFill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8A0A6D44-2DAF-399A-E838-2FA087EDBADA}"/>
              </a:ext>
            </a:extLst>
          </p:cNvPr>
          <p:cNvSpPr/>
          <p:nvPr/>
        </p:nvSpPr>
        <p:spPr>
          <a:xfrm>
            <a:off x="2484334" y="4668319"/>
            <a:ext cx="6477127" cy="1286877"/>
          </a:xfrm>
          <a:prstGeom prst="roundRect">
            <a:avLst>
              <a:gd name="adj" fmla="val 4717"/>
            </a:avLst>
          </a:prstGeom>
          <a:solidFill>
            <a:srgbClr val="FFFFFF"/>
          </a:solidFill>
          <a:ln w="1016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14" name="Text 7">
            <a:extLst>
              <a:ext uri="{FF2B5EF4-FFF2-40B4-BE49-F238E27FC236}">
                <a16:creationId xmlns:a16="http://schemas.microsoft.com/office/drawing/2014/main" id="{51DD6E06-3253-546A-EBCB-BF35C3A80E52}"/>
              </a:ext>
            </a:extLst>
          </p:cNvPr>
          <p:cNvSpPr/>
          <p:nvPr/>
        </p:nvSpPr>
        <p:spPr>
          <a:xfrm>
            <a:off x="2741085" y="4862565"/>
            <a:ext cx="6033648" cy="30350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22033"/>
                </a:solidFill>
                <a:latin typeface="Proxima Nova" panose="020B0604020202020204" charset="0"/>
                <a:cs typeface="Proxima Nova" panose="020B0604020202020204" charset="0"/>
              </a:rPr>
              <a:t>Remember the basics</a:t>
            </a:r>
            <a:endParaRPr lang="en-US" sz="18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17" name="Text 8">
            <a:extLst>
              <a:ext uri="{FF2B5EF4-FFF2-40B4-BE49-F238E27FC236}">
                <a16:creationId xmlns:a16="http://schemas.microsoft.com/office/drawing/2014/main" id="{01AC2DCF-1265-079C-4B2D-5E00D67932AB}"/>
              </a:ext>
            </a:extLst>
          </p:cNvPr>
          <p:cNvSpPr/>
          <p:nvPr/>
        </p:nvSpPr>
        <p:spPr>
          <a:xfrm>
            <a:off x="2741085" y="5299617"/>
            <a:ext cx="6056989" cy="4856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34495E"/>
                </a:solidFill>
                <a:latin typeface="Proxima Nova" panose="020B0604020202020204" charset="0"/>
                <a:cs typeface="Proxima Nova" panose="020B0604020202020204" charset="0"/>
              </a:rPr>
              <a:t>CIA, AAA, risk, least privilege, segmentation, monitoring, incident response, and ethical authorization.</a:t>
            </a:r>
            <a:endParaRPr lang="en-US" sz="15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19" name="Shape 9">
            <a:extLst>
              <a:ext uri="{FF2B5EF4-FFF2-40B4-BE49-F238E27FC236}">
                <a16:creationId xmlns:a16="http://schemas.microsoft.com/office/drawing/2014/main" id="{50253B94-5300-8128-59F0-5BCE011874FC}"/>
              </a:ext>
            </a:extLst>
          </p:cNvPr>
          <p:cNvSpPr/>
          <p:nvPr/>
        </p:nvSpPr>
        <p:spPr>
          <a:xfrm>
            <a:off x="9428280" y="4668319"/>
            <a:ext cx="6477127" cy="1286877"/>
          </a:xfrm>
          <a:prstGeom prst="roundRect">
            <a:avLst>
              <a:gd name="adj" fmla="val 4717"/>
            </a:avLst>
          </a:prstGeom>
          <a:solidFill>
            <a:srgbClr val="FFFFFF"/>
          </a:solidFill>
          <a:ln w="1016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25" name="Text 11">
            <a:extLst>
              <a:ext uri="{FF2B5EF4-FFF2-40B4-BE49-F238E27FC236}">
                <a16:creationId xmlns:a16="http://schemas.microsoft.com/office/drawing/2014/main" id="{00DC71AC-8B37-A499-B6F3-24FDD053DB89}"/>
              </a:ext>
            </a:extLst>
          </p:cNvPr>
          <p:cNvSpPr/>
          <p:nvPr/>
        </p:nvSpPr>
        <p:spPr>
          <a:xfrm>
            <a:off x="9685031" y="4862565"/>
            <a:ext cx="6033648" cy="30350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22033"/>
                </a:solidFill>
                <a:latin typeface="Proxima Nova" panose="020B0604020202020204" charset="0"/>
                <a:cs typeface="Proxima Nova" panose="020B0604020202020204" charset="0"/>
              </a:rPr>
              <a:t>Think in systems</a:t>
            </a:r>
            <a:endParaRPr lang="en-US" sz="18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27" name="Text 12">
            <a:extLst>
              <a:ext uri="{FF2B5EF4-FFF2-40B4-BE49-F238E27FC236}">
                <a16:creationId xmlns:a16="http://schemas.microsoft.com/office/drawing/2014/main" id="{C940275D-3A00-147C-AB5D-E8EE43007517}"/>
              </a:ext>
            </a:extLst>
          </p:cNvPr>
          <p:cNvSpPr/>
          <p:nvPr/>
        </p:nvSpPr>
        <p:spPr>
          <a:xfrm>
            <a:off x="9685031" y="5299617"/>
            <a:ext cx="6056989" cy="4856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34495E"/>
                </a:solidFill>
                <a:latin typeface="Proxima Nova" panose="020B0604020202020204" charset="0"/>
                <a:cs typeface="Proxima Nova" panose="020B0604020202020204" charset="0"/>
              </a:rPr>
              <a:t>People, process, technology, business context, and cloud responsibility must work together.</a:t>
            </a:r>
            <a:endParaRPr lang="en-US" sz="15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30" name="Shape 13">
            <a:extLst>
              <a:ext uri="{FF2B5EF4-FFF2-40B4-BE49-F238E27FC236}">
                <a16:creationId xmlns:a16="http://schemas.microsoft.com/office/drawing/2014/main" id="{5FB808B2-9A63-DDF2-05E9-D5F6D6B5F318}"/>
              </a:ext>
            </a:extLst>
          </p:cNvPr>
          <p:cNvSpPr/>
          <p:nvPr/>
        </p:nvSpPr>
        <p:spPr>
          <a:xfrm>
            <a:off x="2484334" y="6367968"/>
            <a:ext cx="6477127" cy="1286877"/>
          </a:xfrm>
          <a:prstGeom prst="roundRect">
            <a:avLst>
              <a:gd name="adj" fmla="val 4717"/>
            </a:avLst>
          </a:prstGeom>
          <a:solidFill>
            <a:srgbClr val="FFFFFF"/>
          </a:solidFill>
          <a:ln w="1016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35" name="Text 15">
            <a:extLst>
              <a:ext uri="{FF2B5EF4-FFF2-40B4-BE49-F238E27FC236}">
                <a16:creationId xmlns:a16="http://schemas.microsoft.com/office/drawing/2014/main" id="{CE57E698-CE80-E097-CDB2-D65EAAF7B1AB}"/>
              </a:ext>
            </a:extLst>
          </p:cNvPr>
          <p:cNvSpPr/>
          <p:nvPr/>
        </p:nvSpPr>
        <p:spPr>
          <a:xfrm>
            <a:off x="2741085" y="6562213"/>
            <a:ext cx="6033648" cy="30350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22033"/>
                </a:solidFill>
                <a:latin typeface="Proxima Nova" panose="020B0604020202020204" charset="0"/>
                <a:cs typeface="Proxima Nova" panose="020B0604020202020204" charset="0"/>
              </a:rPr>
              <a:t>Keep improving</a:t>
            </a:r>
            <a:endParaRPr lang="en-US" sz="18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38" name="Text 16">
            <a:extLst>
              <a:ext uri="{FF2B5EF4-FFF2-40B4-BE49-F238E27FC236}">
                <a16:creationId xmlns:a16="http://schemas.microsoft.com/office/drawing/2014/main" id="{B105579F-29D3-00B4-3D2A-1397AE777956}"/>
              </a:ext>
            </a:extLst>
          </p:cNvPr>
          <p:cNvSpPr/>
          <p:nvPr/>
        </p:nvSpPr>
        <p:spPr>
          <a:xfrm>
            <a:off x="2741085" y="6999266"/>
            <a:ext cx="6056989" cy="4856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34495E"/>
                </a:solidFill>
                <a:latin typeface="Proxima Nova" panose="020B0604020202020204" charset="0"/>
                <a:cs typeface="Proxima Nova" panose="020B0604020202020204" charset="0"/>
              </a:rPr>
              <a:t>Use incidents, audits, labs, and lessons learned to strengthen controls over time.</a:t>
            </a:r>
            <a:endParaRPr lang="en-US" sz="15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41" name="Shape 17">
            <a:extLst>
              <a:ext uri="{FF2B5EF4-FFF2-40B4-BE49-F238E27FC236}">
                <a16:creationId xmlns:a16="http://schemas.microsoft.com/office/drawing/2014/main" id="{3CC6E276-43B1-E79C-C3EE-B2C226CEC8B5}"/>
              </a:ext>
            </a:extLst>
          </p:cNvPr>
          <p:cNvSpPr/>
          <p:nvPr/>
        </p:nvSpPr>
        <p:spPr>
          <a:xfrm>
            <a:off x="9428280" y="6367968"/>
            <a:ext cx="6477127" cy="1286877"/>
          </a:xfrm>
          <a:prstGeom prst="roundRect">
            <a:avLst>
              <a:gd name="adj" fmla="val 4717"/>
            </a:avLst>
          </a:prstGeom>
          <a:solidFill>
            <a:srgbClr val="FFFFFF"/>
          </a:solidFill>
          <a:ln w="1016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46" name="Text 19">
            <a:extLst>
              <a:ext uri="{FF2B5EF4-FFF2-40B4-BE49-F238E27FC236}">
                <a16:creationId xmlns:a16="http://schemas.microsoft.com/office/drawing/2014/main" id="{83617504-9C86-83F1-E81C-333259DADD6A}"/>
              </a:ext>
            </a:extLst>
          </p:cNvPr>
          <p:cNvSpPr/>
          <p:nvPr/>
        </p:nvSpPr>
        <p:spPr>
          <a:xfrm>
            <a:off x="9685031" y="6562213"/>
            <a:ext cx="6033648" cy="30350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22033"/>
                </a:solidFill>
                <a:latin typeface="Proxima Nova" panose="020B0604020202020204" charset="0"/>
                <a:cs typeface="Proxima Nova" panose="020B0604020202020204" charset="0"/>
              </a:rPr>
              <a:t>Learning sources</a:t>
            </a:r>
            <a:endParaRPr lang="en-US" sz="18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49" name="Text 20">
            <a:extLst>
              <a:ext uri="{FF2B5EF4-FFF2-40B4-BE49-F238E27FC236}">
                <a16:creationId xmlns:a16="http://schemas.microsoft.com/office/drawing/2014/main" id="{5BA7C690-1862-7D4F-E2BB-540385B93D8E}"/>
              </a:ext>
            </a:extLst>
          </p:cNvPr>
          <p:cNvSpPr/>
          <p:nvPr/>
        </p:nvSpPr>
        <p:spPr>
          <a:xfrm>
            <a:off x="9685031" y="6999266"/>
            <a:ext cx="6056989" cy="4856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34495E"/>
                </a:solidFill>
                <a:latin typeface="Proxima Nova" panose="020B0604020202020204" charset="0"/>
                <a:cs typeface="Proxima Nova" panose="020B0604020202020204" charset="0"/>
              </a:rPr>
              <a:t>Cisco Networking Academy Introduction to Cybersecurity link provided by the user; ISC2 Certified in Cybersecurity exam outline for domain alignment.</a:t>
            </a:r>
            <a:endParaRPr lang="en-US" sz="1500" dirty="0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51" name="Shape 21">
            <a:extLst>
              <a:ext uri="{FF2B5EF4-FFF2-40B4-BE49-F238E27FC236}">
                <a16:creationId xmlns:a16="http://schemas.microsoft.com/office/drawing/2014/main" id="{A8B9A9A8-885E-D914-A307-CFDEEF7C2394}"/>
              </a:ext>
            </a:extLst>
          </p:cNvPr>
          <p:cNvSpPr/>
          <p:nvPr/>
        </p:nvSpPr>
        <p:spPr>
          <a:xfrm>
            <a:off x="2717744" y="8553230"/>
            <a:ext cx="12954253" cy="874105"/>
          </a:xfrm>
          <a:prstGeom prst="roundRect">
            <a:avLst>
              <a:gd name="adj" fmla="val 11111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alpha val="0"/>
              </a:schemeClr>
            </a:solidFill>
            <a:prstDash val="solid"/>
          </a:ln>
        </p:spPr>
        <p:txBody>
          <a:bodyPr/>
          <a:lstStyle/>
          <a:p>
            <a:endParaRPr lang="en-US">
              <a:latin typeface="Proxima Nova" panose="020B0604020202020204" charset="0"/>
              <a:cs typeface="Proxima Nova" panose="020B0604020202020204" charset="0"/>
            </a:endParaRPr>
          </a:p>
        </p:txBody>
      </p:sp>
      <p:sp>
        <p:nvSpPr>
          <p:cNvPr id="54" name="Text 22">
            <a:extLst>
              <a:ext uri="{FF2B5EF4-FFF2-40B4-BE49-F238E27FC236}">
                <a16:creationId xmlns:a16="http://schemas.microsoft.com/office/drawing/2014/main" id="{D1B35F2A-EB5A-A698-0EC6-6C8D0BAF4958}"/>
              </a:ext>
            </a:extLst>
          </p:cNvPr>
          <p:cNvSpPr/>
          <p:nvPr/>
        </p:nvSpPr>
        <p:spPr>
          <a:xfrm>
            <a:off x="2974495" y="8844598"/>
            <a:ext cx="12429081" cy="2185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  <a:latin typeface="Proxima Nova" panose="020B0604020202020204" charset="0"/>
                <a:cs typeface="Proxima Nova" panose="020B0604020202020204" charset="0"/>
              </a:rPr>
              <a:t>Final message: security is not a single product; it is a disciplined practice of prevention, detection, response, and continuous improvement.</a:t>
            </a:r>
            <a:endParaRPr lang="en-US" sz="1200" dirty="0">
              <a:solidFill>
                <a:schemeClr val="tx1"/>
              </a:solidFill>
              <a:latin typeface="Proxima Nova" panose="020B0604020202020204" charset="0"/>
              <a:cs typeface="Proxima Nova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50531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5"/>
        </a:solidFill>
        <a:effectLst/>
      </p:bgPr>
    </p:bg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oogle Shape;31;p2" descr="preencoded.png"/>
          <p:cNvPicPr preferRelativeResize="0"/>
          <p:nvPr/>
        </p:nvPicPr>
        <p:blipFill rotWithShape="1">
          <a:blip r:embed="rId3">
            <a:alphaModFix amt="75000"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2"/>
          <p:cNvSpPr/>
          <p:nvPr/>
        </p:nvSpPr>
        <p:spPr>
          <a:xfrm>
            <a:off x="0" y="1181100"/>
            <a:ext cx="18288000" cy="9525"/>
          </a:xfrm>
          <a:prstGeom prst="rect">
            <a:avLst/>
          </a:prstGeom>
          <a:solidFill>
            <a:srgbClr val="DEDEE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914400" y="609600"/>
            <a:ext cx="5190292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A62"/>
              </a:buClr>
              <a:buSzPts val="1800"/>
              <a:buFont typeface="IBM Plex Mono"/>
              <a:buNone/>
            </a:pPr>
            <a:r>
              <a:rPr lang="en-US" sz="1800" b="0" i="0" u="none" strike="noStrike" cap="none">
                <a:solidFill>
                  <a:srgbClr val="5A5A62"/>
                </a:solidFill>
                <a:latin typeface="IBM Plex Mono"/>
                <a:ea typeface="IBM Plex Mono"/>
                <a:cs typeface="IBM Plex Mono"/>
                <a:sym typeface="IBM Plex Mono"/>
              </a:rPr>
              <a:t>ITSEC CYBER &amp; AI ACADEMY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13441561" y="609600"/>
            <a:ext cx="4325243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342B"/>
              </a:buClr>
              <a:buSzPts val="1800"/>
              <a:buFont typeface="IBM Plex Mono"/>
              <a:buNone/>
            </a:pPr>
            <a:r>
              <a:rPr lang="en-US" sz="1800" b="0" i="0" u="none" strike="noStrike" cap="none">
                <a:solidFill>
                  <a:srgbClr val="E5342B"/>
                </a:solidFill>
                <a:latin typeface="IBM Plex Mono"/>
                <a:ea typeface="IBM Plex Mono"/>
                <a:cs typeface="IBM Plex Mono"/>
                <a:sym typeface="IBM Plex Mono"/>
              </a:rPr>
              <a:t>TENTANG KAMI / ABOUT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914400" y="1724025"/>
            <a:ext cx="9251537" cy="2311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79560"/>
              </a:lnSpc>
              <a:spcBef>
                <a:spcPts val="0"/>
              </a:spcBef>
              <a:spcAft>
                <a:spcPts val="0"/>
              </a:spcAft>
              <a:buClr>
                <a:srgbClr val="0B0B0E"/>
              </a:buClr>
              <a:buSzPts val="5850"/>
              <a:buFont typeface="Space Grotesk"/>
              <a:buNone/>
            </a:pPr>
            <a:r>
              <a:rPr lang="en-US" sz="5850" b="1" i="0" u="none" strike="noStrike" cap="none">
                <a:solidFill>
                  <a:srgbClr val="0B0B0E"/>
                </a:solidFill>
                <a:latin typeface="Space Grotesk"/>
                <a:ea typeface="Space Grotesk"/>
                <a:cs typeface="Space Grotesk"/>
                <a:sym typeface="Space Grotesk"/>
              </a:rPr>
              <a:t>Not a bootcamp. A capability-building </a:t>
            </a:r>
            <a:r>
              <a:rPr lang="en-US" sz="5850" b="1" i="0" u="none" strike="noStrike" cap="none">
                <a:solidFill>
                  <a:srgbClr val="E5342B"/>
                </a:solidFill>
                <a:latin typeface="Space Grotesk"/>
                <a:ea typeface="Space Grotesk"/>
                <a:cs typeface="Space Grotesk"/>
                <a:sym typeface="Space Grotesk"/>
              </a:rPr>
              <a:t>institution.</a:t>
            </a:r>
            <a:endParaRPr sz="5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914400" y="4320927"/>
            <a:ext cx="914400" cy="38100"/>
          </a:xfrm>
          <a:prstGeom prst="rect">
            <a:avLst/>
          </a:prstGeom>
          <a:solidFill>
            <a:srgbClr val="E5342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914400" y="4682875"/>
            <a:ext cx="8829600" cy="14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113415"/>
              </a:lnSpc>
              <a:spcBef>
                <a:spcPts val="0"/>
              </a:spcBef>
              <a:spcAft>
                <a:spcPts val="0"/>
              </a:spcAft>
              <a:buClr>
                <a:srgbClr val="232329"/>
              </a:buClr>
              <a:buSzPts val="2325"/>
              <a:buFont typeface="IBM Plex Sans"/>
              <a:buNone/>
            </a:pPr>
            <a:r>
              <a:rPr lang="en-US" sz="2325" b="0" i="0" u="none" strike="noStrike" cap="none">
                <a:solidFill>
                  <a:srgbClr val="232329"/>
                </a:solidFill>
                <a:latin typeface="IBM Plex Sans"/>
                <a:ea typeface="IBM Plex Sans"/>
                <a:cs typeface="IBM Plex Sans"/>
                <a:sym typeface="IBM Plex Sans"/>
              </a:rPr>
              <a:t>ITSEC Cyber &amp; AI Academy is an institutional AI and cybersecurity capability academy dedicated to building </a:t>
            </a:r>
            <a:r>
              <a:rPr lang="en-US" sz="2325" b="1" i="0" u="none" strike="noStrike" cap="none">
                <a:solidFill>
                  <a:srgbClr val="232329"/>
                </a:solidFill>
                <a:latin typeface="IBM Plex Sans"/>
                <a:ea typeface="IBM Plex Sans"/>
                <a:cs typeface="IBM Plex Sans"/>
                <a:sym typeface="IBM Plex Sans"/>
              </a:rPr>
              <a:t>organizational and leadership readiness </a:t>
            </a:r>
            <a:r>
              <a:rPr lang="en-US" sz="2325" b="0" i="0" u="none" strike="noStrike" cap="none">
                <a:solidFill>
                  <a:srgbClr val="232329"/>
                </a:solidFill>
                <a:latin typeface="IBM Plex Sans"/>
                <a:ea typeface="IBM Plex Sans"/>
                <a:cs typeface="IBM Plex Sans"/>
                <a:sym typeface="IBM Plex Sans"/>
              </a:rPr>
              <a:t>for governments and strategic enterprises.</a:t>
            </a:r>
            <a:endParaRPr sz="23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914363" y="6088077"/>
            <a:ext cx="8829600" cy="22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113415"/>
              </a:lnSpc>
              <a:spcBef>
                <a:spcPts val="0"/>
              </a:spcBef>
              <a:spcAft>
                <a:spcPts val="0"/>
              </a:spcAft>
              <a:buClr>
                <a:srgbClr val="4A4A52"/>
              </a:buClr>
              <a:buSzPts val="2325"/>
              <a:buFont typeface="IBM Plex Sans"/>
              <a:buNone/>
            </a:pPr>
            <a:r>
              <a:rPr lang="en-US" sz="2325" b="0" i="0" u="none" strike="noStrike" cap="none">
                <a:solidFill>
                  <a:srgbClr val="4A4A52"/>
                </a:solidFill>
                <a:latin typeface="IBM Plex Sans"/>
                <a:ea typeface="IBM Plex Sans"/>
                <a:cs typeface="IBM Plex Sans"/>
                <a:sym typeface="IBM Plex Sans"/>
              </a:rPr>
              <a:t>Established as a strategic extension of ITSEC Asia's operational experience, the Academy translates real implementation insight into structured education for leaders and practitioners — helping organisations understand, manage and respond to real-world AI and cyber risk.</a:t>
            </a:r>
            <a:endParaRPr sz="23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10734675" y="1724025"/>
            <a:ext cx="7302818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A52"/>
              </a:buClr>
              <a:buSzPts val="1800"/>
              <a:buFont typeface="IBM Plex Mono"/>
              <a:buNone/>
            </a:pPr>
            <a:r>
              <a:rPr lang="en-US" sz="1800" b="0" i="0" u="none" strike="noStrike" cap="none">
                <a:solidFill>
                  <a:srgbClr val="4A4A52"/>
                </a:solidFill>
                <a:latin typeface="IBM Plex Mono"/>
                <a:ea typeface="IBM Plex Mono"/>
                <a:cs typeface="IBM Plex Mono"/>
                <a:sym typeface="IBM Plex Mono"/>
              </a:rPr>
              <a:t>OUR FOUNDATION — ITSEC ASIA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10734675" y="2295525"/>
            <a:ext cx="6638925" cy="3362325"/>
          </a:xfrm>
          <a:prstGeom prst="rect">
            <a:avLst/>
          </a:prstGeom>
          <a:solidFill>
            <a:srgbClr val="DEDEE2"/>
          </a:solidFill>
          <a:ln w="9525" cap="flat" cmpd="sng">
            <a:solidFill>
              <a:srgbClr val="DEDEE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10744200" y="2305050"/>
            <a:ext cx="3305175" cy="16668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11049000" y="2628900"/>
            <a:ext cx="2965133" cy="66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78571"/>
              </a:lnSpc>
              <a:spcBef>
                <a:spcPts val="0"/>
              </a:spcBef>
              <a:spcAft>
                <a:spcPts val="0"/>
              </a:spcAft>
              <a:buClr>
                <a:srgbClr val="0B0B0E"/>
              </a:buClr>
              <a:buSzPts val="4950"/>
              <a:buFont typeface="Space Grotesk"/>
              <a:buNone/>
            </a:pPr>
            <a:r>
              <a:rPr lang="en-US" sz="4950" b="1" i="0" u="none" strike="noStrike" cap="none">
                <a:solidFill>
                  <a:srgbClr val="0B0B0E"/>
                </a:solidFill>
                <a:latin typeface="Space Grotesk"/>
                <a:ea typeface="Space Grotesk"/>
                <a:cs typeface="Space Grotesk"/>
                <a:sym typeface="Space Grotesk"/>
              </a:rPr>
              <a:t>16</a:t>
            </a:r>
            <a:r>
              <a:rPr lang="en-US" sz="4950" b="1" i="0" u="none" strike="noStrike" cap="none">
                <a:solidFill>
                  <a:srgbClr val="E5342B"/>
                </a:solidFill>
                <a:latin typeface="Space Grotesk"/>
                <a:ea typeface="Space Grotesk"/>
                <a:cs typeface="Space Grotesk"/>
                <a:sym typeface="Space Grotesk"/>
              </a:rPr>
              <a:t>+</a:t>
            </a:r>
            <a:endParaRPr sz="4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11049000" y="3333750"/>
            <a:ext cx="2965133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A52"/>
              </a:buClr>
              <a:buSzPts val="1875"/>
              <a:buFont typeface="IBM Plex Sans"/>
              <a:buNone/>
            </a:pPr>
            <a:r>
              <a:rPr lang="en-US" sz="1875" b="0" i="0" u="none" strike="noStrike" cap="none">
                <a:solidFill>
                  <a:srgbClr val="4A4A52"/>
                </a:solidFill>
                <a:latin typeface="IBM Plex Sans"/>
                <a:ea typeface="IBM Plex Sans"/>
                <a:cs typeface="IBM Plex Sans"/>
                <a:sym typeface="IBM Plex Sans"/>
              </a:rPr>
              <a:t>Years of excellence</a:t>
            </a:r>
            <a:endParaRPr sz="18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14058900" y="2305050"/>
            <a:ext cx="3305175" cy="16668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14363700" y="2628900"/>
            <a:ext cx="2965133" cy="66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78571"/>
              </a:lnSpc>
              <a:spcBef>
                <a:spcPts val="0"/>
              </a:spcBef>
              <a:spcAft>
                <a:spcPts val="0"/>
              </a:spcAft>
              <a:buClr>
                <a:srgbClr val="0B0B0E"/>
              </a:buClr>
              <a:buSzPts val="4950"/>
              <a:buFont typeface="Space Grotesk"/>
              <a:buNone/>
            </a:pPr>
            <a:r>
              <a:rPr lang="en-US" sz="4950" b="1" i="0" u="none" strike="noStrike" cap="none">
                <a:solidFill>
                  <a:srgbClr val="0B0B0E"/>
                </a:solidFill>
                <a:latin typeface="Space Grotesk"/>
                <a:ea typeface="Space Grotesk"/>
                <a:cs typeface="Space Grotesk"/>
                <a:sym typeface="Space Grotesk"/>
              </a:rPr>
              <a:t>400</a:t>
            </a:r>
            <a:r>
              <a:rPr lang="en-US" sz="4950" b="1" i="0" u="none" strike="noStrike" cap="none">
                <a:solidFill>
                  <a:srgbClr val="E5342B"/>
                </a:solidFill>
                <a:latin typeface="Space Grotesk"/>
                <a:ea typeface="Space Grotesk"/>
                <a:cs typeface="Space Grotesk"/>
                <a:sym typeface="Space Grotesk"/>
              </a:rPr>
              <a:t>+</a:t>
            </a:r>
            <a:endParaRPr sz="4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14363700" y="3333750"/>
            <a:ext cx="2965133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A52"/>
              </a:buClr>
              <a:buSzPts val="1875"/>
              <a:buFont typeface="IBM Plex Sans"/>
              <a:buNone/>
            </a:pPr>
            <a:r>
              <a:rPr lang="en-US" sz="1875" b="0" i="0" u="none" strike="noStrike" cap="none">
                <a:solidFill>
                  <a:srgbClr val="4A4A52"/>
                </a:solidFill>
                <a:latin typeface="IBM Plex Sans"/>
                <a:ea typeface="IBM Plex Sans"/>
                <a:cs typeface="IBM Plex Sans"/>
                <a:sym typeface="IBM Plex Sans"/>
              </a:rPr>
              <a:t>Security specialists</a:t>
            </a:r>
            <a:endParaRPr sz="18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10744200" y="3981450"/>
            <a:ext cx="3305175" cy="16668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11049000" y="4305300"/>
            <a:ext cx="2965133" cy="66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78571"/>
              </a:lnSpc>
              <a:spcBef>
                <a:spcPts val="0"/>
              </a:spcBef>
              <a:spcAft>
                <a:spcPts val="0"/>
              </a:spcAft>
              <a:buClr>
                <a:srgbClr val="0B0B0E"/>
              </a:buClr>
              <a:buSzPts val="4950"/>
              <a:buFont typeface="Space Grotesk"/>
              <a:buNone/>
            </a:pPr>
            <a:r>
              <a:rPr lang="en-US" sz="4950" b="1" i="0" u="none" strike="noStrike" cap="none">
                <a:solidFill>
                  <a:srgbClr val="0B0B0E"/>
                </a:solidFill>
                <a:latin typeface="Space Grotesk"/>
                <a:ea typeface="Space Grotesk"/>
                <a:cs typeface="Space Grotesk"/>
                <a:sym typeface="Space Grotesk"/>
              </a:rPr>
              <a:t>7000</a:t>
            </a:r>
            <a:r>
              <a:rPr lang="en-US" sz="4950" b="1" i="0" u="none" strike="noStrike" cap="none">
                <a:solidFill>
                  <a:srgbClr val="E5342B"/>
                </a:solidFill>
                <a:latin typeface="Space Grotesk"/>
                <a:ea typeface="Space Grotesk"/>
                <a:cs typeface="Space Grotesk"/>
                <a:sym typeface="Space Grotesk"/>
              </a:rPr>
              <a:t>+</a:t>
            </a:r>
            <a:endParaRPr sz="4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11049000" y="5010150"/>
            <a:ext cx="2965133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A52"/>
              </a:buClr>
              <a:buSzPts val="1875"/>
              <a:buFont typeface="IBM Plex Sans"/>
              <a:buNone/>
            </a:pPr>
            <a:r>
              <a:rPr lang="en-US" sz="1875" b="0" i="0" u="none" strike="noStrike" cap="none">
                <a:solidFill>
                  <a:srgbClr val="4A4A52"/>
                </a:solidFill>
                <a:latin typeface="IBM Plex Sans"/>
                <a:ea typeface="IBM Plex Sans"/>
                <a:cs typeface="IBM Plex Sans"/>
                <a:sym typeface="IBM Plex Sans"/>
              </a:rPr>
              <a:t>Projects delivered</a:t>
            </a:r>
            <a:endParaRPr sz="18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14058900" y="3981450"/>
            <a:ext cx="3305175" cy="16668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14363700" y="4305300"/>
            <a:ext cx="2965133" cy="66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78571"/>
              </a:lnSpc>
              <a:spcBef>
                <a:spcPts val="0"/>
              </a:spcBef>
              <a:spcAft>
                <a:spcPts val="0"/>
              </a:spcAft>
              <a:buClr>
                <a:srgbClr val="0B0B0E"/>
              </a:buClr>
              <a:buSzPts val="4950"/>
              <a:buFont typeface="Space Grotesk"/>
              <a:buNone/>
            </a:pPr>
            <a:r>
              <a:rPr lang="en-US" sz="4950" b="1" i="0" u="none" strike="noStrike" cap="none">
                <a:solidFill>
                  <a:srgbClr val="0B0B0E"/>
                </a:solidFill>
                <a:latin typeface="Space Grotesk"/>
                <a:ea typeface="Space Grotesk"/>
                <a:cs typeface="Space Grotesk"/>
                <a:sym typeface="Space Grotesk"/>
              </a:rPr>
              <a:t>5</a:t>
            </a:r>
            <a:endParaRPr sz="4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14363700" y="5010150"/>
            <a:ext cx="2965133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A52"/>
              </a:buClr>
              <a:buSzPts val="1875"/>
              <a:buFont typeface="IBM Plex Sans"/>
              <a:buNone/>
            </a:pPr>
            <a:r>
              <a:rPr lang="en-US" sz="1875" b="0" i="0" u="none" strike="noStrike" cap="none">
                <a:solidFill>
                  <a:srgbClr val="4A4A52"/>
                </a:solidFill>
                <a:latin typeface="IBM Plex Sans"/>
                <a:ea typeface="IBM Plex Sans"/>
                <a:cs typeface="IBM Plex Sans"/>
                <a:sym typeface="IBM Plex Sans"/>
              </a:rPr>
              <a:t>Countries</a:t>
            </a:r>
            <a:endParaRPr sz="18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10734675" y="5924550"/>
            <a:ext cx="6638925" cy="1700213"/>
          </a:xfrm>
          <a:prstGeom prst="rect">
            <a:avLst/>
          </a:prstGeom>
          <a:solidFill>
            <a:srgbClr val="0B0B0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11039475" y="6210300"/>
            <a:ext cx="6632258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6AD"/>
              </a:buClr>
              <a:buSzPts val="1800"/>
              <a:buFont typeface="IBM Plex Mono"/>
              <a:buNone/>
            </a:pPr>
            <a:r>
              <a:rPr lang="en-US" sz="1800" b="0" i="0" u="none" strike="noStrike" cap="none">
                <a:solidFill>
                  <a:srgbClr val="A6A6AD"/>
                </a:solidFill>
                <a:latin typeface="IBM Plex Mono"/>
                <a:ea typeface="IBM Plex Mono"/>
                <a:cs typeface="IBM Plex Mono"/>
                <a:sym typeface="IBM Plex Mono"/>
              </a:rPr>
              <a:t>STANDARDS &amp; TRUST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11039475" y="6648450"/>
            <a:ext cx="6210205" cy="728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109848"/>
              </a:lnSpc>
              <a:spcBef>
                <a:spcPts val="0"/>
              </a:spcBef>
              <a:spcAft>
                <a:spcPts val="0"/>
              </a:spcAft>
              <a:buClr>
                <a:srgbClr val="F4F4F5"/>
              </a:buClr>
              <a:buSzPts val="1875"/>
              <a:buFont typeface="IBM Plex Sans"/>
              <a:buNone/>
            </a:pPr>
            <a:r>
              <a:rPr lang="en-US" sz="1875" b="0" i="0" u="none" strike="noStrike" cap="none">
                <a:solidFill>
                  <a:srgbClr val="F4F4F5"/>
                </a:solidFill>
                <a:latin typeface="IBM Plex Sans"/>
                <a:ea typeface="IBM Plex Sans"/>
                <a:cs typeface="IBM Plex Sans"/>
                <a:sym typeface="IBM Plex Sans"/>
              </a:rPr>
              <a:t>CREST Accredited · ISO 27001 &amp; ISO 9001 · SMPI.LK.3/BSSN/D1/PS.02.01/04/2022</a:t>
            </a:r>
            <a:endParaRPr sz="18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914400" y="9525000"/>
            <a:ext cx="7257142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A62"/>
              </a:buClr>
              <a:buSzPts val="1800"/>
              <a:buFont typeface="IBM Plex Mono"/>
              <a:buNone/>
            </a:pPr>
            <a:r>
              <a:rPr lang="en-US" sz="1800" b="0" i="0" u="none" strike="noStrike" cap="none">
                <a:solidFill>
                  <a:srgbClr val="5A5A62"/>
                </a:solidFill>
                <a:latin typeface="IBM Plex Mono"/>
                <a:ea typeface="IBM Plex Mono"/>
                <a:cs typeface="IBM Plex Mono"/>
                <a:sym typeface="IBM Plex Mono"/>
              </a:rPr>
              <a:t>BACKED BY PT ITSEC ASIA TBK — IDX: CYBR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5"/>
        </a:solid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3" descr="preencoded.png"/>
          <p:cNvPicPr preferRelativeResize="0"/>
          <p:nvPr/>
        </p:nvPicPr>
        <p:blipFill rotWithShape="1">
          <a:blip r:embed="rId3">
            <a:alphaModFix amt="90000"/>
          </a:blip>
          <a:srcRect/>
          <a:stretch/>
        </p:blipFill>
        <p:spPr>
          <a:xfrm>
            <a:off x="10477500" y="-571500"/>
            <a:ext cx="8572500" cy="5713512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3"/>
          <p:cNvSpPr/>
          <p:nvPr/>
        </p:nvSpPr>
        <p:spPr>
          <a:xfrm>
            <a:off x="0" y="1181100"/>
            <a:ext cx="18288000" cy="9525"/>
          </a:xfrm>
          <a:prstGeom prst="rect">
            <a:avLst/>
          </a:prstGeom>
          <a:solidFill>
            <a:srgbClr val="DEDEE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914400" y="609600"/>
            <a:ext cx="5190292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A62"/>
              </a:buClr>
              <a:buSzPts val="1800"/>
              <a:buFont typeface="IBM Plex Mono"/>
              <a:buNone/>
            </a:pPr>
            <a:r>
              <a:rPr lang="en-US" sz="1800" b="0" i="0" u="none" strike="noStrike" cap="none">
                <a:solidFill>
                  <a:srgbClr val="5A5A62"/>
                </a:solidFill>
                <a:latin typeface="IBM Plex Mono"/>
                <a:ea typeface="IBM Plex Mono"/>
                <a:cs typeface="IBM Plex Mono"/>
                <a:sym typeface="IBM Plex Mono"/>
              </a:rPr>
              <a:t>ITSEC CYBER &amp; AI ACADEMY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14817775" y="609600"/>
            <a:ext cx="2811408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342B"/>
              </a:buClr>
              <a:buSzPts val="1800"/>
              <a:buFont typeface="IBM Plex Mono"/>
              <a:buNone/>
            </a:pPr>
            <a:r>
              <a:rPr lang="en-US" sz="1800" b="0" i="0" u="none" strike="noStrike" cap="none">
                <a:solidFill>
                  <a:srgbClr val="E5342B"/>
                </a:solidFill>
                <a:latin typeface="IBM Plex Mono"/>
                <a:ea typeface="IBM Plex Mono"/>
                <a:cs typeface="IBM Plex Mono"/>
                <a:sym typeface="IBM Plex Mono"/>
              </a:rPr>
              <a:t>WHY CHOOSE US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914400" y="1685925"/>
            <a:ext cx="11112900" cy="151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79918"/>
              </a:lnSpc>
              <a:spcBef>
                <a:spcPts val="0"/>
              </a:spcBef>
              <a:spcAft>
                <a:spcPts val="0"/>
              </a:spcAft>
              <a:buClr>
                <a:srgbClr val="0B0B0E"/>
              </a:buClr>
              <a:buSzPts val="5700"/>
              <a:buFont typeface="Space Grotesk"/>
              <a:buNone/>
            </a:pPr>
            <a:r>
              <a:rPr lang="en-US" sz="5700" b="1" i="0" u="none" strike="noStrike" cap="none">
                <a:solidFill>
                  <a:srgbClr val="0B0B0E"/>
                </a:solidFill>
                <a:latin typeface="Space Grotesk"/>
                <a:ea typeface="Space Grotesk"/>
                <a:cs typeface="Space Grotesk"/>
                <a:sym typeface="Space Grotesk"/>
              </a:rPr>
              <a:t>We don't just train. We build </a:t>
            </a:r>
            <a:r>
              <a:rPr lang="en-US" sz="5700" b="1" i="0" u="none" strike="noStrike" cap="none">
                <a:solidFill>
                  <a:srgbClr val="E5342B"/>
                </a:solidFill>
                <a:latin typeface="Space Grotesk"/>
                <a:ea typeface="Space Grotesk"/>
                <a:cs typeface="Space Grotesk"/>
                <a:sym typeface="Space Grotesk"/>
              </a:rPr>
              <a:t>capability.</a:t>
            </a:r>
            <a:endParaRPr sz="5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12801600" y="2276773"/>
            <a:ext cx="4709160" cy="809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4A4A52"/>
              </a:buClr>
              <a:buSzPts val="2025"/>
              <a:buFont typeface="IBM Plex Sans"/>
              <a:buNone/>
            </a:pPr>
            <a:r>
              <a:rPr lang="en-US" sz="2025" b="0" i="0" u="none" strike="noStrike" cap="none">
                <a:solidFill>
                  <a:srgbClr val="4A4A52"/>
                </a:solidFill>
                <a:latin typeface="IBM Plex Sans"/>
                <a:ea typeface="IBM Plex Sans"/>
                <a:cs typeface="IBM Plex Sans"/>
                <a:sym typeface="IBM Plex Sans"/>
              </a:rPr>
              <a:t>Four pillars that separate the Academy from every other training provider.</a:t>
            </a:r>
            <a:endParaRPr sz="20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914400" y="3581698"/>
            <a:ext cx="3914775" cy="344031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914400" y="7012484"/>
            <a:ext cx="3914775" cy="9525"/>
          </a:xfrm>
          <a:prstGeom prst="rect">
            <a:avLst/>
          </a:prstGeom>
          <a:solidFill>
            <a:srgbClr val="DEDEE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914400" y="3581698"/>
            <a:ext cx="3914775" cy="38100"/>
          </a:xfrm>
          <a:prstGeom prst="rect">
            <a:avLst/>
          </a:prstGeom>
          <a:solidFill>
            <a:srgbClr val="E5342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914400" y="3581698"/>
            <a:ext cx="9525" cy="3440311"/>
          </a:xfrm>
          <a:prstGeom prst="rect">
            <a:avLst/>
          </a:prstGeom>
          <a:solidFill>
            <a:srgbClr val="DEDEE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4819650" y="3581698"/>
            <a:ext cx="9525" cy="3440311"/>
          </a:xfrm>
          <a:prstGeom prst="rect">
            <a:avLst/>
          </a:prstGeom>
          <a:solidFill>
            <a:srgbClr val="DEDEE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1209675" y="3943648"/>
            <a:ext cx="3656648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342B"/>
              </a:buClr>
              <a:buSzPts val="1800"/>
              <a:buFont typeface="IBM Plex Mono"/>
              <a:buNone/>
            </a:pPr>
            <a:r>
              <a:rPr lang="en-US" sz="1800" b="0" i="0" u="none" strike="noStrike" cap="none">
                <a:solidFill>
                  <a:srgbClr val="E5342B"/>
                </a:solidFill>
                <a:latin typeface="IBM Plex Mono"/>
                <a:ea typeface="IBM Plex Mono"/>
                <a:cs typeface="IBM Plex Mono"/>
                <a:sym typeface="IBM Plex Mono"/>
              </a:rPr>
              <a:t>01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1209675" y="4400848"/>
            <a:ext cx="3656648" cy="415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86087"/>
              </a:lnSpc>
              <a:spcBef>
                <a:spcPts val="0"/>
              </a:spcBef>
              <a:spcAft>
                <a:spcPts val="0"/>
              </a:spcAft>
              <a:buClr>
                <a:srgbClr val="0B0B0E"/>
              </a:buClr>
              <a:buSzPts val="2700"/>
              <a:buFont typeface="Space Grotesk"/>
              <a:buNone/>
            </a:pPr>
            <a:r>
              <a:rPr lang="en-US" sz="2700" b="1" i="0" u="none" strike="noStrike" cap="none">
                <a:solidFill>
                  <a:srgbClr val="0B0B0E"/>
                </a:solidFill>
                <a:latin typeface="Space Grotesk"/>
                <a:ea typeface="Space Grotesk"/>
                <a:cs typeface="Space Grotesk"/>
                <a:sym typeface="Space Grotesk"/>
              </a:rPr>
              <a:t>Expert Leadership</a:t>
            </a:r>
            <a:endParaRPr sz="2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1209675" y="4930378"/>
            <a:ext cx="3423952" cy="1419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109848"/>
              </a:lnSpc>
              <a:spcBef>
                <a:spcPts val="0"/>
              </a:spcBef>
              <a:spcAft>
                <a:spcPts val="0"/>
              </a:spcAft>
              <a:buClr>
                <a:srgbClr val="4A4A52"/>
              </a:buClr>
              <a:buSzPts val="1875"/>
              <a:buFont typeface="IBM Plex Sans"/>
              <a:buNone/>
            </a:pPr>
            <a:r>
              <a:rPr lang="en-US" sz="1875" b="0" i="0" u="none" strike="noStrike" cap="none">
                <a:solidFill>
                  <a:srgbClr val="4A4A52"/>
                </a:solidFill>
                <a:latin typeface="IBM Plex Sans"/>
                <a:ea typeface="IBM Plex Sans"/>
                <a:cs typeface="IBM Plex Sans"/>
                <a:sym typeface="IBM Plex Sans"/>
              </a:rPr>
              <a:t>Instructors currently engaged in government, enterprise and military-grade operations. No retired academics.</a:t>
            </a:r>
            <a:endParaRPr sz="18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5095875" y="3581698"/>
            <a:ext cx="3914775" cy="344031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5095875" y="7012484"/>
            <a:ext cx="3914775" cy="9525"/>
          </a:xfrm>
          <a:prstGeom prst="rect">
            <a:avLst/>
          </a:prstGeom>
          <a:solidFill>
            <a:srgbClr val="DEDEE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5095875" y="3581698"/>
            <a:ext cx="3914775" cy="38100"/>
          </a:xfrm>
          <a:prstGeom prst="rect">
            <a:avLst/>
          </a:prstGeom>
          <a:solidFill>
            <a:srgbClr val="E5342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5095875" y="3581698"/>
            <a:ext cx="9525" cy="3440311"/>
          </a:xfrm>
          <a:prstGeom prst="rect">
            <a:avLst/>
          </a:prstGeom>
          <a:solidFill>
            <a:srgbClr val="DEDEE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9001125" y="3581698"/>
            <a:ext cx="9525" cy="3440311"/>
          </a:xfrm>
          <a:prstGeom prst="rect">
            <a:avLst/>
          </a:prstGeom>
          <a:solidFill>
            <a:srgbClr val="DEDEE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5391150" y="3943648"/>
            <a:ext cx="3656648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342B"/>
              </a:buClr>
              <a:buSzPts val="1800"/>
              <a:buFont typeface="IBM Plex Mono"/>
              <a:buNone/>
            </a:pPr>
            <a:r>
              <a:rPr lang="en-US" sz="1800" b="0" i="0" u="none" strike="noStrike" cap="none">
                <a:solidFill>
                  <a:srgbClr val="E5342B"/>
                </a:solidFill>
                <a:latin typeface="IBM Plex Mono"/>
                <a:ea typeface="IBM Plex Mono"/>
                <a:cs typeface="IBM Plex Mono"/>
                <a:sym typeface="IBM Plex Mono"/>
              </a:rPr>
              <a:t>02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5391150" y="4400848"/>
            <a:ext cx="3423952" cy="7923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86087"/>
              </a:lnSpc>
              <a:spcBef>
                <a:spcPts val="0"/>
              </a:spcBef>
              <a:spcAft>
                <a:spcPts val="0"/>
              </a:spcAft>
              <a:buClr>
                <a:srgbClr val="0B0B0E"/>
              </a:buClr>
              <a:buSzPts val="2700"/>
              <a:buFont typeface="Space Grotesk"/>
              <a:buNone/>
            </a:pPr>
            <a:r>
              <a:rPr lang="en-US" sz="2700" b="1" i="0" u="none" strike="noStrike" cap="none">
                <a:solidFill>
                  <a:srgbClr val="0B0B0E"/>
                </a:solidFill>
                <a:latin typeface="Space Grotesk"/>
                <a:ea typeface="Space Grotesk"/>
                <a:cs typeface="Space Grotesk"/>
                <a:sym typeface="Space Grotesk"/>
              </a:rPr>
              <a:t>Real-World Curriculum</a:t>
            </a:r>
            <a:endParaRPr sz="2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5391150" y="5307509"/>
            <a:ext cx="3423952" cy="1419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109848"/>
              </a:lnSpc>
              <a:spcBef>
                <a:spcPts val="0"/>
              </a:spcBef>
              <a:spcAft>
                <a:spcPts val="0"/>
              </a:spcAft>
              <a:buClr>
                <a:srgbClr val="4A4A52"/>
              </a:buClr>
              <a:buSzPts val="1875"/>
              <a:buFont typeface="IBM Plex Sans"/>
              <a:buNone/>
            </a:pPr>
            <a:r>
              <a:rPr lang="en-US" sz="1875" b="0" i="0" u="none" strike="noStrike" cap="none">
                <a:solidFill>
                  <a:srgbClr val="4A4A52"/>
                </a:solidFill>
                <a:latin typeface="IBM Plex Sans"/>
                <a:ea typeface="IBM Plex Sans"/>
                <a:cs typeface="IBM Plex Sans"/>
                <a:sym typeface="IBM Plex Sans"/>
              </a:rPr>
              <a:t>Every lesson reconstructed from an actual incident or live threat campaign, at genuine operational pressure.</a:t>
            </a:r>
            <a:endParaRPr sz="18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9277350" y="3581698"/>
            <a:ext cx="3914775" cy="344031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9277350" y="7012484"/>
            <a:ext cx="3914775" cy="9525"/>
          </a:xfrm>
          <a:prstGeom prst="rect">
            <a:avLst/>
          </a:prstGeom>
          <a:solidFill>
            <a:srgbClr val="DEDEE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3"/>
          <p:cNvSpPr/>
          <p:nvPr/>
        </p:nvSpPr>
        <p:spPr>
          <a:xfrm>
            <a:off x="9277350" y="3581698"/>
            <a:ext cx="3914775" cy="38100"/>
          </a:xfrm>
          <a:prstGeom prst="rect">
            <a:avLst/>
          </a:prstGeom>
          <a:solidFill>
            <a:srgbClr val="E5342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9277350" y="3581698"/>
            <a:ext cx="9525" cy="3440311"/>
          </a:xfrm>
          <a:prstGeom prst="rect">
            <a:avLst/>
          </a:prstGeom>
          <a:solidFill>
            <a:srgbClr val="DEDEE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13182600" y="3581698"/>
            <a:ext cx="9525" cy="3440311"/>
          </a:xfrm>
          <a:prstGeom prst="rect">
            <a:avLst/>
          </a:prstGeom>
          <a:solidFill>
            <a:srgbClr val="DEDEE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3"/>
          <p:cNvSpPr/>
          <p:nvPr/>
        </p:nvSpPr>
        <p:spPr>
          <a:xfrm>
            <a:off x="9572625" y="3943648"/>
            <a:ext cx="3656648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342B"/>
              </a:buClr>
              <a:buSzPts val="1800"/>
              <a:buFont typeface="IBM Plex Mono"/>
              <a:buNone/>
            </a:pPr>
            <a:r>
              <a:rPr lang="en-US" sz="1800" b="0" i="0" u="none" strike="noStrike" cap="none">
                <a:solidFill>
                  <a:srgbClr val="E5342B"/>
                </a:solidFill>
                <a:latin typeface="IBM Plex Mono"/>
                <a:ea typeface="IBM Plex Mono"/>
                <a:cs typeface="IBM Plex Mono"/>
                <a:sym typeface="IBM Plex Mono"/>
              </a:rPr>
              <a:t>03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3"/>
          <p:cNvSpPr/>
          <p:nvPr/>
        </p:nvSpPr>
        <p:spPr>
          <a:xfrm>
            <a:off x="9572625" y="4400848"/>
            <a:ext cx="3423952" cy="7923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86087"/>
              </a:lnSpc>
              <a:spcBef>
                <a:spcPts val="0"/>
              </a:spcBef>
              <a:spcAft>
                <a:spcPts val="0"/>
              </a:spcAft>
              <a:buClr>
                <a:srgbClr val="0B0B0E"/>
              </a:buClr>
              <a:buSzPts val="2700"/>
              <a:buFont typeface="Space Grotesk"/>
              <a:buNone/>
            </a:pPr>
            <a:r>
              <a:rPr lang="en-US" sz="2700" b="1" i="0" u="none" strike="noStrike" cap="none">
                <a:solidFill>
                  <a:srgbClr val="0B0B0E"/>
                </a:solidFill>
                <a:latin typeface="Space Grotesk"/>
                <a:ea typeface="Space Grotesk"/>
                <a:cs typeface="Space Grotesk"/>
                <a:sym typeface="Space Grotesk"/>
              </a:rPr>
              <a:t>Technology Integration</a:t>
            </a:r>
            <a:endParaRPr sz="2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3"/>
          <p:cNvSpPr/>
          <p:nvPr/>
        </p:nvSpPr>
        <p:spPr>
          <a:xfrm>
            <a:off x="9572625" y="5307509"/>
            <a:ext cx="3423952" cy="1073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109848"/>
              </a:lnSpc>
              <a:spcBef>
                <a:spcPts val="0"/>
              </a:spcBef>
              <a:spcAft>
                <a:spcPts val="0"/>
              </a:spcAft>
              <a:buClr>
                <a:srgbClr val="4A4A52"/>
              </a:buClr>
              <a:buSzPts val="1875"/>
              <a:buFont typeface="IBM Plex Sans"/>
              <a:buNone/>
            </a:pPr>
            <a:r>
              <a:rPr lang="en-US" sz="1875" b="0" i="0" u="none" strike="noStrike" cap="none">
                <a:solidFill>
                  <a:srgbClr val="4A4A52"/>
                </a:solidFill>
                <a:latin typeface="IBM Plex Sans"/>
                <a:ea typeface="IBM Plex Sans"/>
                <a:cs typeface="IBM Plex Sans"/>
                <a:sym typeface="IBM Plex Sans"/>
              </a:rPr>
              <a:t>Proprietary AI-enhanced cyber range, red-vs-blue adversarial labs and OSINT environments.</a:t>
            </a:r>
            <a:endParaRPr sz="18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13458825" y="3581698"/>
            <a:ext cx="3914775" cy="344031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3"/>
          <p:cNvSpPr/>
          <p:nvPr/>
        </p:nvSpPr>
        <p:spPr>
          <a:xfrm>
            <a:off x="13458825" y="7012484"/>
            <a:ext cx="3914775" cy="9525"/>
          </a:xfrm>
          <a:prstGeom prst="rect">
            <a:avLst/>
          </a:prstGeom>
          <a:solidFill>
            <a:srgbClr val="DEDEE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3"/>
          <p:cNvSpPr/>
          <p:nvPr/>
        </p:nvSpPr>
        <p:spPr>
          <a:xfrm>
            <a:off x="13458825" y="3581698"/>
            <a:ext cx="3914775" cy="38100"/>
          </a:xfrm>
          <a:prstGeom prst="rect">
            <a:avLst/>
          </a:prstGeom>
          <a:solidFill>
            <a:srgbClr val="E5342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3"/>
          <p:cNvSpPr/>
          <p:nvPr/>
        </p:nvSpPr>
        <p:spPr>
          <a:xfrm>
            <a:off x="13458825" y="3581698"/>
            <a:ext cx="9525" cy="3440311"/>
          </a:xfrm>
          <a:prstGeom prst="rect">
            <a:avLst/>
          </a:prstGeom>
          <a:solidFill>
            <a:srgbClr val="DEDEE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3"/>
          <p:cNvSpPr/>
          <p:nvPr/>
        </p:nvSpPr>
        <p:spPr>
          <a:xfrm>
            <a:off x="17364075" y="3581698"/>
            <a:ext cx="9525" cy="3440311"/>
          </a:xfrm>
          <a:prstGeom prst="rect">
            <a:avLst/>
          </a:prstGeom>
          <a:solidFill>
            <a:srgbClr val="DEDEE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3"/>
          <p:cNvSpPr/>
          <p:nvPr/>
        </p:nvSpPr>
        <p:spPr>
          <a:xfrm>
            <a:off x="13754100" y="3943648"/>
            <a:ext cx="3656648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342B"/>
              </a:buClr>
              <a:buSzPts val="1800"/>
              <a:buFont typeface="IBM Plex Mono"/>
              <a:buNone/>
            </a:pPr>
            <a:r>
              <a:rPr lang="en-US" sz="1800" b="0" i="0" u="none" strike="noStrike" cap="none">
                <a:solidFill>
                  <a:srgbClr val="E5342B"/>
                </a:solidFill>
                <a:latin typeface="IBM Plex Mono"/>
                <a:ea typeface="IBM Plex Mono"/>
                <a:cs typeface="IBM Plex Mono"/>
                <a:sym typeface="IBM Plex Mono"/>
              </a:rPr>
              <a:t>04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3"/>
          <p:cNvSpPr/>
          <p:nvPr/>
        </p:nvSpPr>
        <p:spPr>
          <a:xfrm>
            <a:off x="13754100" y="4400848"/>
            <a:ext cx="3423952" cy="7923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86087"/>
              </a:lnSpc>
              <a:spcBef>
                <a:spcPts val="0"/>
              </a:spcBef>
              <a:spcAft>
                <a:spcPts val="0"/>
              </a:spcAft>
              <a:buClr>
                <a:srgbClr val="0B0B0E"/>
              </a:buClr>
              <a:buSzPts val="2700"/>
              <a:buFont typeface="Space Grotesk"/>
              <a:buNone/>
            </a:pPr>
            <a:r>
              <a:rPr lang="en-US" sz="2700" b="1" i="0" u="none" strike="noStrike" cap="none">
                <a:solidFill>
                  <a:srgbClr val="0B0B0E"/>
                </a:solidFill>
                <a:latin typeface="Space Grotesk"/>
                <a:ea typeface="Space Grotesk"/>
                <a:cs typeface="Space Grotesk"/>
                <a:sym typeface="Space Grotesk"/>
              </a:rPr>
              <a:t>Role-Based Qualifications</a:t>
            </a:r>
            <a:endParaRPr sz="2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3"/>
          <p:cNvSpPr/>
          <p:nvPr/>
        </p:nvSpPr>
        <p:spPr>
          <a:xfrm>
            <a:off x="13754100" y="5307509"/>
            <a:ext cx="3423952" cy="1073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109848"/>
              </a:lnSpc>
              <a:spcBef>
                <a:spcPts val="0"/>
              </a:spcBef>
              <a:spcAft>
                <a:spcPts val="0"/>
              </a:spcAft>
              <a:buClr>
                <a:srgbClr val="4A4A52"/>
              </a:buClr>
              <a:buSzPts val="1875"/>
              <a:buFont typeface="IBM Plex Sans"/>
              <a:buNone/>
            </a:pPr>
            <a:r>
              <a:rPr lang="en-US" sz="1875" b="0" i="0" u="none" strike="noStrike" cap="none">
                <a:solidFill>
                  <a:srgbClr val="4A4A52"/>
                </a:solidFill>
                <a:latin typeface="IBM Plex Sans"/>
                <a:ea typeface="IBM Plex Sans"/>
                <a:cs typeface="IBM Plex Sans"/>
                <a:sym typeface="IBM Plex Sans"/>
              </a:rPr>
              <a:t>Role-specific credentials — SOC Analyst, AI Governance Lead, Red Team Specialist.</a:t>
            </a:r>
            <a:endParaRPr sz="18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3"/>
          <p:cNvSpPr/>
          <p:nvPr/>
        </p:nvSpPr>
        <p:spPr>
          <a:xfrm>
            <a:off x="914400" y="7441109"/>
            <a:ext cx="16459200" cy="1607641"/>
          </a:xfrm>
          <a:prstGeom prst="rect">
            <a:avLst/>
          </a:prstGeom>
          <a:solidFill>
            <a:srgbClr val="0B0B0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3"/>
          <p:cNvSpPr/>
          <p:nvPr/>
        </p:nvSpPr>
        <p:spPr>
          <a:xfrm>
            <a:off x="1295400" y="7764959"/>
            <a:ext cx="2362200" cy="9980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5342B"/>
              </a:buClr>
              <a:buSzPts val="1800"/>
              <a:buFont typeface="IBM Plex Mono"/>
              <a:buNone/>
            </a:pPr>
            <a:r>
              <a:rPr lang="en-US" sz="1800" b="0" i="0" u="none" strike="noStrike" cap="none">
                <a:solidFill>
                  <a:srgbClr val="E5342B"/>
                </a:solidFill>
                <a:latin typeface="IBM Plex Mono"/>
                <a:ea typeface="IBM Plex Mono"/>
                <a:cs typeface="IBM Plex Mono"/>
                <a:sym typeface="IBM Plex Mono"/>
              </a:rPr>
              <a:t>WHAT YOUR ORGANISATION ACHIEVES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3"/>
          <p:cNvSpPr/>
          <p:nvPr/>
        </p:nvSpPr>
        <p:spPr>
          <a:xfrm>
            <a:off x="4000500" y="7764959"/>
            <a:ext cx="9525" cy="959941"/>
          </a:xfrm>
          <a:prstGeom prst="rect">
            <a:avLst/>
          </a:prstGeom>
          <a:solidFill>
            <a:srgbClr val="3A3A4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3"/>
          <p:cNvSpPr/>
          <p:nvPr/>
        </p:nvSpPr>
        <p:spPr>
          <a:xfrm>
            <a:off x="4429125" y="8078242"/>
            <a:ext cx="2805678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F4F5"/>
              </a:buClr>
              <a:buSzPts val="2025"/>
              <a:buFont typeface="IBM Plex Sans"/>
              <a:buNone/>
            </a:pPr>
            <a:r>
              <a:rPr lang="en-US" sz="2025" b="0" i="0" u="none" strike="noStrike" cap="none">
                <a:solidFill>
                  <a:srgbClr val="F4F4F5"/>
                </a:solidFill>
                <a:latin typeface="IBM Plex Sans"/>
                <a:ea typeface="IBM Plex Sans"/>
                <a:cs typeface="IBM Plex Sans"/>
                <a:sym typeface="IBM Plex Sans"/>
              </a:rPr>
              <a:t>Institutional readiness</a:t>
            </a:r>
            <a:endParaRPr sz="20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3"/>
          <p:cNvSpPr/>
          <p:nvPr/>
        </p:nvSpPr>
        <p:spPr>
          <a:xfrm>
            <a:off x="7677894" y="8078242"/>
            <a:ext cx="3271763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F4F5"/>
              </a:buClr>
              <a:buSzPts val="2025"/>
              <a:buFont typeface="IBM Plex Sans"/>
              <a:buNone/>
            </a:pPr>
            <a:r>
              <a:rPr lang="en-US" sz="2025" b="0" i="0" u="none" strike="noStrike" cap="none">
                <a:solidFill>
                  <a:srgbClr val="F4F4F5"/>
                </a:solidFill>
                <a:latin typeface="IBM Plex Sans"/>
                <a:ea typeface="IBM Plex Sans"/>
                <a:cs typeface="IBM Plex Sans"/>
                <a:sym typeface="IBM Plex Sans"/>
              </a:rPr>
              <a:t>Governance &amp; compliance</a:t>
            </a:r>
            <a:endParaRPr sz="20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"/>
          <p:cNvSpPr/>
          <p:nvPr/>
        </p:nvSpPr>
        <p:spPr>
          <a:xfrm>
            <a:off x="11350377" y="8078242"/>
            <a:ext cx="2738720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F4F5"/>
              </a:buClr>
              <a:buSzPts val="2025"/>
              <a:buFont typeface="IBM Plex Sans"/>
              <a:buNone/>
            </a:pPr>
            <a:r>
              <a:rPr lang="en-US" sz="2025" b="0" i="0" u="none" strike="noStrike" cap="none">
                <a:solidFill>
                  <a:srgbClr val="F4F4F5"/>
                </a:solidFill>
                <a:latin typeface="IBM Plex Sans"/>
                <a:ea typeface="IBM Plex Sans"/>
                <a:cs typeface="IBM Plex Sans"/>
                <a:sym typeface="IBM Plex Sans"/>
              </a:rPr>
              <a:t>Operational resilience</a:t>
            </a:r>
            <a:endParaRPr sz="20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3"/>
          <p:cNvSpPr/>
          <p:nvPr/>
        </p:nvSpPr>
        <p:spPr>
          <a:xfrm>
            <a:off x="14538275" y="8078242"/>
            <a:ext cx="2699757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F4F5"/>
              </a:buClr>
              <a:buSzPts val="2025"/>
              <a:buFont typeface="IBM Plex Sans"/>
              <a:buNone/>
            </a:pPr>
            <a:r>
              <a:rPr lang="en-US" sz="2025" b="0" i="0" u="none" strike="noStrike" cap="none">
                <a:solidFill>
                  <a:srgbClr val="F4F4F5"/>
                </a:solidFill>
                <a:latin typeface="IBM Plex Sans"/>
                <a:ea typeface="IBM Plex Sans"/>
                <a:cs typeface="IBM Plex Sans"/>
                <a:sym typeface="IBM Plex Sans"/>
              </a:rPr>
              <a:t>AI-ready organisation</a:t>
            </a:r>
            <a:endParaRPr sz="20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3"/>
          <p:cNvSpPr/>
          <p:nvPr/>
        </p:nvSpPr>
        <p:spPr>
          <a:xfrm>
            <a:off x="914400" y="9563100"/>
            <a:ext cx="10793298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A62"/>
              </a:buClr>
              <a:buSzPts val="1800"/>
              <a:buFont typeface="IBM Plex Mono"/>
              <a:buNone/>
            </a:pPr>
            <a:r>
              <a:rPr lang="en-US" sz="1800" b="0" i="0" u="none" strike="noStrike" cap="none">
                <a:solidFill>
                  <a:srgbClr val="5A5A62"/>
                </a:solidFill>
                <a:latin typeface="IBM Plex Mono"/>
                <a:ea typeface="IBM Plex Mono"/>
                <a:cs typeface="IBM Plex Mono"/>
                <a:sym typeface="IBM Plex Mono"/>
              </a:rPr>
              <a:t>HIGH-IMPACT PROGRAMS · AI &amp; CYBER · BEGINNER → EXECUTIVE · 1–5 DAYS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5"/>
        </a:solid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g3fbbda7ed83_0_0" descr="preencoded.png"/>
          <p:cNvPicPr preferRelativeResize="0"/>
          <p:nvPr/>
        </p:nvPicPr>
        <p:blipFill rotWithShape="1">
          <a:blip r:embed="rId3">
            <a:alphaModFix amt="75000"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g3fbbda7ed83_0_0"/>
          <p:cNvSpPr/>
          <p:nvPr/>
        </p:nvSpPr>
        <p:spPr>
          <a:xfrm>
            <a:off x="0" y="1181100"/>
            <a:ext cx="18288000" cy="9600"/>
          </a:xfrm>
          <a:prstGeom prst="rect">
            <a:avLst/>
          </a:prstGeom>
          <a:solidFill>
            <a:srgbClr val="DEDEE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g3fbbda7ed83_0_0"/>
          <p:cNvSpPr/>
          <p:nvPr/>
        </p:nvSpPr>
        <p:spPr>
          <a:xfrm>
            <a:off x="914400" y="609600"/>
            <a:ext cx="51903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A62"/>
              </a:buClr>
              <a:buSzPts val="1800"/>
              <a:buFont typeface="IBM Plex Mono"/>
              <a:buNone/>
            </a:pPr>
            <a:r>
              <a:rPr lang="en-US" sz="1800" b="0" i="0" u="none" strike="noStrike" cap="none">
                <a:solidFill>
                  <a:srgbClr val="5A5A62"/>
                </a:solidFill>
                <a:latin typeface="IBM Plex Mono"/>
                <a:ea typeface="IBM Plex Mono"/>
                <a:cs typeface="IBM Plex Mono"/>
                <a:sym typeface="IBM Plex Mono"/>
              </a:rPr>
              <a:t>ITSEC CYBER &amp; AI ACADEMY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g3fbbda7ed83_0_0"/>
          <p:cNvSpPr/>
          <p:nvPr/>
        </p:nvSpPr>
        <p:spPr>
          <a:xfrm>
            <a:off x="914400" y="2403277"/>
            <a:ext cx="609600" cy="38100"/>
          </a:xfrm>
          <a:prstGeom prst="rect">
            <a:avLst/>
          </a:prstGeom>
          <a:solidFill>
            <a:srgbClr val="E5342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g3fbbda7ed83_0_0"/>
          <p:cNvSpPr/>
          <p:nvPr/>
        </p:nvSpPr>
        <p:spPr>
          <a:xfrm>
            <a:off x="1714500" y="2260402"/>
            <a:ext cx="2942100" cy="3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342B"/>
              </a:buClr>
              <a:buSzPts val="1950"/>
              <a:buFont typeface="IBM Plex Mono"/>
              <a:buNone/>
            </a:pPr>
            <a:r>
              <a:rPr lang="en-US" sz="1950" b="0" i="0" u="none" strike="noStrike" cap="none">
                <a:solidFill>
                  <a:srgbClr val="E5342B"/>
                </a:solidFill>
                <a:latin typeface="IBM Plex Mono"/>
                <a:ea typeface="IBM Plex Mono"/>
                <a:cs typeface="IBM Plex Mono"/>
                <a:sym typeface="IBM Plex Mono"/>
              </a:rPr>
              <a:t>TRAINING CATALOG</a:t>
            </a:r>
            <a:endParaRPr sz="1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g3fbbda7ed83_0_0"/>
          <p:cNvSpPr/>
          <p:nvPr/>
        </p:nvSpPr>
        <p:spPr>
          <a:xfrm>
            <a:off x="914400" y="2831902"/>
            <a:ext cx="10674000" cy="15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B0B0E"/>
              </a:buClr>
              <a:buSzPts val="6000"/>
              <a:buFont typeface="Space Grotesk"/>
              <a:buNone/>
            </a:pPr>
            <a:r>
              <a:rPr lang="en-US" sz="6000" b="1" i="0" u="none" strike="noStrike" cap="none">
                <a:solidFill>
                  <a:srgbClr val="0B0B0E"/>
                </a:solidFill>
                <a:latin typeface="Space Grotesk"/>
                <a:ea typeface="Space Grotesk"/>
                <a:cs typeface="Space Grotesk"/>
                <a:sym typeface="Space Grotesk"/>
              </a:rPr>
              <a:t>Take the catalog with you.</a:t>
            </a:r>
            <a:endParaRPr sz="6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g3fbbda7ed83_0_0"/>
          <p:cNvSpPr/>
          <p:nvPr/>
        </p:nvSpPr>
        <p:spPr>
          <a:xfrm>
            <a:off x="914400" y="4633913"/>
            <a:ext cx="7456200" cy="136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10476"/>
              </a:lnSpc>
              <a:spcBef>
                <a:spcPts val="0"/>
              </a:spcBef>
              <a:spcAft>
                <a:spcPts val="0"/>
              </a:spcAft>
              <a:buClr>
                <a:srgbClr val="4A4A52"/>
              </a:buClr>
              <a:buSzPts val="2400"/>
              <a:buFont typeface="IBM Plex Sans"/>
              <a:buNone/>
            </a:pPr>
            <a:r>
              <a:rPr lang="en-US" sz="2400" b="0" i="0" u="none" strike="noStrike" cap="none">
                <a:solidFill>
                  <a:srgbClr val="4A4A52"/>
                </a:solidFill>
                <a:latin typeface="IBM Plex Sans"/>
                <a:ea typeface="IBM Plex Sans"/>
                <a:cs typeface="IBM Plex Sans"/>
                <a:sym typeface="IBM Plex Sans"/>
              </a:rPr>
              <a:t>Every program, prerequisite and delivery format in one document — scan to open it on your phone or forward it to your team.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g3fbbda7ed83_0_0"/>
          <p:cNvSpPr/>
          <p:nvPr/>
        </p:nvSpPr>
        <p:spPr>
          <a:xfrm>
            <a:off x="914400" y="6207175"/>
            <a:ext cx="7258200" cy="1143000"/>
          </a:xfrm>
          <a:prstGeom prst="rect">
            <a:avLst/>
          </a:prstGeom>
          <a:solidFill>
            <a:srgbClr val="DEDEE2"/>
          </a:solidFill>
          <a:ln w="9525" cap="flat" cmpd="sng">
            <a:solidFill>
              <a:srgbClr val="DEDEE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g3fbbda7ed83_0_0"/>
          <p:cNvSpPr/>
          <p:nvPr/>
        </p:nvSpPr>
        <p:spPr>
          <a:xfrm>
            <a:off x="923925" y="6216700"/>
            <a:ext cx="2181900" cy="1124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g3fbbda7ed83_0_0"/>
          <p:cNvSpPr/>
          <p:nvPr/>
        </p:nvSpPr>
        <p:spPr>
          <a:xfrm>
            <a:off x="1171575" y="6407200"/>
            <a:ext cx="1855200" cy="43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79245"/>
              </a:lnSpc>
              <a:spcBef>
                <a:spcPts val="0"/>
              </a:spcBef>
              <a:spcAft>
                <a:spcPts val="0"/>
              </a:spcAft>
              <a:buClr>
                <a:srgbClr val="0B0B0E"/>
              </a:buClr>
              <a:buSzPts val="3150"/>
              <a:buFont typeface="Space Grotesk"/>
              <a:buNone/>
            </a:pPr>
            <a:r>
              <a:rPr lang="en-US" sz="3150" b="1" i="0" u="none" strike="noStrike" cap="none">
                <a:solidFill>
                  <a:srgbClr val="0B0B0E"/>
                </a:solidFill>
                <a:latin typeface="Space Grotesk"/>
                <a:ea typeface="Space Grotesk"/>
                <a:cs typeface="Space Grotesk"/>
                <a:sym typeface="Space Grotesk"/>
              </a:rPr>
              <a:t>12</a:t>
            </a:r>
            <a:endParaRPr sz="3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g3fbbda7ed83_0_0"/>
          <p:cNvSpPr/>
          <p:nvPr/>
        </p:nvSpPr>
        <p:spPr>
          <a:xfrm>
            <a:off x="1171575" y="6845350"/>
            <a:ext cx="1855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A52"/>
              </a:buClr>
              <a:buSzPts val="1800"/>
              <a:buFont typeface="IBM Plex Sans"/>
              <a:buNone/>
            </a:pPr>
            <a:r>
              <a:rPr lang="en-US" sz="1800" b="0" i="0" u="none" strike="noStrike" cap="none">
                <a:solidFill>
                  <a:srgbClr val="4A4A52"/>
                </a:solidFill>
                <a:latin typeface="IBM Plex Sans"/>
                <a:ea typeface="IBM Plex Sans"/>
                <a:cs typeface="IBM Plex Sans"/>
                <a:sym typeface="IBM Plex Sans"/>
              </a:rPr>
              <a:t>Programs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g3fbbda7ed83_0_0"/>
          <p:cNvSpPr/>
          <p:nvPr/>
        </p:nvSpPr>
        <p:spPr>
          <a:xfrm>
            <a:off x="3115270" y="6216700"/>
            <a:ext cx="2181900" cy="1124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g3fbbda7ed83_0_0"/>
          <p:cNvSpPr/>
          <p:nvPr/>
        </p:nvSpPr>
        <p:spPr>
          <a:xfrm>
            <a:off x="3362920" y="6407200"/>
            <a:ext cx="1855200" cy="43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79245"/>
              </a:lnSpc>
              <a:spcBef>
                <a:spcPts val="0"/>
              </a:spcBef>
              <a:spcAft>
                <a:spcPts val="0"/>
              </a:spcAft>
              <a:buClr>
                <a:srgbClr val="0B0B0E"/>
              </a:buClr>
              <a:buSzPts val="3150"/>
              <a:buFont typeface="Space Grotesk"/>
              <a:buNone/>
            </a:pPr>
            <a:r>
              <a:rPr lang="en-US" sz="3150" b="1" i="0" u="none" strike="noStrike" cap="none">
                <a:solidFill>
                  <a:srgbClr val="0B0B0E"/>
                </a:solidFill>
                <a:latin typeface="Space Grotesk"/>
                <a:ea typeface="Space Grotesk"/>
                <a:cs typeface="Space Grotesk"/>
                <a:sym typeface="Space Grotesk"/>
              </a:rPr>
              <a:t>1–5</a:t>
            </a:r>
            <a:endParaRPr sz="3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g3fbbda7ed83_0_0"/>
          <p:cNvSpPr/>
          <p:nvPr/>
        </p:nvSpPr>
        <p:spPr>
          <a:xfrm>
            <a:off x="3362920" y="6845350"/>
            <a:ext cx="1855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A52"/>
              </a:buClr>
              <a:buSzPts val="1800"/>
              <a:buFont typeface="IBM Plex Sans"/>
              <a:buNone/>
            </a:pPr>
            <a:r>
              <a:rPr lang="en-US" sz="1800" b="0" i="0" u="none" strike="noStrike" cap="none">
                <a:solidFill>
                  <a:srgbClr val="4A4A52"/>
                </a:solidFill>
                <a:latin typeface="IBM Plex Sans"/>
                <a:ea typeface="IBM Plex Sans"/>
                <a:cs typeface="IBM Plex Sans"/>
                <a:sym typeface="IBM Plex Sans"/>
              </a:rPr>
              <a:t>Days each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g3fbbda7ed83_0_0"/>
          <p:cNvSpPr/>
          <p:nvPr/>
        </p:nvSpPr>
        <p:spPr>
          <a:xfrm>
            <a:off x="5306616" y="6216700"/>
            <a:ext cx="2856300" cy="1124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g3fbbda7ed83_0_0"/>
          <p:cNvSpPr/>
          <p:nvPr/>
        </p:nvSpPr>
        <p:spPr>
          <a:xfrm>
            <a:off x="5554266" y="6407200"/>
            <a:ext cx="2597100" cy="43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79245"/>
              </a:lnSpc>
              <a:spcBef>
                <a:spcPts val="0"/>
              </a:spcBef>
              <a:spcAft>
                <a:spcPts val="0"/>
              </a:spcAft>
              <a:buClr>
                <a:srgbClr val="0B0B0E"/>
              </a:buClr>
              <a:buSzPts val="3150"/>
              <a:buFont typeface="Space Grotesk"/>
              <a:buNone/>
            </a:pPr>
            <a:r>
              <a:rPr lang="en-US" sz="3150" b="1" i="0" u="none" strike="noStrike" cap="none">
                <a:solidFill>
                  <a:srgbClr val="0B0B0E"/>
                </a:solidFill>
                <a:latin typeface="Space Grotesk"/>
                <a:ea typeface="Space Grotesk"/>
                <a:cs typeface="Space Grotesk"/>
                <a:sym typeface="Space Grotesk"/>
              </a:rPr>
              <a:t>AI + Cyber</a:t>
            </a:r>
            <a:endParaRPr sz="3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g3fbbda7ed83_0_0"/>
          <p:cNvSpPr/>
          <p:nvPr/>
        </p:nvSpPr>
        <p:spPr>
          <a:xfrm>
            <a:off x="5554266" y="6845350"/>
            <a:ext cx="25971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A52"/>
              </a:buClr>
              <a:buSzPts val="1800"/>
              <a:buFont typeface="IBM Plex Sans"/>
              <a:buNone/>
            </a:pPr>
            <a:r>
              <a:rPr lang="en-US" sz="1800" b="0" i="0" u="none" strike="noStrike" cap="none">
                <a:solidFill>
                  <a:srgbClr val="4A4A52"/>
                </a:solidFill>
                <a:latin typeface="IBM Plex Sans"/>
                <a:ea typeface="IBM Plex Sans"/>
                <a:cs typeface="IBM Plex Sans"/>
                <a:sym typeface="IBM Plex Sans"/>
              </a:rPr>
              <a:t>Beginner → Executive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g3fbbda7ed83_0_0"/>
          <p:cNvSpPr/>
          <p:nvPr/>
        </p:nvSpPr>
        <p:spPr>
          <a:xfrm>
            <a:off x="914400" y="7597825"/>
            <a:ext cx="6858000" cy="9600"/>
          </a:xfrm>
          <a:prstGeom prst="rect">
            <a:avLst/>
          </a:prstGeom>
          <a:solidFill>
            <a:srgbClr val="DEDEE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g3fbbda7ed83_0_0"/>
          <p:cNvSpPr/>
          <p:nvPr/>
        </p:nvSpPr>
        <p:spPr>
          <a:xfrm>
            <a:off x="914400" y="7721650"/>
            <a:ext cx="75438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A62"/>
              </a:buClr>
              <a:buSzPts val="1800"/>
              <a:buFont typeface="IBM Plex Mono"/>
              <a:buNone/>
            </a:pPr>
            <a:r>
              <a:rPr lang="en-US" sz="1800" b="0" i="0" u="none" strike="noStrike" cap="none">
                <a:solidFill>
                  <a:srgbClr val="5A5A62"/>
                </a:solidFill>
                <a:latin typeface="IBM Plex Mono"/>
                <a:ea typeface="IBM Plex Mono"/>
                <a:cs typeface="IBM Plex Mono"/>
                <a:sym typeface="IBM Plex Mono"/>
              </a:rPr>
              <a:t>OR TYPE THIS LINK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g3fbbda7ed83_0_0"/>
          <p:cNvSpPr/>
          <p:nvPr/>
        </p:nvSpPr>
        <p:spPr>
          <a:xfrm>
            <a:off x="914400" y="8121700"/>
            <a:ext cx="8676900" cy="40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0B0E"/>
              </a:buClr>
              <a:buSzPts val="2250"/>
              <a:buFont typeface="IBM Plex Mono"/>
              <a:buNone/>
            </a:pPr>
            <a:r>
              <a:rPr lang="en-US" sz="2250" b="0" i="0" u="sng" strike="noStrike" cap="none">
                <a:solidFill>
                  <a:schemeClr val="hlink"/>
                </a:solidFill>
                <a:latin typeface="IBM Plex Mono"/>
                <a:ea typeface="IBM Plex Mono"/>
                <a:cs typeface="IBM Plex Mono"/>
                <a:sym typeface="IBM Plex Mono"/>
                <a:hlinkClick r:id="rId4"/>
              </a:rPr>
              <a:t>https://bit.ly/ITSECAcademyTrainingCatalog2026</a:t>
            </a:r>
            <a:endParaRPr sz="2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g3fbbda7ed83_0_0"/>
          <p:cNvSpPr/>
          <p:nvPr/>
        </p:nvSpPr>
        <p:spPr>
          <a:xfrm>
            <a:off x="12039600" y="2324100"/>
            <a:ext cx="5334000" cy="6105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g3fbbda7ed83_0_0"/>
          <p:cNvSpPr/>
          <p:nvPr/>
        </p:nvSpPr>
        <p:spPr>
          <a:xfrm>
            <a:off x="12039600" y="8420100"/>
            <a:ext cx="5334000" cy="9600"/>
          </a:xfrm>
          <a:prstGeom prst="rect">
            <a:avLst/>
          </a:prstGeom>
          <a:solidFill>
            <a:srgbClr val="DEDEE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g3fbbda7ed83_0_0"/>
          <p:cNvSpPr/>
          <p:nvPr/>
        </p:nvSpPr>
        <p:spPr>
          <a:xfrm>
            <a:off x="12039600" y="2324100"/>
            <a:ext cx="5334000" cy="38100"/>
          </a:xfrm>
          <a:prstGeom prst="rect">
            <a:avLst/>
          </a:prstGeom>
          <a:solidFill>
            <a:srgbClr val="E5342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g3fbbda7ed83_0_0"/>
          <p:cNvSpPr/>
          <p:nvPr/>
        </p:nvSpPr>
        <p:spPr>
          <a:xfrm>
            <a:off x="12039600" y="2324100"/>
            <a:ext cx="9600" cy="6105600"/>
          </a:xfrm>
          <a:prstGeom prst="rect">
            <a:avLst/>
          </a:prstGeom>
          <a:solidFill>
            <a:srgbClr val="DEDEE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g3fbbda7ed83_0_0"/>
          <p:cNvSpPr/>
          <p:nvPr/>
        </p:nvSpPr>
        <p:spPr>
          <a:xfrm>
            <a:off x="17364075" y="2324100"/>
            <a:ext cx="9600" cy="6105600"/>
          </a:xfrm>
          <a:prstGeom prst="rect">
            <a:avLst/>
          </a:prstGeom>
          <a:solidFill>
            <a:srgbClr val="DEDEE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g3fbbda7ed83_0_0"/>
          <p:cNvSpPr/>
          <p:nvPr/>
        </p:nvSpPr>
        <p:spPr>
          <a:xfrm>
            <a:off x="12353925" y="2743200"/>
            <a:ext cx="4705200" cy="4705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g3fbbda7ed83_0_0"/>
          <p:cNvSpPr/>
          <p:nvPr/>
        </p:nvSpPr>
        <p:spPr>
          <a:xfrm>
            <a:off x="12418249" y="7715250"/>
            <a:ext cx="4576800" cy="3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A62"/>
              </a:buClr>
              <a:buSzPts val="1950"/>
              <a:buFont typeface="IBM Plex Mono"/>
              <a:buNone/>
            </a:pPr>
            <a:r>
              <a:rPr lang="en-US" sz="1950" b="0" i="0" u="none" strike="noStrike" cap="none">
                <a:solidFill>
                  <a:srgbClr val="5A5A62"/>
                </a:solidFill>
                <a:latin typeface="IBM Plex Mono"/>
                <a:ea typeface="IBM Plex Mono"/>
                <a:cs typeface="IBM Plex Mono"/>
                <a:sym typeface="IBM Plex Mono"/>
              </a:rPr>
              <a:t>TRAINING CATALOG 2026</a:t>
            </a:r>
            <a:endParaRPr sz="1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g3fbbda7ed83_0_0"/>
          <p:cNvSpPr/>
          <p:nvPr/>
        </p:nvSpPr>
        <p:spPr>
          <a:xfrm>
            <a:off x="914400" y="9525000"/>
            <a:ext cx="7257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A62"/>
              </a:buClr>
              <a:buSzPts val="1800"/>
              <a:buFont typeface="IBM Plex Mono"/>
              <a:buNone/>
            </a:pPr>
            <a:r>
              <a:rPr lang="en-US" sz="1800" b="0" i="0" u="none" strike="noStrike" cap="none">
                <a:solidFill>
                  <a:srgbClr val="5A5A62"/>
                </a:solidFill>
                <a:latin typeface="IBM Plex Mono"/>
                <a:ea typeface="IBM Plex Mono"/>
                <a:cs typeface="IBM Plex Mono"/>
                <a:sym typeface="IBM Plex Mono"/>
              </a:rPr>
              <a:t>BACKED BY PT ITSEC ASIA TBK — IDX: CYBR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1" name="Google Shape;141;g3fbbda7ed83_0_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2187238" y="2519325"/>
            <a:ext cx="5038790" cy="50387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Public">
  <a:themeElements>
    <a:clrScheme name="Custom 2">
      <a:dk1>
        <a:srgbClr val="000000"/>
      </a:dk1>
      <a:lt1>
        <a:srgbClr val="FFFFFF"/>
      </a:lt1>
      <a:dk2>
        <a:srgbClr val="FEFFFF"/>
      </a:dk2>
      <a:lt2>
        <a:srgbClr val="141414"/>
      </a:lt2>
      <a:accent1>
        <a:srgbClr val="E02F22"/>
      </a:accent1>
      <a:accent2>
        <a:srgbClr val="101010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343</TotalTime>
  <Words>2302</Words>
  <Application>Microsoft Office PowerPoint</Application>
  <PresentationFormat>Custom</PresentationFormat>
  <Paragraphs>308</Paragraphs>
  <Slides>20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20</vt:i4>
      </vt:variant>
    </vt:vector>
  </HeadingPairs>
  <TitlesOfParts>
    <vt:vector size="30" baseType="lpstr">
      <vt:lpstr>Chakra Petch</vt:lpstr>
      <vt:lpstr>IBM Plex Sans</vt:lpstr>
      <vt:lpstr>IBM Plex Mono</vt:lpstr>
      <vt:lpstr>Aptos Display</vt:lpstr>
      <vt:lpstr>Calibri</vt:lpstr>
      <vt:lpstr>Proxima Nova</vt:lpstr>
      <vt:lpstr>Arial</vt:lpstr>
      <vt:lpstr>Space Grotesk</vt:lpstr>
      <vt:lpstr>Office Theme</vt:lpstr>
      <vt:lpstr>Public</vt:lpstr>
      <vt:lpstr>PowerPoint Presentation</vt:lpstr>
      <vt:lpstr>Introduction to Cybersecurity</vt:lpstr>
      <vt:lpstr>PowerPoint Presentation</vt:lpstr>
      <vt:lpstr>Learning Objectives</vt:lpstr>
      <vt:lpstr>Why Cybersecurity Matters</vt:lpstr>
      <vt:lpstr>Core Security Objectives</vt:lpstr>
      <vt:lpstr>Common Attack Patterns</vt:lpstr>
      <vt:lpstr>Risk, Vulnerability, and Controls</vt:lpstr>
      <vt:lpstr>Threat Landscape  ACTOR CATEGORIES</vt:lpstr>
      <vt:lpstr>Governance, Policy, and Ethics</vt:lpstr>
      <vt:lpstr>Identity and Access Management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Summary and Source Alignment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PptxGenJS</dc:creator>
  <cp:lastModifiedBy>Rizky Ramadhan</cp:lastModifiedBy>
  <cp:revision>6</cp:revision>
  <dcterms:created xsi:type="dcterms:W3CDTF">2026-09-21T07:14:52Z</dcterms:created>
  <dcterms:modified xsi:type="dcterms:W3CDTF">2026-09-26T11:46:27Z</dcterms:modified>
</cp:coreProperties>
</file>